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71" r:id="rId7"/>
    <p:sldId id="259" r:id="rId8"/>
    <p:sldId id="272" r:id="rId9"/>
    <p:sldId id="260" r:id="rId10"/>
    <p:sldId id="261" r:id="rId11"/>
    <p:sldId id="262" r:id="rId12"/>
    <p:sldId id="263" r:id="rId13"/>
    <p:sldId id="264" r:id="rId14"/>
    <p:sldId id="265" r:id="rId15"/>
    <p:sldId id="266" r:id="rId16"/>
    <p:sldId id="267" r:id="rId17"/>
    <p:sldId id="268" r:id="rId18"/>
    <p:sldId id="269" r:id="rId19"/>
    <p:sldId id="270" r:id="rId20"/>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3375"/>
            </a:lvl1pPr>
          </a:lstStyle>
          <a:p>
            <a:r>
              <a:rPr lang="en-US" smtClean="0"/>
              <a:t>Click to edit Master title style</a:t>
            </a:r>
            <a:endParaRPr lang="en-US"/>
          </a:p>
        </p:txBody>
      </p:sp>
      <p:sp>
        <p:nvSpPr>
          <p:cNvPr id="3" name="Subtitle 2"/>
          <p:cNvSpPr>
            <a:spLocks noGrp="1"/>
          </p:cNvSpPr>
          <p:nvPr>
            <p:ph type="subTitle" idx="1"/>
          </p:nvPr>
        </p:nvSpPr>
        <p:spPr>
          <a:xfrm>
            <a:off x="1143000" y="2701529"/>
            <a:ext cx="6858000" cy="1241822"/>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3375"/>
            </a:lvl1pPr>
          </a:lstStyle>
          <a:p>
            <a:r>
              <a:rPr lang="en-US" smtClean="0"/>
              <a:t>Click to edit Master title style</a:t>
            </a:r>
            <a:endParaRPr lang="en-US"/>
          </a:p>
        </p:txBody>
      </p:sp>
      <p:sp>
        <p:nvSpPr>
          <p:cNvPr id="3" name="Text Placeholder 2"/>
          <p:cNvSpPr>
            <a:spLocks noGrp="1"/>
          </p:cNvSpPr>
          <p:nvPr>
            <p:ph type="body" idx="1"/>
          </p:nvPr>
        </p:nvSpPr>
        <p:spPr>
          <a:xfrm>
            <a:off x="623888" y="3442097"/>
            <a:ext cx="7886700" cy="1125140"/>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0"/>
            <a:ext cx="4032504" cy="339447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4296" y="1200150"/>
            <a:ext cx="4032504" cy="339447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260872"/>
            <a:ext cx="3868340" cy="617934"/>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1878806"/>
            <a:ext cx="3868340" cy="27634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1878806"/>
            <a:ext cx="3887391" cy="27634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8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8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52930" cy="4388644"/>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457200" y="205979"/>
            <a:ext cx="8229600" cy="85725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457200" y="1200150"/>
            <a:ext cx="8229600" cy="3394472"/>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457200" y="4683919"/>
            <a:ext cx="2133600" cy="357188"/>
          </a:xfrm>
          <a:prstGeom prst="rect">
            <a:avLst/>
          </a:prstGeom>
          <a:noFill/>
          <a:ln w="9525">
            <a:noFill/>
          </a:ln>
        </p:spPr>
        <p:txBody>
          <a:bodyPr/>
          <a:lstStyle>
            <a:lvl1pPr>
              <a:defRPr sz="1050"/>
            </a:lvl1pPr>
          </a:lstStyle>
          <a:p>
            <a:pPr lvl="0"/>
            <a:endParaRPr lang="en-US"/>
          </a:p>
        </p:txBody>
      </p:sp>
      <p:sp>
        <p:nvSpPr>
          <p:cNvPr id="1029" name="Footer Placeholder 1028"/>
          <p:cNvSpPr/>
          <p:nvPr>
            <p:ph type="ftr" sz="quarter" idx="3"/>
          </p:nvPr>
        </p:nvSpPr>
        <p:spPr>
          <a:xfrm>
            <a:off x="3124200" y="4683919"/>
            <a:ext cx="2895600" cy="357188"/>
          </a:xfrm>
          <a:prstGeom prst="rect">
            <a:avLst/>
          </a:prstGeom>
          <a:noFill/>
          <a:ln w="9525">
            <a:noFill/>
          </a:ln>
        </p:spPr>
        <p:txBody>
          <a:bodyPr/>
          <a:lstStyle>
            <a:lvl1pPr algn="ctr">
              <a:defRPr sz="1050"/>
            </a:lvl1pPr>
          </a:lstStyle>
          <a:p>
            <a:pPr lvl="0"/>
            <a:endParaRPr lang="en-US"/>
          </a:p>
        </p:txBody>
      </p:sp>
      <p:sp>
        <p:nvSpPr>
          <p:cNvPr id="1030" name="Slide Number Placeholder 1029"/>
          <p:cNvSpPr/>
          <p:nvPr>
            <p:ph type="sldNum" sz="quarter" idx="4"/>
          </p:nvPr>
        </p:nvSpPr>
        <p:spPr>
          <a:xfrm>
            <a:off x="6553200" y="4683919"/>
            <a:ext cx="2133600" cy="357188"/>
          </a:xfrm>
          <a:prstGeom prst="rect">
            <a:avLst/>
          </a:prstGeom>
          <a:noFill/>
          <a:ln w="9525">
            <a:noFill/>
          </a:ln>
        </p:spPr>
        <p:txBody>
          <a:bodyPr/>
          <a:lstStyle>
            <a:lvl1pPr algn="r">
              <a:defRPr sz="1050"/>
            </a:lvl1pPr>
          </a:lstStyle>
          <a:p>
            <a:pPr lvl="0"/>
            <a:fld id="{9A0DB2DC-4C9A-4742-B13C-FB6460FD3503}"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3995" algn="l" defTabSz="685800" eaLnBrk="1" fontAlgn="base" latinLnBrk="0" hangingPunct="1">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1" fontAlgn="base" latinLnBrk="0" hangingPunct="1">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5950" lvl="5"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8850" lvl="6"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1750" lvl="7"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4650" lvl="8"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057400" lvl="6"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2400300" lvl="7"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2743200" lvl="8"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3.xml"/><Relationship Id="rId13" Type="http://schemas.openxmlformats.org/officeDocument/2006/relationships/slideLayout" Target="../slideLayouts/slideLayout12.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2" Type="http://schemas.openxmlformats.org/officeDocument/2006/relationships/slideLayout" Target="../slideLayouts/slideLayout12.xml"/><Relationship Id="rId21" Type="http://schemas.openxmlformats.org/officeDocument/2006/relationships/tags" Target="../tags/tag33.xml"/><Relationship Id="rId20" Type="http://schemas.openxmlformats.org/officeDocument/2006/relationships/tags" Target="../tags/tag32.xml"/><Relationship Id="rId2" Type="http://schemas.openxmlformats.org/officeDocument/2006/relationships/tags" Target="../tags/tag14.xml"/><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5.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4" Type="http://schemas.openxmlformats.org/officeDocument/2006/relationships/notesSlide" Target="../notesSlides/notesSlide4.xml"/><Relationship Id="rId13" Type="http://schemas.openxmlformats.org/officeDocument/2006/relationships/slideLayout" Target="../slideLayouts/slideLayout12.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4.xml"/></Relationships>
</file>

<file path=ppt/slides/_rels/slide6.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8" Type="http://schemas.openxmlformats.org/officeDocument/2006/relationships/slideLayout" Target="../slideLayouts/slideLayout12.xml"/><Relationship Id="rId17" Type="http://schemas.openxmlformats.org/officeDocument/2006/relationships/image" Target="../media/image1.png"/><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tags" Target="../tags/tag46.xml"/></Relationships>
</file>

<file path=ppt/slides/_rels/slide7.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4" Type="http://schemas.openxmlformats.org/officeDocument/2006/relationships/notesSlide" Target="../notesSlides/notesSlide5.xml"/><Relationship Id="rId13" Type="http://schemas.openxmlformats.org/officeDocument/2006/relationships/slideLayout" Target="../slideLayouts/slideLayout12.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tags" Target="../tags/tag6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6" Type="http://schemas.openxmlformats.org/officeDocument/2006/relationships/notesSlide" Target="../notesSlides/notesSlide14.xml"/><Relationship Id="rId25" Type="http://schemas.openxmlformats.org/officeDocument/2006/relationships/slideLayout" Target="../slideLayouts/slideLayout12.xml"/><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tags" Target="../tags/tag93.xml"/><Relationship Id="rId2" Type="http://schemas.openxmlformats.org/officeDocument/2006/relationships/tags" Target="../tags/tag75.xml"/><Relationship Id="rId19" Type="http://schemas.openxmlformats.org/officeDocument/2006/relationships/tags" Target="../tags/tag92.xml"/><Relationship Id="rId18" Type="http://schemas.openxmlformats.org/officeDocument/2006/relationships/tags" Target="../tags/tag91.xml"/><Relationship Id="rId17" Type="http://schemas.openxmlformats.org/officeDocument/2006/relationships/tags" Target="../tags/tag90.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tags" Target="../tags/tag7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Shape 1"/>
          <p:cNvSpPr/>
          <p:nvPr/>
        </p:nvSpPr>
        <p:spPr>
          <a:xfrm>
            <a:off x="7132320" y="-731520"/>
            <a:ext cx="3200400" cy="3200400"/>
          </a:xfrm>
          <a:prstGeom prst="ellipse">
            <a:avLst/>
          </a:prstGeom>
          <a:solidFill>
            <a:srgbClr val="0A7EA4">
              <a:alpha val="20000"/>
            </a:srgbClr>
          </a:solidFill>
          <a:ln w="12700">
            <a:solidFill>
              <a:srgbClr val="0A7EA4">
                <a:alpha val="20000"/>
              </a:srgbClr>
            </a:solidFill>
            <a:prstDash val="solid"/>
          </a:ln>
        </p:spPr>
      </p:sp>
      <p:sp>
        <p:nvSpPr>
          <p:cNvPr id="4" name="Shape 2"/>
          <p:cNvSpPr/>
          <p:nvPr/>
        </p:nvSpPr>
        <p:spPr>
          <a:xfrm>
            <a:off x="7680960" y="3474720"/>
            <a:ext cx="2011680" cy="2011680"/>
          </a:xfrm>
          <a:prstGeom prst="ellipse">
            <a:avLst/>
          </a:prstGeom>
          <a:solidFill>
            <a:srgbClr val="F5A623">
              <a:alpha val="15000"/>
            </a:srgbClr>
          </a:solidFill>
          <a:ln w="12700">
            <a:solidFill>
              <a:srgbClr val="F5A623">
                <a:alpha val="15000"/>
              </a:srgbClr>
            </a:solidFill>
            <a:prstDash val="solid"/>
          </a:ln>
        </p:spPr>
      </p:sp>
      <p:sp>
        <p:nvSpPr>
          <p:cNvPr id="6" name="Text 4"/>
          <p:cNvSpPr/>
          <p:nvPr/>
        </p:nvSpPr>
        <p:spPr>
          <a:xfrm>
            <a:off x="457200" y="411480"/>
            <a:ext cx="8229600" cy="274320"/>
          </a:xfrm>
          <a:prstGeom prst="rect">
            <a:avLst/>
          </a:prstGeom>
          <a:noFill/>
        </p:spPr>
        <p:txBody>
          <a:bodyPr wrap="square" rtlCol="0" anchor="ctr"/>
          <a:lstStyle/>
          <a:p>
            <a:pPr marL="0" indent="0" algn="ctr">
              <a:buNone/>
            </a:pPr>
            <a:r>
              <a:rPr lang="en-US" sz="2400" b="1" dirty="0">
                <a:solidFill>
                  <a:schemeClr val="tx1"/>
                </a:solidFill>
                <a:latin typeface="Times New Roman" panose="02020603050405020304" charset="0"/>
                <a:ea typeface="Calibri" panose="020F0502020204030204" pitchFamily="34" charset="-122"/>
                <a:cs typeface="Times New Roman" panose="02020603050405020304" charset="0"/>
              </a:rPr>
              <a:t>BÀI TIỂU LUẬN ĐẢM BẢO CHẤT LƯỢNG </a:t>
            </a:r>
            <a:endParaRPr lang="en-US" sz="2400" b="1" dirty="0">
              <a:solidFill>
                <a:schemeClr val="tx1"/>
              </a:solidFill>
              <a:latin typeface="Times New Roman" panose="02020603050405020304" charset="0"/>
              <a:ea typeface="Calibri" panose="020F0502020204030204" pitchFamily="34" charset="-122"/>
              <a:cs typeface="Times New Roman" panose="02020603050405020304" charset="0"/>
            </a:endParaRPr>
          </a:p>
          <a:p>
            <a:pPr marL="0" indent="0" algn="ctr">
              <a:buNone/>
            </a:pPr>
            <a:r>
              <a:rPr lang="en-US" sz="2400" b="1" dirty="0">
                <a:solidFill>
                  <a:schemeClr val="tx1"/>
                </a:solidFill>
                <a:latin typeface="Times New Roman" panose="02020603050405020304" charset="0"/>
                <a:ea typeface="Calibri" panose="020F0502020204030204" pitchFamily="34" charset="-122"/>
                <a:cs typeface="Times New Roman" panose="02020603050405020304" charset="0"/>
              </a:rPr>
              <a:t>VÀ KIỂM THỬ PHẦN MỀM</a:t>
            </a:r>
            <a:endParaRPr lang="en-US" sz="24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7" name="Text 5"/>
          <p:cNvSpPr/>
          <p:nvPr/>
        </p:nvSpPr>
        <p:spPr>
          <a:xfrm>
            <a:off x="457200" y="991870"/>
            <a:ext cx="8229600" cy="1461135"/>
          </a:xfrm>
          <a:prstGeom prst="rect">
            <a:avLst/>
          </a:prstGeom>
          <a:noFill/>
        </p:spPr>
        <p:txBody>
          <a:bodyPr wrap="square" rtlCol="0" anchor="ctr"/>
          <a:lstStyle/>
          <a:p>
            <a:pPr marL="0" indent="0" algn="ctr">
              <a:buNone/>
            </a:pPr>
            <a:r>
              <a:rPr lang="en-US" sz="3600" b="1" dirty="0">
                <a:solidFill>
                  <a:schemeClr val="tx1"/>
                </a:solidFill>
                <a:latin typeface="Times New Roman" panose="02020603050405020304" charset="0"/>
                <a:ea typeface="Calibri" panose="020F0502020204030204" pitchFamily="34" charset="-122"/>
                <a:cs typeface="Times New Roman" panose="02020603050405020304" charset="0"/>
              </a:rPr>
              <a:t>LLM TRONG PHÂN TÍCH</a:t>
            </a:r>
            <a:r>
              <a:rPr lang="vi-VN" altLang="en-US" sz="3600" b="1" dirty="0">
                <a:solidFill>
                  <a:schemeClr val="tx1"/>
                </a:solidFill>
                <a:latin typeface="Times New Roman" panose="02020603050405020304" charset="0"/>
                <a:ea typeface="Calibri" panose="020F0502020204030204" pitchFamily="34" charset="-122"/>
                <a:cs typeface="Times New Roman" panose="02020603050405020304" charset="0"/>
              </a:rPr>
              <a:t> </a:t>
            </a:r>
            <a:r>
              <a:rPr lang="en-US" sz="3600" b="1" dirty="0">
                <a:solidFill>
                  <a:schemeClr val="tx1"/>
                </a:solidFill>
                <a:latin typeface="Times New Roman" panose="02020603050405020304" charset="0"/>
                <a:ea typeface="Calibri" panose="020F0502020204030204" pitchFamily="34" charset="-122"/>
                <a:cs typeface="Times New Roman" panose="02020603050405020304" charset="0"/>
              </a:rPr>
              <a:t>YÊU CẦU</a:t>
            </a:r>
            <a:r>
              <a:rPr lang="vi-VN" altLang="en-US" sz="3600" b="1" dirty="0">
                <a:solidFill>
                  <a:schemeClr val="tx1"/>
                </a:solidFill>
                <a:latin typeface="Times New Roman" panose="02020603050405020304" charset="0"/>
                <a:ea typeface="Calibri" panose="020F0502020204030204" pitchFamily="34" charset="-122"/>
                <a:cs typeface="Times New Roman" panose="02020603050405020304" charset="0"/>
              </a:rPr>
              <a:t> </a:t>
            </a:r>
            <a:r>
              <a:rPr lang="en-US" sz="3600" b="1" dirty="0">
                <a:solidFill>
                  <a:schemeClr val="tx1"/>
                </a:solidFill>
                <a:latin typeface="Times New Roman" panose="02020603050405020304" charset="0"/>
                <a:ea typeface="Calibri" panose="020F0502020204030204" pitchFamily="34" charset="-122"/>
                <a:cs typeface="Times New Roman" panose="02020603050405020304" charset="0"/>
              </a:rPr>
              <a:t>VÀ SINH CA</a:t>
            </a:r>
            <a:r>
              <a:rPr lang="vi-VN" altLang="en-US" sz="3600" b="1" dirty="0">
                <a:solidFill>
                  <a:schemeClr val="tx1"/>
                </a:solidFill>
                <a:latin typeface="Times New Roman" panose="02020603050405020304" charset="0"/>
                <a:ea typeface="Calibri" panose="020F0502020204030204" pitchFamily="34" charset="-122"/>
                <a:cs typeface="Times New Roman" panose="02020603050405020304" charset="0"/>
              </a:rPr>
              <a:t> </a:t>
            </a:r>
            <a:r>
              <a:rPr lang="en-US" sz="3600" b="1" dirty="0">
                <a:solidFill>
                  <a:schemeClr val="tx1"/>
                </a:solidFill>
                <a:latin typeface="Times New Roman" panose="02020603050405020304" charset="0"/>
                <a:ea typeface="Calibri" panose="020F0502020204030204" pitchFamily="34" charset="-122"/>
                <a:cs typeface="Times New Roman" panose="02020603050405020304" charset="0"/>
              </a:rPr>
              <a:t>KIỂM THỬ</a:t>
            </a:r>
            <a:endParaRPr lang="en-US" sz="3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8" name="Shape 6"/>
          <p:cNvSpPr/>
          <p:nvPr/>
        </p:nvSpPr>
        <p:spPr>
          <a:xfrm>
            <a:off x="827405" y="2759075"/>
            <a:ext cx="4114800" cy="45720"/>
          </a:xfrm>
          <a:prstGeom prst="rect">
            <a:avLst/>
          </a:prstGeom>
          <a:solidFill>
            <a:srgbClr val="0A7EA4"/>
          </a:solidFill>
          <a:ln w="12700">
            <a:solidFill>
              <a:srgbClr val="0A7EA4"/>
            </a:solidFill>
            <a:prstDash val="solid"/>
          </a:ln>
        </p:spPr>
      </p:sp>
      <p:sp>
        <p:nvSpPr>
          <p:cNvPr id="9" name="Text 7"/>
          <p:cNvSpPr/>
          <p:nvPr/>
        </p:nvSpPr>
        <p:spPr>
          <a:xfrm>
            <a:off x="827405" y="3262630"/>
            <a:ext cx="8229600" cy="365760"/>
          </a:xfrm>
          <a:prstGeom prst="rect">
            <a:avLst/>
          </a:prstGeom>
          <a:noFill/>
        </p:spPr>
        <p:txBody>
          <a:bodyPr wrap="square" rtlCol="0" anchor="ctr"/>
          <a:lstStyle/>
          <a:p>
            <a:pPr marL="0" indent="0">
              <a:lnSpc>
                <a:spcPct val="150000"/>
              </a:lnSpc>
              <a:buNone/>
            </a:pP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Sinh viên: </a:t>
            </a: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Đậu Văn Khánh</a:t>
            </a:r>
            <a:endParaRPr lang="en-US" sz="2000" b="1" dirty="0">
              <a:solidFill>
                <a:schemeClr val="tx1"/>
              </a:solidFill>
              <a:latin typeface="Times New Roman" panose="02020603050405020304" charset="0"/>
              <a:ea typeface="Calibri" panose="020F0502020204030204" pitchFamily="34" charset="-122"/>
              <a:cs typeface="Times New Roman" panose="02020603050405020304" charset="0"/>
            </a:endParaRPr>
          </a:p>
          <a:p>
            <a:pPr marL="0" indent="0">
              <a:lnSpc>
                <a:spcPct val="150000"/>
              </a:lnSpc>
              <a:buNone/>
            </a:pP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MSSV: K225480106099</a:t>
            </a:r>
            <a:endParaRPr lang="en-US" sz="2000" b="1" dirty="0">
              <a:solidFill>
                <a:schemeClr val="tx1"/>
              </a:solidFill>
              <a:latin typeface="Times New Roman" panose="02020603050405020304" charset="0"/>
              <a:ea typeface="Calibri" panose="020F0502020204030204" pitchFamily="34" charset="-122"/>
              <a:cs typeface="Times New Roman" panose="02020603050405020304" charset="0"/>
            </a:endParaRPr>
          </a:p>
          <a:p>
            <a:pPr marL="0" indent="0">
              <a:lnSpc>
                <a:spcPct val="150000"/>
              </a:lnSpc>
              <a:buNone/>
            </a:pP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Lớp: K58KTP</a:t>
            </a:r>
            <a:endParaRPr lang="en-US" sz="20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0" name="Text 8"/>
          <p:cNvSpPr/>
          <p:nvPr/>
        </p:nvSpPr>
        <p:spPr>
          <a:xfrm>
            <a:off x="827405" y="4220845"/>
            <a:ext cx="8229600" cy="365760"/>
          </a:xfrm>
          <a:prstGeom prst="rect">
            <a:avLst/>
          </a:prstGeom>
          <a:noFill/>
        </p:spPr>
        <p:txBody>
          <a:bodyPr wrap="square" rtlCol="0" anchor="ctr"/>
          <a:lstStyle/>
          <a:p>
            <a:pPr marL="0" indent="0">
              <a:buNone/>
            </a:pP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GVHD: </a:t>
            </a: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TS. Nguyễn Tuấn Linh      </a:t>
            </a:r>
            <a:endParaRPr lang="en-US" sz="20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 name="Shape 0"/>
          <p:cNvSpPr/>
          <p:nvPr/>
        </p:nvSpPr>
        <p:spPr>
          <a:xfrm>
            <a:off x="0" y="0"/>
            <a:ext cx="9144000" cy="73152"/>
          </a:xfrm>
          <a:prstGeom prst="rect">
            <a:avLst/>
          </a:prstGeom>
          <a:solidFill>
            <a:srgbClr val="0A7EA4"/>
          </a:solidFill>
          <a:ln w="12700">
            <a:solidFill>
              <a:srgbClr val="0A7EA4"/>
            </a:solidFill>
            <a:prstDash val="solid"/>
          </a:ln>
        </p:spPr>
      </p:sp>
      <p:sp>
        <p:nvSpPr>
          <p:cNvPr id="67" name="Text 1"/>
          <p:cNvSpPr/>
          <p:nvPr/>
        </p:nvSpPr>
        <p:spPr>
          <a:xfrm>
            <a:off x="457200" y="182880"/>
            <a:ext cx="8229600" cy="502920"/>
          </a:xfrm>
          <a:prstGeom prst="rect">
            <a:avLst/>
          </a:prstGeom>
          <a:noFill/>
        </p:spPr>
        <p:txBody>
          <a:bodyPr wrap="square" rtlCol="0" anchor="ctr"/>
          <a:lstStyle/>
          <a:p>
            <a:pPr marL="0" indent="0">
              <a:buNone/>
            </a:pPr>
            <a:r>
              <a:rPr lang="vi-VN" altLang="en-US" sz="2600" b="1" dirty="0">
                <a:solidFill>
                  <a:srgbClr val="0D2137"/>
                </a:solidFill>
                <a:latin typeface="Times New Roman" panose="02020603050405020304" charset="0"/>
                <a:ea typeface="Calibri" panose="020F0502020204030204" pitchFamily="34" charset="-122"/>
                <a:cs typeface="Times New Roman" panose="02020603050405020304" charset="0"/>
              </a:rPr>
              <a:t>NỘI DUNG TRÌNH BÀY</a:t>
            </a:r>
            <a:endParaRPr lang="vi-VN" altLang="en-US" sz="26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68" name="Shape 2"/>
          <p:cNvSpPr/>
          <p:nvPr/>
        </p:nvSpPr>
        <p:spPr>
          <a:xfrm>
            <a:off x="457200" y="713232"/>
            <a:ext cx="8229600" cy="36576"/>
          </a:xfrm>
          <a:prstGeom prst="rect">
            <a:avLst/>
          </a:prstGeom>
          <a:solidFill>
            <a:srgbClr val="0A7EA4"/>
          </a:solidFill>
          <a:ln w="12700">
            <a:solidFill>
              <a:srgbClr val="0A7EA4"/>
            </a:solidFill>
            <a:prstDash val="solid"/>
          </a:ln>
        </p:spPr>
      </p:sp>
      <p:sp>
        <p:nvSpPr>
          <p:cNvPr id="69" name="Shape 3"/>
          <p:cNvSpPr/>
          <p:nvPr/>
        </p:nvSpPr>
        <p:spPr>
          <a:xfrm>
            <a:off x="320040" y="914400"/>
            <a:ext cx="502920" cy="438912"/>
          </a:xfrm>
          <a:prstGeom prst="roundRect">
            <a:avLst>
              <a:gd name="adj" fmla="val 12500"/>
            </a:avLst>
          </a:prstGeom>
          <a:solidFill>
            <a:srgbClr val="0A7EA4"/>
          </a:solidFill>
        </p:spPr>
      </p:sp>
      <p:sp>
        <p:nvSpPr>
          <p:cNvPr id="70" name="Text 4"/>
          <p:cNvSpPr/>
          <p:nvPr/>
        </p:nvSpPr>
        <p:spPr>
          <a:xfrm>
            <a:off x="320040" y="914400"/>
            <a:ext cx="502920" cy="438785"/>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01</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71" name="Text 5"/>
          <p:cNvSpPr/>
          <p:nvPr/>
        </p:nvSpPr>
        <p:spPr>
          <a:xfrm>
            <a:off x="960120" y="941832"/>
            <a:ext cx="3474720" cy="384048"/>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Lý do chọn đề tài </a:t>
            </a:r>
            <a:r>
              <a:rPr lang="vi-VN" altLang="en-US" sz="1500" dirty="0">
                <a:solidFill>
                  <a:srgbClr val="1E293B"/>
                </a:solidFill>
                <a:latin typeface="Times New Roman" panose="02020603050405020304" charset="0"/>
                <a:ea typeface="Calibri" panose="020F0502020204030204" pitchFamily="34" charset="-122"/>
                <a:cs typeface="Times New Roman" panose="02020603050405020304" charset="0"/>
              </a:rPr>
              <a:t>và</a:t>
            </a: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 </a:t>
            </a:r>
            <a:r>
              <a:rPr lang="vi-VN" altLang="en-US" sz="1500" dirty="0">
                <a:solidFill>
                  <a:srgbClr val="1E293B"/>
                </a:solidFill>
                <a:latin typeface="Times New Roman" panose="02020603050405020304" charset="0"/>
                <a:ea typeface="Calibri" panose="020F0502020204030204" pitchFamily="34" charset="-122"/>
                <a:cs typeface="Times New Roman" panose="02020603050405020304" charset="0"/>
              </a:rPr>
              <a:t>m</a:t>
            </a: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ục tiêu nghiên cứu</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72" name="Shape 6"/>
          <p:cNvSpPr/>
          <p:nvPr/>
        </p:nvSpPr>
        <p:spPr>
          <a:xfrm>
            <a:off x="320040" y="1664208"/>
            <a:ext cx="502920" cy="438912"/>
          </a:xfrm>
          <a:prstGeom prst="roundRect">
            <a:avLst>
              <a:gd name="adj" fmla="val 12500"/>
            </a:avLst>
          </a:prstGeom>
          <a:solidFill>
            <a:srgbClr val="0A7EA4"/>
          </a:solidFill>
        </p:spPr>
      </p:sp>
      <p:sp>
        <p:nvSpPr>
          <p:cNvPr id="73" name="Text 7"/>
          <p:cNvSpPr/>
          <p:nvPr/>
        </p:nvSpPr>
        <p:spPr>
          <a:xfrm>
            <a:off x="320040" y="1664208"/>
            <a:ext cx="502920" cy="438912"/>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02</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74" name="Text 8"/>
          <p:cNvSpPr/>
          <p:nvPr/>
        </p:nvSpPr>
        <p:spPr>
          <a:xfrm>
            <a:off x="960120" y="1691640"/>
            <a:ext cx="3085465" cy="384175"/>
          </a:xfrm>
          <a:prstGeom prst="rect">
            <a:avLst/>
          </a:prstGeom>
          <a:noFill/>
        </p:spPr>
        <p:txBody>
          <a:bodyPr wrap="square" rtlCol="0" anchor="ctr"/>
          <a:lstStyle/>
          <a:p>
            <a:pPr indent="0" algn="just" fontAlgn="auto">
              <a:lnSpc>
                <a:spcPct val="120000"/>
              </a:lnSpc>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Tổng quan về LLM và kiến trúc Transformer</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75" name="Shape 9"/>
          <p:cNvSpPr/>
          <p:nvPr/>
        </p:nvSpPr>
        <p:spPr>
          <a:xfrm>
            <a:off x="320040" y="2414016"/>
            <a:ext cx="502920" cy="438912"/>
          </a:xfrm>
          <a:prstGeom prst="roundRect">
            <a:avLst>
              <a:gd name="adj" fmla="val 12500"/>
            </a:avLst>
          </a:prstGeom>
          <a:solidFill>
            <a:srgbClr val="0A7EA4"/>
          </a:solidFill>
        </p:spPr>
      </p:sp>
      <p:sp>
        <p:nvSpPr>
          <p:cNvPr id="76" name="Text 10"/>
          <p:cNvSpPr/>
          <p:nvPr/>
        </p:nvSpPr>
        <p:spPr>
          <a:xfrm>
            <a:off x="320040" y="2414016"/>
            <a:ext cx="502920" cy="438912"/>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03</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77" name="Text 11"/>
          <p:cNvSpPr/>
          <p:nvPr/>
        </p:nvSpPr>
        <p:spPr>
          <a:xfrm>
            <a:off x="960120" y="2441575"/>
            <a:ext cx="3279140" cy="384175"/>
          </a:xfrm>
          <a:prstGeom prst="rect">
            <a:avLst/>
          </a:prstGeom>
          <a:noFill/>
        </p:spPr>
        <p:txBody>
          <a:bodyPr wrap="square" rtlCol="0" anchor="ctr"/>
          <a:lstStyle/>
          <a:p>
            <a:pPr indent="0" algn="just" fontAlgn="auto">
              <a:lnSpc>
                <a:spcPct val="120000"/>
              </a:lnSpc>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Phân tích yêu cầu </a:t>
            </a:r>
            <a:r>
              <a:rPr lang="vi-VN" altLang="en-US" sz="1500" dirty="0">
                <a:solidFill>
                  <a:srgbClr val="1E293B"/>
                </a:solidFill>
                <a:latin typeface="Times New Roman" panose="02020603050405020304" charset="0"/>
                <a:ea typeface="Calibri" panose="020F0502020204030204" pitchFamily="34" charset="-122"/>
                <a:cs typeface="Times New Roman" panose="02020603050405020304" charset="0"/>
              </a:rPr>
              <a:t>và C</a:t>
            </a: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a kiểm thử phần mềm</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78" name="Shape 12"/>
          <p:cNvSpPr/>
          <p:nvPr/>
        </p:nvSpPr>
        <p:spPr>
          <a:xfrm>
            <a:off x="320040" y="3163824"/>
            <a:ext cx="502920" cy="438912"/>
          </a:xfrm>
          <a:prstGeom prst="roundRect">
            <a:avLst>
              <a:gd name="adj" fmla="val 12500"/>
            </a:avLst>
          </a:prstGeom>
          <a:solidFill>
            <a:srgbClr val="0A7EA4"/>
          </a:solidFill>
        </p:spPr>
      </p:sp>
      <p:sp>
        <p:nvSpPr>
          <p:cNvPr id="79" name="Text 13"/>
          <p:cNvSpPr/>
          <p:nvPr/>
        </p:nvSpPr>
        <p:spPr>
          <a:xfrm>
            <a:off x="320040" y="3163824"/>
            <a:ext cx="502920" cy="438912"/>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04</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80" name="Text 14"/>
          <p:cNvSpPr/>
          <p:nvPr/>
        </p:nvSpPr>
        <p:spPr>
          <a:xfrm>
            <a:off x="960120" y="3191256"/>
            <a:ext cx="3474720" cy="384048"/>
          </a:xfrm>
          <a:prstGeom prst="rect">
            <a:avLst/>
          </a:prstGeom>
          <a:noFill/>
        </p:spPr>
        <p:txBody>
          <a:bodyPr wrap="square" rtlCol="0" anchor="ctr"/>
          <a:lstStyle/>
          <a:p>
            <a:pPr indent="0" algn="just" fontAlgn="auto">
              <a:lnSpc>
                <a:spcPct val="120000"/>
              </a:lnSpc>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Prompt Engineering </a:t>
            </a:r>
            <a:r>
              <a:rPr lang="vi-VN" altLang="en-US" sz="1500" dirty="0">
                <a:solidFill>
                  <a:srgbClr val="1E293B"/>
                </a:solidFill>
                <a:latin typeface="Times New Roman" panose="02020603050405020304" charset="0"/>
                <a:ea typeface="Calibri" panose="020F0502020204030204" pitchFamily="34" charset="-122"/>
                <a:cs typeface="Times New Roman" panose="02020603050405020304" charset="0"/>
              </a:rPr>
              <a:t>và</a:t>
            </a: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 RAG trong kiểm thử</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81" name="Shape 15"/>
          <p:cNvSpPr/>
          <p:nvPr/>
        </p:nvSpPr>
        <p:spPr>
          <a:xfrm>
            <a:off x="320040" y="3913632"/>
            <a:ext cx="502920" cy="438912"/>
          </a:xfrm>
          <a:prstGeom prst="roundRect">
            <a:avLst>
              <a:gd name="adj" fmla="val 12500"/>
            </a:avLst>
          </a:prstGeom>
          <a:solidFill>
            <a:srgbClr val="0A7EA4"/>
          </a:solidFill>
        </p:spPr>
      </p:sp>
      <p:sp>
        <p:nvSpPr>
          <p:cNvPr id="82" name="Text 16"/>
          <p:cNvSpPr/>
          <p:nvPr/>
        </p:nvSpPr>
        <p:spPr>
          <a:xfrm>
            <a:off x="320040" y="3913632"/>
            <a:ext cx="502920" cy="438912"/>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05</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83" name="Text 17"/>
          <p:cNvSpPr/>
          <p:nvPr/>
        </p:nvSpPr>
        <p:spPr>
          <a:xfrm>
            <a:off x="960120" y="3940810"/>
            <a:ext cx="3474085" cy="384175"/>
          </a:xfrm>
          <a:prstGeom prst="rect">
            <a:avLst/>
          </a:prstGeom>
          <a:noFill/>
        </p:spPr>
        <p:txBody>
          <a:bodyPr wrap="square" rtlCol="0" anchor="ctr"/>
          <a:lstStyle/>
          <a:p>
            <a:pPr indent="0" algn="just" fontAlgn="auto">
              <a:lnSpc>
                <a:spcPct val="120000"/>
              </a:lnSpc>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So sánh phương pháp truyền thống v</a:t>
            </a:r>
            <a:r>
              <a:rPr lang="vi-VN" altLang="en-US" sz="1500" dirty="0">
                <a:solidFill>
                  <a:srgbClr val="1E293B"/>
                </a:solidFill>
                <a:latin typeface="Times New Roman" panose="02020603050405020304" charset="0"/>
                <a:ea typeface="Calibri" panose="020F0502020204030204" pitchFamily="34" charset="-122"/>
                <a:cs typeface="Times New Roman" panose="02020603050405020304" charset="0"/>
              </a:rPr>
              <a:t>ới</a:t>
            </a: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 LLM</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84" name="Shape 18"/>
          <p:cNvSpPr/>
          <p:nvPr/>
        </p:nvSpPr>
        <p:spPr>
          <a:xfrm>
            <a:off x="4709160" y="914400"/>
            <a:ext cx="502920" cy="438912"/>
          </a:xfrm>
          <a:prstGeom prst="roundRect">
            <a:avLst>
              <a:gd name="adj" fmla="val 12500"/>
            </a:avLst>
          </a:prstGeom>
          <a:solidFill>
            <a:srgbClr val="0A7EA4"/>
          </a:solidFill>
        </p:spPr>
      </p:sp>
      <p:sp>
        <p:nvSpPr>
          <p:cNvPr id="85" name="Text 19"/>
          <p:cNvSpPr/>
          <p:nvPr/>
        </p:nvSpPr>
        <p:spPr>
          <a:xfrm>
            <a:off x="4709160" y="914400"/>
            <a:ext cx="502920" cy="438912"/>
          </a:xfrm>
          <a:prstGeom prst="rect">
            <a:avLst/>
          </a:prstGeom>
          <a:noFill/>
        </p:spPr>
        <p:txBody>
          <a:bodyPr wrap="square" rtlCol="0" anchor="ctr"/>
          <a:lstStyle/>
          <a:p>
            <a:pPr indent="0" algn="ctr" fontAlgn="auto">
              <a:lnSpc>
                <a:spcPct val="120000"/>
              </a:lnSpc>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06</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86" name="Text 20"/>
          <p:cNvSpPr/>
          <p:nvPr/>
        </p:nvSpPr>
        <p:spPr>
          <a:xfrm>
            <a:off x="5349240" y="941705"/>
            <a:ext cx="3345180" cy="384175"/>
          </a:xfrm>
          <a:prstGeom prst="rect">
            <a:avLst/>
          </a:prstGeom>
          <a:noFill/>
        </p:spPr>
        <p:txBody>
          <a:bodyPr wrap="square" rtlCol="0" anchor="ctr"/>
          <a:lstStyle/>
          <a:p>
            <a:pPr indent="0" algn="just" fontAlgn="auto">
              <a:lnSpc>
                <a:spcPct val="120000"/>
              </a:lnSpc>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Mô tả bài toán thực tế (Hệ thống đăng nhập)</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87" name="Shape 21"/>
          <p:cNvSpPr/>
          <p:nvPr/>
        </p:nvSpPr>
        <p:spPr>
          <a:xfrm>
            <a:off x="4709160" y="1664208"/>
            <a:ext cx="502920" cy="438912"/>
          </a:xfrm>
          <a:prstGeom prst="roundRect">
            <a:avLst>
              <a:gd name="adj" fmla="val 12500"/>
            </a:avLst>
          </a:prstGeom>
          <a:solidFill>
            <a:srgbClr val="0A7EA4"/>
          </a:solidFill>
        </p:spPr>
      </p:sp>
      <p:sp>
        <p:nvSpPr>
          <p:cNvPr id="88" name="Text 22"/>
          <p:cNvSpPr/>
          <p:nvPr/>
        </p:nvSpPr>
        <p:spPr>
          <a:xfrm>
            <a:off x="4709160" y="1664208"/>
            <a:ext cx="502920" cy="438912"/>
          </a:xfrm>
          <a:prstGeom prst="rect">
            <a:avLst/>
          </a:prstGeom>
          <a:noFill/>
        </p:spPr>
        <p:txBody>
          <a:bodyPr wrap="square" rtlCol="0" anchor="ctr"/>
          <a:lstStyle/>
          <a:p>
            <a:pPr indent="0" algn="ctr" fontAlgn="auto">
              <a:lnSpc>
                <a:spcPct val="120000"/>
              </a:lnSpc>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07</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89" name="Text 23"/>
          <p:cNvSpPr/>
          <p:nvPr/>
        </p:nvSpPr>
        <p:spPr>
          <a:xfrm>
            <a:off x="5349240" y="1691640"/>
            <a:ext cx="3338195" cy="384175"/>
          </a:xfrm>
          <a:prstGeom prst="rect">
            <a:avLst/>
          </a:prstGeom>
          <a:noFill/>
        </p:spPr>
        <p:txBody>
          <a:bodyPr wrap="square" rtlCol="0" anchor="ctr"/>
          <a:lstStyle/>
          <a:p>
            <a:pPr indent="0" algn="just" fontAlgn="auto">
              <a:lnSpc>
                <a:spcPct val="120000"/>
              </a:lnSpc>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Quy trình áp dụng LLM &amp; Thiết kế Prompt</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90" name="Shape 24"/>
          <p:cNvSpPr/>
          <p:nvPr/>
        </p:nvSpPr>
        <p:spPr>
          <a:xfrm>
            <a:off x="4709160" y="2414016"/>
            <a:ext cx="502920" cy="438912"/>
          </a:xfrm>
          <a:prstGeom prst="roundRect">
            <a:avLst>
              <a:gd name="adj" fmla="val 12500"/>
            </a:avLst>
          </a:prstGeom>
          <a:solidFill>
            <a:srgbClr val="0A7EA4"/>
          </a:solidFill>
        </p:spPr>
      </p:sp>
      <p:sp>
        <p:nvSpPr>
          <p:cNvPr id="91" name="Text 25"/>
          <p:cNvSpPr/>
          <p:nvPr/>
        </p:nvSpPr>
        <p:spPr>
          <a:xfrm>
            <a:off x="4709160" y="2414016"/>
            <a:ext cx="502920" cy="438912"/>
          </a:xfrm>
          <a:prstGeom prst="rect">
            <a:avLst/>
          </a:prstGeom>
          <a:noFill/>
        </p:spPr>
        <p:txBody>
          <a:bodyPr wrap="square" rtlCol="0" anchor="ctr"/>
          <a:lstStyle/>
          <a:p>
            <a:pPr indent="0" algn="ctr" fontAlgn="auto">
              <a:lnSpc>
                <a:spcPct val="120000"/>
              </a:lnSpc>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08</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92" name="Text 26"/>
          <p:cNvSpPr/>
          <p:nvPr/>
        </p:nvSpPr>
        <p:spPr>
          <a:xfrm>
            <a:off x="5349240" y="2441575"/>
            <a:ext cx="3458210" cy="384175"/>
          </a:xfrm>
          <a:prstGeom prst="rect">
            <a:avLst/>
          </a:prstGeom>
          <a:noFill/>
        </p:spPr>
        <p:txBody>
          <a:bodyPr wrap="square" rtlCol="0" anchor="ctr"/>
          <a:lstStyle/>
          <a:p>
            <a:pPr indent="0" algn="just" fontAlgn="auto">
              <a:lnSpc>
                <a:spcPct val="120000"/>
              </a:lnSpc>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Phân tích yêu cầu </a:t>
            </a:r>
            <a:r>
              <a:rPr lang="vi-VN" altLang="en-US" sz="1500" dirty="0">
                <a:solidFill>
                  <a:srgbClr val="1E293B"/>
                </a:solidFill>
                <a:latin typeface="Times New Roman" panose="02020603050405020304" charset="0"/>
                <a:ea typeface="Calibri" panose="020F0502020204030204" pitchFamily="34" charset="-122"/>
                <a:cs typeface="Times New Roman" panose="02020603050405020304" charset="0"/>
              </a:rPr>
              <a:t>và</a:t>
            </a: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 Xây dựng Test Case</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93" name="Shape 27"/>
          <p:cNvSpPr/>
          <p:nvPr/>
        </p:nvSpPr>
        <p:spPr>
          <a:xfrm>
            <a:off x="4709160" y="3163824"/>
            <a:ext cx="502920" cy="438912"/>
          </a:xfrm>
          <a:prstGeom prst="roundRect">
            <a:avLst>
              <a:gd name="adj" fmla="val 12500"/>
            </a:avLst>
          </a:prstGeom>
          <a:solidFill>
            <a:srgbClr val="0A7EA4"/>
          </a:solidFill>
        </p:spPr>
      </p:sp>
      <p:sp>
        <p:nvSpPr>
          <p:cNvPr id="94" name="Text 28"/>
          <p:cNvSpPr/>
          <p:nvPr/>
        </p:nvSpPr>
        <p:spPr>
          <a:xfrm>
            <a:off x="4709160" y="3163824"/>
            <a:ext cx="502920" cy="438912"/>
          </a:xfrm>
          <a:prstGeom prst="rect">
            <a:avLst/>
          </a:prstGeom>
          <a:noFill/>
        </p:spPr>
        <p:txBody>
          <a:bodyPr wrap="square" rtlCol="0" anchor="ctr"/>
          <a:lstStyle/>
          <a:p>
            <a:pPr indent="0" algn="ctr" fontAlgn="auto">
              <a:lnSpc>
                <a:spcPct val="120000"/>
              </a:lnSpc>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09</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95" name="Text 29"/>
          <p:cNvSpPr/>
          <p:nvPr/>
        </p:nvSpPr>
        <p:spPr>
          <a:xfrm>
            <a:off x="5349240" y="3191256"/>
            <a:ext cx="3474720" cy="384048"/>
          </a:xfrm>
          <a:prstGeom prst="rect">
            <a:avLst/>
          </a:prstGeom>
          <a:noFill/>
        </p:spPr>
        <p:txBody>
          <a:bodyPr wrap="square" rtlCol="0" anchor="ctr"/>
          <a:lstStyle/>
          <a:p>
            <a:pPr indent="0" algn="just" fontAlgn="auto">
              <a:lnSpc>
                <a:spcPct val="120000"/>
              </a:lnSpc>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Kết quả thực nghiệm </a:t>
            </a:r>
            <a:r>
              <a:rPr lang="vi-VN" altLang="en-US" sz="1500" dirty="0">
                <a:solidFill>
                  <a:srgbClr val="1E293B"/>
                </a:solidFill>
                <a:latin typeface="Times New Roman" panose="02020603050405020304" charset="0"/>
                <a:ea typeface="Calibri" panose="020F0502020204030204" pitchFamily="34" charset="-122"/>
                <a:cs typeface="Times New Roman" panose="02020603050405020304" charset="0"/>
              </a:rPr>
              <a:t>và</a:t>
            </a: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 Đánh giá</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96" name="Shape 30"/>
          <p:cNvSpPr/>
          <p:nvPr/>
        </p:nvSpPr>
        <p:spPr>
          <a:xfrm>
            <a:off x="4709160" y="3913632"/>
            <a:ext cx="502920" cy="438912"/>
          </a:xfrm>
          <a:prstGeom prst="roundRect">
            <a:avLst>
              <a:gd name="adj" fmla="val 12500"/>
            </a:avLst>
          </a:prstGeom>
          <a:solidFill>
            <a:srgbClr val="0A7EA4"/>
          </a:solidFill>
        </p:spPr>
      </p:sp>
      <p:sp>
        <p:nvSpPr>
          <p:cNvPr id="97" name="Text 31"/>
          <p:cNvSpPr/>
          <p:nvPr/>
        </p:nvSpPr>
        <p:spPr>
          <a:xfrm>
            <a:off x="4709160" y="3913632"/>
            <a:ext cx="502920" cy="438912"/>
          </a:xfrm>
          <a:prstGeom prst="rect">
            <a:avLst/>
          </a:prstGeom>
          <a:noFill/>
        </p:spPr>
        <p:txBody>
          <a:bodyPr wrap="square" rtlCol="0" anchor="ctr"/>
          <a:lstStyle/>
          <a:p>
            <a:pPr indent="0" algn="ctr" fontAlgn="auto">
              <a:lnSpc>
                <a:spcPct val="120000"/>
              </a:lnSpc>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10</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98" name="Text 32"/>
          <p:cNvSpPr/>
          <p:nvPr/>
        </p:nvSpPr>
        <p:spPr>
          <a:xfrm>
            <a:off x="5349240" y="3941064"/>
            <a:ext cx="3474720" cy="384048"/>
          </a:xfrm>
          <a:prstGeom prst="rect">
            <a:avLst/>
          </a:prstGeom>
          <a:noFill/>
        </p:spPr>
        <p:txBody>
          <a:bodyPr wrap="square" rtlCol="0" anchor="ctr"/>
          <a:lstStyle/>
          <a:p>
            <a:pPr indent="0" algn="just" fontAlgn="auto">
              <a:lnSpc>
                <a:spcPct val="120000"/>
              </a:lnSpc>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Kết luận </a:t>
            </a:r>
            <a:r>
              <a:rPr lang="vi-VN" altLang="en-US" sz="1500" dirty="0">
                <a:solidFill>
                  <a:srgbClr val="1E293B"/>
                </a:solidFill>
                <a:latin typeface="Times New Roman" panose="02020603050405020304" charset="0"/>
                <a:ea typeface="Calibri" panose="020F0502020204030204" pitchFamily="34" charset="-122"/>
                <a:cs typeface="Times New Roman" panose="02020603050405020304" charset="0"/>
              </a:rPr>
              <a:t>và</a:t>
            </a: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 Định hướng mở rộng</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365125" y="164465"/>
            <a:ext cx="8321675" cy="457200"/>
          </a:xfrm>
          <a:prstGeom prst="rect">
            <a:avLst/>
          </a:prstGeom>
          <a:noFill/>
        </p:spPr>
        <p:txBody>
          <a:bodyPr wrap="square" rtlCol="0" anchor="ctr"/>
          <a:lstStyle/>
          <a:p>
            <a:pPr marL="0" indent="0" algn="just">
              <a:buNone/>
            </a:pPr>
            <a:r>
              <a:rPr lang="en-US" sz="3200" b="1" dirty="0">
                <a:solidFill>
                  <a:srgbClr val="0D2137"/>
                </a:solidFill>
                <a:latin typeface="Times New Roman" panose="02020603050405020304" charset="0"/>
                <a:ea typeface="Calibri" panose="020F0502020204030204" pitchFamily="34" charset="-122"/>
                <a:cs typeface="Times New Roman" panose="02020603050405020304" charset="0"/>
              </a:rPr>
              <a:t>CHƯƠNG 1: </a:t>
            </a:r>
            <a:r>
              <a:rPr lang="vi-VN" altLang="en-US" sz="3200" b="1" dirty="0">
                <a:solidFill>
                  <a:srgbClr val="0D2137"/>
                </a:solidFill>
                <a:latin typeface="Times New Roman" panose="02020603050405020304" charset="0"/>
                <a:ea typeface="Calibri" panose="020F0502020204030204" pitchFamily="34" charset="-122"/>
                <a:cs typeface="Times New Roman" panose="02020603050405020304" charset="0"/>
              </a:rPr>
              <a:t>MỞ ĐẦU</a:t>
            </a:r>
            <a:endParaRPr lang="vi-VN" altLang="en-US" sz="32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640080"/>
            <a:ext cx="8229600" cy="36576"/>
          </a:xfrm>
          <a:prstGeom prst="rect">
            <a:avLst/>
          </a:prstGeom>
          <a:solidFill>
            <a:srgbClr val="0A7EA4"/>
          </a:solidFill>
          <a:ln w="12700">
            <a:solidFill>
              <a:srgbClr val="0A7EA4"/>
            </a:solidFill>
            <a:prstDash val="solid"/>
          </a:ln>
        </p:spPr>
      </p:sp>
      <p:sp>
        <p:nvSpPr>
          <p:cNvPr id="45" name="Text 1"/>
          <p:cNvSpPr/>
          <p:nvPr/>
        </p:nvSpPr>
        <p:spPr>
          <a:xfrm>
            <a:off x="365125" y="490220"/>
            <a:ext cx="8229600" cy="763270"/>
          </a:xfrm>
          <a:prstGeom prst="rect">
            <a:avLst/>
          </a:prstGeom>
          <a:noFill/>
        </p:spPr>
        <p:txBody>
          <a:bodyPr wrap="square" rtlCol="0" anchor="ctr"/>
          <a:lstStyle/>
          <a:p>
            <a:pPr marL="0" indent="0" algn="just">
              <a:buNone/>
            </a:pPr>
            <a:r>
              <a:rPr lang="en-US" sz="2000" b="1" dirty="0">
                <a:solidFill>
                  <a:schemeClr val="tx1"/>
                </a:solidFill>
                <a:latin typeface="Times New Roman" panose="02020603050405020304" charset="0"/>
                <a:cs typeface="Times New Roman" panose="02020603050405020304" charset="0"/>
              </a:rPr>
              <a:t>L</a:t>
            </a:r>
            <a:r>
              <a:rPr lang="vi-VN" altLang="en-US" sz="2000" b="1" dirty="0">
                <a:solidFill>
                  <a:schemeClr val="tx1"/>
                </a:solidFill>
                <a:latin typeface="Times New Roman" panose="02020603050405020304" charset="0"/>
                <a:cs typeface="Times New Roman" panose="02020603050405020304" charset="0"/>
              </a:rPr>
              <a:t>ý do chọn đề tài</a:t>
            </a:r>
            <a:endParaRPr lang="vi-VN" altLang="en-US" sz="2000" b="1" dirty="0">
              <a:solidFill>
                <a:schemeClr val="tx1"/>
              </a:solidFill>
              <a:latin typeface="Times New Roman" panose="02020603050405020304" charset="0"/>
              <a:cs typeface="Times New Roman" panose="02020603050405020304" charset="0"/>
            </a:endParaRPr>
          </a:p>
        </p:txBody>
      </p:sp>
      <p:sp>
        <p:nvSpPr>
          <p:cNvPr id="46" name="Shape 2"/>
          <p:cNvSpPr/>
          <p:nvPr>
            <p:custDataLst>
              <p:tags r:id="rId1"/>
            </p:custDataLst>
          </p:nvPr>
        </p:nvSpPr>
        <p:spPr>
          <a:xfrm>
            <a:off x="410845" y="1174750"/>
            <a:ext cx="2606040" cy="3474720"/>
          </a:xfrm>
          <a:prstGeom prst="roundRect">
            <a:avLst>
              <a:gd name="adj" fmla="val 4211"/>
            </a:avLst>
          </a:prstGeom>
          <a:solidFill>
            <a:srgbClr val="1565C0"/>
          </a:solidFill>
          <a:ln w="12700">
            <a:solidFill>
              <a:srgbClr val="1565C0"/>
            </a:solidFill>
            <a:prstDash val="solid"/>
          </a:ln>
          <a:effectLst>
            <a:outerShdw blurRad="101600" dist="38100" dir="2700000" algn="bl" rotWithShape="0">
              <a:srgbClr val="000000">
                <a:alpha val="18000"/>
              </a:srgbClr>
            </a:outerShdw>
          </a:effectLst>
        </p:spPr>
      </p:sp>
      <p:sp>
        <p:nvSpPr>
          <p:cNvPr id="47" name="Text 3"/>
          <p:cNvSpPr/>
          <p:nvPr>
            <p:custDataLst>
              <p:tags r:id="rId2"/>
            </p:custDataLst>
          </p:nvPr>
        </p:nvSpPr>
        <p:spPr>
          <a:xfrm>
            <a:off x="410845" y="1220470"/>
            <a:ext cx="2606040" cy="548640"/>
          </a:xfrm>
          <a:prstGeom prst="rect">
            <a:avLst/>
          </a:prstGeom>
          <a:noFill/>
        </p:spPr>
        <p:txBody>
          <a:bodyPr wrap="square" rtlCol="0" anchor="t"/>
          <a:lstStyle/>
          <a:p>
            <a:pPr marL="0" indent="0" algn="just">
              <a:buNone/>
            </a:pPr>
            <a:r>
              <a:rPr lang="en-US" sz="2800" b="1" dirty="0">
                <a:solidFill>
                  <a:srgbClr val="FFFFFF"/>
                </a:solidFill>
                <a:latin typeface="Times New Roman" panose="02020603050405020304" charset="0"/>
                <a:cs typeface="Times New Roman" panose="02020603050405020304" charset="0"/>
              </a:rPr>
              <a:t>01</a:t>
            </a:r>
            <a:endParaRPr lang="en-US" sz="2800" b="1" dirty="0">
              <a:solidFill>
                <a:srgbClr val="FFFFFF"/>
              </a:solidFill>
              <a:latin typeface="Times New Roman" panose="02020603050405020304" charset="0"/>
              <a:cs typeface="Times New Roman" panose="02020603050405020304" charset="0"/>
            </a:endParaRPr>
          </a:p>
        </p:txBody>
      </p:sp>
      <p:sp>
        <p:nvSpPr>
          <p:cNvPr id="48" name="Text 4"/>
          <p:cNvSpPr/>
          <p:nvPr>
            <p:custDataLst>
              <p:tags r:id="rId3"/>
            </p:custDataLst>
          </p:nvPr>
        </p:nvSpPr>
        <p:spPr>
          <a:xfrm>
            <a:off x="502285" y="1906270"/>
            <a:ext cx="2423160" cy="502920"/>
          </a:xfrm>
          <a:prstGeom prst="rect">
            <a:avLst/>
          </a:prstGeom>
          <a:noFill/>
        </p:spPr>
        <p:txBody>
          <a:bodyPr wrap="square" rtlCol="0" anchor="ctr"/>
          <a:lstStyle/>
          <a:p>
            <a:pPr marL="0" indent="0" algn="just">
              <a:buNone/>
            </a:pPr>
            <a:r>
              <a:rPr lang="en-US" sz="1600" b="1" dirty="0">
                <a:solidFill>
                  <a:srgbClr val="FFFFFF"/>
                </a:solidFill>
                <a:latin typeface="Times New Roman" panose="02020603050405020304" charset="0"/>
                <a:cs typeface="Times New Roman" panose="02020603050405020304" charset="0"/>
              </a:rPr>
              <a:t>Kiểm thử tốn kém</a:t>
            </a:r>
            <a:endParaRPr lang="en-US" sz="1600" b="1" dirty="0">
              <a:solidFill>
                <a:srgbClr val="FFFFFF"/>
              </a:solidFill>
              <a:latin typeface="Times New Roman" panose="02020603050405020304" charset="0"/>
              <a:cs typeface="Times New Roman" panose="02020603050405020304" charset="0"/>
            </a:endParaRPr>
          </a:p>
        </p:txBody>
      </p:sp>
      <p:sp>
        <p:nvSpPr>
          <p:cNvPr id="49" name="Text 5"/>
          <p:cNvSpPr/>
          <p:nvPr>
            <p:custDataLst>
              <p:tags r:id="rId4"/>
            </p:custDataLst>
          </p:nvPr>
        </p:nvSpPr>
        <p:spPr>
          <a:xfrm>
            <a:off x="548005" y="2500630"/>
            <a:ext cx="2331720" cy="2011680"/>
          </a:xfrm>
          <a:prstGeom prst="rect">
            <a:avLst/>
          </a:prstGeom>
          <a:noFill/>
        </p:spPr>
        <p:txBody>
          <a:bodyPr wrap="square" rtlCol="0" anchor="t"/>
          <a:lstStyle/>
          <a:p>
            <a:pPr marL="0" indent="0" algn="just">
              <a:buNone/>
            </a:pPr>
            <a:r>
              <a:rPr lang="en-US" sz="1600" dirty="0">
                <a:solidFill>
                  <a:srgbClr val="FFFFFF"/>
                </a:solidFill>
                <a:latin typeface="Times New Roman" panose="02020603050405020304" charset="0"/>
                <a:cs typeface="Times New Roman" panose="02020603050405020304" charset="0"/>
              </a:rPr>
              <a:t>Phân tích yêu cầu </a:t>
            </a:r>
            <a:r>
              <a:rPr lang="vi-VN" altLang="en-US" sz="1600" dirty="0">
                <a:solidFill>
                  <a:srgbClr val="FFFFFF"/>
                </a:solidFill>
                <a:latin typeface="Times New Roman" panose="02020603050405020304" charset="0"/>
                <a:cs typeface="Times New Roman" panose="02020603050405020304" charset="0"/>
              </a:rPr>
              <a:t>và</a:t>
            </a:r>
            <a:r>
              <a:rPr lang="en-US" sz="1600" dirty="0">
                <a:solidFill>
                  <a:srgbClr val="FFFFFF"/>
                </a:solidFill>
                <a:latin typeface="Times New Roman" panose="02020603050405020304" charset="0"/>
                <a:cs typeface="Times New Roman" panose="02020603050405020304" charset="0"/>
              </a:rPr>
              <a:t> thiết kế test case thủ công tốn nhiều thời gian, dễ sai sót và phụ thuộc kinh nghiệm tester.</a:t>
            </a:r>
            <a:endParaRPr lang="en-US" sz="1600" dirty="0">
              <a:solidFill>
                <a:srgbClr val="FFFFFF"/>
              </a:solidFill>
              <a:latin typeface="Times New Roman" panose="02020603050405020304" charset="0"/>
              <a:cs typeface="Times New Roman" panose="02020603050405020304" charset="0"/>
            </a:endParaRPr>
          </a:p>
        </p:txBody>
      </p:sp>
      <p:sp>
        <p:nvSpPr>
          <p:cNvPr id="50" name="Shape 6"/>
          <p:cNvSpPr/>
          <p:nvPr>
            <p:custDataLst>
              <p:tags r:id="rId5"/>
            </p:custDataLst>
          </p:nvPr>
        </p:nvSpPr>
        <p:spPr>
          <a:xfrm>
            <a:off x="3245485" y="1174750"/>
            <a:ext cx="2606040" cy="3474720"/>
          </a:xfrm>
          <a:prstGeom prst="roundRect">
            <a:avLst>
              <a:gd name="adj" fmla="val 4211"/>
            </a:avLst>
          </a:prstGeom>
          <a:solidFill>
            <a:srgbClr val="00BCD4"/>
          </a:solidFill>
          <a:ln w="12700">
            <a:solidFill>
              <a:srgbClr val="00BCD4"/>
            </a:solidFill>
            <a:prstDash val="solid"/>
          </a:ln>
          <a:effectLst>
            <a:outerShdw blurRad="101600" dist="38100" dir="2700000" algn="bl" rotWithShape="0">
              <a:srgbClr val="000000">
                <a:alpha val="18000"/>
              </a:srgbClr>
            </a:outerShdw>
          </a:effectLst>
        </p:spPr>
      </p:sp>
      <p:sp>
        <p:nvSpPr>
          <p:cNvPr id="51" name="Text 7"/>
          <p:cNvSpPr/>
          <p:nvPr>
            <p:custDataLst>
              <p:tags r:id="rId6"/>
            </p:custDataLst>
          </p:nvPr>
        </p:nvSpPr>
        <p:spPr>
          <a:xfrm>
            <a:off x="3245485" y="1220470"/>
            <a:ext cx="2606040" cy="548640"/>
          </a:xfrm>
          <a:prstGeom prst="rect">
            <a:avLst/>
          </a:prstGeom>
          <a:noFill/>
        </p:spPr>
        <p:txBody>
          <a:bodyPr wrap="square" rtlCol="0" anchor="t"/>
          <a:lstStyle/>
          <a:p>
            <a:pPr marL="0" indent="0" algn="just">
              <a:buNone/>
            </a:pPr>
            <a:r>
              <a:rPr lang="en-US" sz="2800" b="1" dirty="0">
                <a:solidFill>
                  <a:srgbClr val="FFFFFF"/>
                </a:solidFill>
                <a:latin typeface="Times New Roman" panose="02020603050405020304" charset="0"/>
                <a:cs typeface="Times New Roman" panose="02020603050405020304" charset="0"/>
              </a:rPr>
              <a:t>02</a:t>
            </a:r>
            <a:endParaRPr lang="en-US" sz="2800" b="1" dirty="0">
              <a:solidFill>
                <a:srgbClr val="FFFFFF"/>
              </a:solidFill>
              <a:latin typeface="Times New Roman" panose="02020603050405020304" charset="0"/>
              <a:cs typeface="Times New Roman" panose="02020603050405020304" charset="0"/>
            </a:endParaRPr>
          </a:p>
        </p:txBody>
      </p:sp>
      <p:sp>
        <p:nvSpPr>
          <p:cNvPr id="52" name="Text 8"/>
          <p:cNvSpPr/>
          <p:nvPr>
            <p:custDataLst>
              <p:tags r:id="rId7"/>
            </p:custDataLst>
          </p:nvPr>
        </p:nvSpPr>
        <p:spPr>
          <a:xfrm>
            <a:off x="3336925" y="1906270"/>
            <a:ext cx="2423160" cy="502920"/>
          </a:xfrm>
          <a:prstGeom prst="rect">
            <a:avLst/>
          </a:prstGeom>
          <a:noFill/>
        </p:spPr>
        <p:txBody>
          <a:bodyPr wrap="square" rtlCol="0" anchor="ctr"/>
          <a:lstStyle/>
          <a:p>
            <a:pPr marL="0" indent="0" algn="just">
              <a:buNone/>
            </a:pPr>
            <a:r>
              <a:rPr lang="en-US" sz="1600" b="1" dirty="0">
                <a:solidFill>
                  <a:srgbClr val="FFFFFF"/>
                </a:solidFill>
                <a:latin typeface="Times New Roman" panose="02020603050405020304" charset="0"/>
                <a:cs typeface="Times New Roman" panose="02020603050405020304" charset="0"/>
              </a:rPr>
              <a:t>LLM ra đời</a:t>
            </a:r>
            <a:endParaRPr lang="en-US" sz="1600" b="1" dirty="0">
              <a:solidFill>
                <a:srgbClr val="FFFFFF"/>
              </a:solidFill>
              <a:latin typeface="Times New Roman" panose="02020603050405020304" charset="0"/>
              <a:cs typeface="Times New Roman" panose="02020603050405020304" charset="0"/>
            </a:endParaRPr>
          </a:p>
        </p:txBody>
      </p:sp>
      <p:sp>
        <p:nvSpPr>
          <p:cNvPr id="53" name="Text 9"/>
          <p:cNvSpPr/>
          <p:nvPr>
            <p:custDataLst>
              <p:tags r:id="rId8"/>
            </p:custDataLst>
          </p:nvPr>
        </p:nvSpPr>
        <p:spPr>
          <a:xfrm>
            <a:off x="3382645" y="2500630"/>
            <a:ext cx="2331720" cy="2011680"/>
          </a:xfrm>
          <a:prstGeom prst="rect">
            <a:avLst/>
          </a:prstGeom>
          <a:noFill/>
        </p:spPr>
        <p:txBody>
          <a:bodyPr wrap="square" rtlCol="0" anchor="t"/>
          <a:lstStyle/>
          <a:p>
            <a:pPr marL="0" indent="0" algn="just">
              <a:buNone/>
            </a:pPr>
            <a:r>
              <a:rPr lang="en-US" sz="1600" dirty="0">
                <a:solidFill>
                  <a:srgbClr val="FFFFFF"/>
                </a:solidFill>
                <a:latin typeface="Times New Roman" panose="02020603050405020304" charset="0"/>
                <a:cs typeface="Times New Roman" panose="02020603050405020304" charset="0"/>
              </a:rPr>
              <a:t>GPT, Gemini, Claude có khả năng hiểu ngôn ngữ tự nhiên, tự động phân tích tài liệu yêu cầu và sinh test case.</a:t>
            </a:r>
            <a:endParaRPr lang="en-US" sz="1600" dirty="0">
              <a:solidFill>
                <a:srgbClr val="FFFFFF"/>
              </a:solidFill>
              <a:latin typeface="Times New Roman" panose="02020603050405020304" charset="0"/>
              <a:cs typeface="Times New Roman" panose="02020603050405020304" charset="0"/>
            </a:endParaRPr>
          </a:p>
        </p:txBody>
      </p:sp>
      <p:sp>
        <p:nvSpPr>
          <p:cNvPr id="54" name="Shape 10"/>
          <p:cNvSpPr/>
          <p:nvPr>
            <p:custDataLst>
              <p:tags r:id="rId9"/>
            </p:custDataLst>
          </p:nvPr>
        </p:nvSpPr>
        <p:spPr>
          <a:xfrm>
            <a:off x="6080125" y="1174750"/>
            <a:ext cx="2606040" cy="3474720"/>
          </a:xfrm>
          <a:prstGeom prst="roundRect">
            <a:avLst>
              <a:gd name="adj" fmla="val 4211"/>
            </a:avLst>
          </a:prstGeom>
          <a:solidFill>
            <a:srgbClr val="EF5350"/>
          </a:solidFill>
          <a:ln w="12700">
            <a:solidFill>
              <a:srgbClr val="EF5350"/>
            </a:solidFill>
            <a:prstDash val="solid"/>
          </a:ln>
          <a:effectLst>
            <a:outerShdw blurRad="101600" dist="38100" dir="2700000" algn="bl" rotWithShape="0">
              <a:srgbClr val="000000">
                <a:alpha val="18000"/>
              </a:srgbClr>
            </a:outerShdw>
          </a:effectLst>
        </p:spPr>
      </p:sp>
      <p:sp>
        <p:nvSpPr>
          <p:cNvPr id="55" name="Text 11"/>
          <p:cNvSpPr/>
          <p:nvPr>
            <p:custDataLst>
              <p:tags r:id="rId10"/>
            </p:custDataLst>
          </p:nvPr>
        </p:nvSpPr>
        <p:spPr>
          <a:xfrm>
            <a:off x="6080125" y="1220470"/>
            <a:ext cx="2606040" cy="548640"/>
          </a:xfrm>
          <a:prstGeom prst="rect">
            <a:avLst/>
          </a:prstGeom>
          <a:noFill/>
        </p:spPr>
        <p:txBody>
          <a:bodyPr wrap="square" rtlCol="0" anchor="t"/>
          <a:lstStyle/>
          <a:p>
            <a:pPr marL="0" indent="0" algn="just">
              <a:buNone/>
            </a:pPr>
            <a:r>
              <a:rPr lang="en-US" sz="2800" b="1" dirty="0">
                <a:solidFill>
                  <a:srgbClr val="FFFFFF"/>
                </a:solidFill>
                <a:latin typeface="Times New Roman" panose="02020603050405020304" charset="0"/>
                <a:cs typeface="Times New Roman" panose="02020603050405020304" charset="0"/>
              </a:rPr>
              <a:t>03</a:t>
            </a:r>
            <a:endParaRPr lang="en-US" sz="2800" b="1" dirty="0">
              <a:solidFill>
                <a:srgbClr val="FFFFFF"/>
              </a:solidFill>
              <a:latin typeface="Times New Roman" panose="02020603050405020304" charset="0"/>
              <a:cs typeface="Times New Roman" panose="02020603050405020304" charset="0"/>
            </a:endParaRPr>
          </a:p>
        </p:txBody>
      </p:sp>
      <p:sp>
        <p:nvSpPr>
          <p:cNvPr id="56" name="Text 12"/>
          <p:cNvSpPr/>
          <p:nvPr>
            <p:custDataLst>
              <p:tags r:id="rId11"/>
            </p:custDataLst>
          </p:nvPr>
        </p:nvSpPr>
        <p:spPr>
          <a:xfrm>
            <a:off x="6080125" y="1883410"/>
            <a:ext cx="2603500" cy="502920"/>
          </a:xfrm>
          <a:prstGeom prst="rect">
            <a:avLst/>
          </a:prstGeom>
          <a:noFill/>
        </p:spPr>
        <p:txBody>
          <a:bodyPr wrap="square" rtlCol="0" anchor="ctr"/>
          <a:lstStyle/>
          <a:p>
            <a:pPr marL="0" indent="0" algn="just">
              <a:buNone/>
            </a:pPr>
            <a:r>
              <a:rPr lang="en-US" sz="1600" b="1" dirty="0">
                <a:solidFill>
                  <a:srgbClr val="FFFFFF"/>
                </a:solidFill>
                <a:latin typeface="Times New Roman" panose="02020603050405020304" charset="0"/>
                <a:cs typeface="Times New Roman" panose="02020603050405020304" charset="0"/>
              </a:rPr>
              <a:t>Thách thức cần giải quyết</a:t>
            </a:r>
            <a:endParaRPr lang="en-US" sz="1600" b="1" dirty="0">
              <a:solidFill>
                <a:srgbClr val="FFFFFF"/>
              </a:solidFill>
              <a:latin typeface="Times New Roman" panose="02020603050405020304" charset="0"/>
              <a:cs typeface="Times New Roman" panose="02020603050405020304" charset="0"/>
            </a:endParaRPr>
          </a:p>
        </p:txBody>
      </p:sp>
      <p:sp>
        <p:nvSpPr>
          <p:cNvPr id="57" name="Text 13"/>
          <p:cNvSpPr/>
          <p:nvPr>
            <p:custDataLst>
              <p:tags r:id="rId12"/>
            </p:custDataLst>
          </p:nvPr>
        </p:nvSpPr>
        <p:spPr>
          <a:xfrm>
            <a:off x="6217285" y="2500630"/>
            <a:ext cx="2331720" cy="2011680"/>
          </a:xfrm>
          <a:prstGeom prst="rect">
            <a:avLst/>
          </a:prstGeom>
          <a:noFill/>
        </p:spPr>
        <p:txBody>
          <a:bodyPr wrap="square" rtlCol="0" anchor="t"/>
          <a:lstStyle/>
          <a:p>
            <a:pPr marL="0" indent="0" algn="just">
              <a:buNone/>
            </a:pPr>
            <a:r>
              <a:rPr lang="en-US" sz="1600" dirty="0">
                <a:solidFill>
                  <a:srgbClr val="FFFFFF"/>
                </a:solidFill>
                <a:latin typeface="Times New Roman" panose="02020603050405020304" charset="0"/>
                <a:cs typeface="Times New Roman" panose="02020603050405020304" charset="0"/>
              </a:rPr>
              <a:t>Hallucination, hiểu sai ngữ cảnh, phụ thuộc prompt </a:t>
            </a:r>
            <a:r>
              <a:rPr lang="vi-VN" altLang="en-US" sz="1600" dirty="0">
                <a:solidFill>
                  <a:srgbClr val="FFFFFF"/>
                </a:solidFill>
                <a:latin typeface="Times New Roman" panose="02020603050405020304" charset="0"/>
                <a:cs typeface="Times New Roman" panose="02020603050405020304" charset="0"/>
              </a:rPr>
              <a:t>-</a:t>
            </a:r>
            <a:r>
              <a:rPr lang="en-US" sz="1600" dirty="0">
                <a:solidFill>
                  <a:srgbClr val="FFFFFF"/>
                </a:solidFill>
                <a:latin typeface="Times New Roman" panose="02020603050405020304" charset="0"/>
                <a:cs typeface="Times New Roman" panose="02020603050405020304" charset="0"/>
              </a:rPr>
              <a:t> cần quy trình kiểm chứng bởi chuyên gia.</a:t>
            </a:r>
            <a:endParaRPr lang="en-US" sz="1600" dirty="0">
              <a:solidFill>
                <a:srgbClr val="FFFFFF"/>
              </a:solidFill>
              <a:latin typeface="Times New Roman" panose="02020603050405020304" charset="0"/>
              <a:cs typeface="Times New Roman" panose="02020603050405020304" charset="0"/>
            </a:endParaRPr>
          </a:p>
        </p:txBody>
      </p:sp>
      <p:sp>
        <p:nvSpPr>
          <p:cNvPr id="58" name="Text 14"/>
          <p:cNvSpPr/>
          <p:nvPr/>
        </p:nvSpPr>
        <p:spPr>
          <a:xfrm>
            <a:off x="365125" y="4740910"/>
            <a:ext cx="8432800" cy="365760"/>
          </a:xfrm>
          <a:prstGeom prst="rect">
            <a:avLst/>
          </a:prstGeom>
          <a:noFill/>
        </p:spPr>
        <p:txBody>
          <a:bodyPr wrap="square" rtlCol="0" anchor="ctr"/>
          <a:lstStyle/>
          <a:p>
            <a:pPr marL="0" indent="0" algn="just">
              <a:buNone/>
            </a:pPr>
            <a:r>
              <a:rPr lang="en-US" sz="1600" i="1" dirty="0">
                <a:solidFill>
                  <a:schemeClr val="tx1"/>
                </a:solidFill>
                <a:latin typeface="Times New Roman" panose="02020603050405020304" charset="0"/>
                <a:cs typeface="Times New Roman" panose="02020603050405020304" charset="0"/>
              </a:rPr>
              <a:t>Xuất phát từ thực tiễn đó, đề tài "LLM trong phân tích yêu cầu và sinh ca kiểm thử" được thực hiện.</a:t>
            </a:r>
            <a:endParaRPr lang="en-US" sz="1600" i="1" dirty="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hape 0"/>
          <p:cNvSpPr/>
          <p:nvPr/>
        </p:nvSpPr>
        <p:spPr>
          <a:xfrm>
            <a:off x="0" y="0"/>
            <a:ext cx="9144000" cy="73152"/>
          </a:xfrm>
          <a:prstGeom prst="rect">
            <a:avLst/>
          </a:prstGeom>
          <a:solidFill>
            <a:srgbClr val="0A7EA4"/>
          </a:solidFill>
          <a:ln w="12700">
            <a:solidFill>
              <a:srgbClr val="0A7EA4"/>
            </a:solidFill>
            <a:prstDash val="solid"/>
          </a:ln>
        </p:spPr>
      </p:sp>
      <p:sp>
        <p:nvSpPr>
          <p:cNvPr id="7" name="Text 1"/>
          <p:cNvSpPr/>
          <p:nvPr/>
        </p:nvSpPr>
        <p:spPr>
          <a:xfrm>
            <a:off x="457200" y="0"/>
            <a:ext cx="8229600" cy="831215"/>
          </a:xfrm>
          <a:prstGeom prst="rect">
            <a:avLst/>
          </a:prstGeom>
          <a:noFill/>
        </p:spPr>
        <p:txBody>
          <a:bodyPr wrap="square" rtlCol="0" anchor="ctr"/>
          <a:lstStyle/>
          <a:p>
            <a:pPr marL="0" indent="0">
              <a:buNone/>
            </a:pPr>
            <a:r>
              <a:rPr lang="en-US" sz="2200" b="1" dirty="0">
                <a:solidFill>
                  <a:schemeClr val="tx1"/>
                </a:solidFill>
                <a:latin typeface="Times New Roman" panose="02020603050405020304" charset="0"/>
                <a:cs typeface="Times New Roman" panose="02020603050405020304" charset="0"/>
              </a:rPr>
              <a:t>MỤC TIÊU NGHIÊN CỨU</a:t>
            </a:r>
            <a:endParaRPr lang="en-US" sz="2200" b="1" dirty="0">
              <a:solidFill>
                <a:schemeClr val="tx1"/>
              </a:solidFill>
              <a:latin typeface="Times New Roman" panose="02020603050405020304" charset="0"/>
              <a:cs typeface="Times New Roman" panose="02020603050405020304" charset="0"/>
            </a:endParaRPr>
          </a:p>
        </p:txBody>
      </p:sp>
      <p:sp>
        <p:nvSpPr>
          <p:cNvPr id="8" name="Shape 2"/>
          <p:cNvSpPr/>
          <p:nvPr/>
        </p:nvSpPr>
        <p:spPr>
          <a:xfrm>
            <a:off x="365760" y="719455"/>
            <a:ext cx="8412480" cy="685800"/>
          </a:xfrm>
          <a:prstGeom prst="roundRect">
            <a:avLst>
              <a:gd name="adj" fmla="val 10667"/>
            </a:avLst>
          </a:prstGeom>
          <a:solidFill>
            <a:srgbClr val="1565C0"/>
          </a:solidFill>
          <a:ln w="12700">
            <a:solidFill>
              <a:srgbClr val="1565C0"/>
            </a:solidFill>
            <a:prstDash val="solid"/>
          </a:ln>
        </p:spPr>
      </p:sp>
      <p:sp>
        <p:nvSpPr>
          <p:cNvPr id="9" name="Text 3"/>
          <p:cNvSpPr/>
          <p:nvPr/>
        </p:nvSpPr>
        <p:spPr>
          <a:xfrm>
            <a:off x="548640" y="719455"/>
            <a:ext cx="8229600" cy="685800"/>
          </a:xfrm>
          <a:prstGeom prst="rect">
            <a:avLst/>
          </a:prstGeom>
          <a:noFill/>
        </p:spPr>
        <p:txBody>
          <a:bodyPr wrap="square" rtlCol="0" anchor="ctr"/>
          <a:lstStyle/>
          <a:p>
            <a:pPr marL="0" indent="0" algn="just">
              <a:buNone/>
            </a:pPr>
            <a:r>
              <a:rPr lang="en-US" sz="1600" dirty="0">
                <a:solidFill>
                  <a:srgbClr val="FFFFFF"/>
                </a:solidFill>
                <a:latin typeface="Times New Roman" panose="02020603050405020304" charset="0"/>
                <a:cs typeface="Times New Roman" panose="02020603050405020304" charset="0"/>
              </a:rPr>
              <a:t>M</a:t>
            </a:r>
            <a:r>
              <a:rPr lang="vi-VN" altLang="en-US" sz="1600" dirty="0">
                <a:solidFill>
                  <a:srgbClr val="FFFFFF"/>
                </a:solidFill>
                <a:latin typeface="Times New Roman" panose="02020603050405020304" charset="0"/>
                <a:cs typeface="Times New Roman" panose="02020603050405020304" charset="0"/>
              </a:rPr>
              <a:t>ục tiêu tổng quát</a:t>
            </a:r>
            <a:r>
              <a:rPr lang="en-US" sz="1600" dirty="0">
                <a:solidFill>
                  <a:srgbClr val="FFFFFF"/>
                </a:solidFill>
                <a:latin typeface="Times New Roman" panose="02020603050405020304" charset="0"/>
                <a:cs typeface="Times New Roman" panose="02020603050405020304" charset="0"/>
              </a:rPr>
              <a:t>: Nghiên cứu khả năng ứng dụng LLM trong phân tích yêu cầu và sinh ca kiểm thử tự động, đánh giá hiệu quả, hạn chế và đề xuất quy trình áp dụng.</a:t>
            </a:r>
            <a:endParaRPr lang="en-US" sz="1600" dirty="0">
              <a:latin typeface="Times New Roman" panose="02020603050405020304" charset="0"/>
              <a:cs typeface="Times New Roman" panose="02020603050405020304" charset="0"/>
            </a:endParaRPr>
          </a:p>
        </p:txBody>
      </p:sp>
      <p:sp>
        <p:nvSpPr>
          <p:cNvPr id="10" name="Shape 4"/>
          <p:cNvSpPr/>
          <p:nvPr>
            <p:custDataLst>
              <p:tags r:id="rId1"/>
            </p:custDataLst>
          </p:nvPr>
        </p:nvSpPr>
        <p:spPr>
          <a:xfrm>
            <a:off x="365760" y="1806321"/>
            <a:ext cx="274320" cy="274320"/>
          </a:xfrm>
          <a:prstGeom prst="ellipse">
            <a:avLst/>
          </a:prstGeom>
          <a:solidFill>
            <a:srgbClr val="00BCD4"/>
          </a:solidFill>
          <a:ln w="12700">
            <a:solidFill>
              <a:srgbClr val="00BCD4"/>
            </a:solidFill>
            <a:prstDash val="solid"/>
          </a:ln>
        </p:spPr>
      </p:sp>
      <p:sp>
        <p:nvSpPr>
          <p:cNvPr id="11" name="Text 5"/>
          <p:cNvSpPr/>
          <p:nvPr>
            <p:custDataLst>
              <p:tags r:id="rId2"/>
            </p:custDataLst>
          </p:nvPr>
        </p:nvSpPr>
        <p:spPr>
          <a:xfrm>
            <a:off x="457200" y="1806575"/>
            <a:ext cx="182880" cy="274320"/>
          </a:xfrm>
          <a:prstGeom prst="rect">
            <a:avLst/>
          </a:prstGeom>
          <a:noFill/>
        </p:spPr>
        <p:txBody>
          <a:bodyPr wrap="square" lIns="0" tIns="0" rIns="0" bIns="0" rtlCol="0" anchor="ctr"/>
          <a:lstStyle/>
          <a:p>
            <a:pPr marL="0" indent="0" algn="just">
              <a:buNone/>
            </a:pPr>
            <a:r>
              <a:rPr lang="en-US" sz="1600" b="1" dirty="0">
                <a:solidFill>
                  <a:srgbClr val="0A2342"/>
                </a:solidFill>
                <a:latin typeface="Times New Roman" panose="02020603050405020304" charset="0"/>
                <a:cs typeface="Times New Roman" panose="02020603050405020304" charset="0"/>
              </a:rPr>
              <a:t>1</a:t>
            </a:r>
            <a:endParaRPr lang="en-US" sz="1600" b="1" dirty="0">
              <a:solidFill>
                <a:srgbClr val="0A2342"/>
              </a:solidFill>
              <a:latin typeface="Times New Roman" panose="02020603050405020304" charset="0"/>
              <a:cs typeface="Times New Roman" panose="02020603050405020304" charset="0"/>
            </a:endParaRPr>
          </a:p>
        </p:txBody>
      </p:sp>
      <p:sp>
        <p:nvSpPr>
          <p:cNvPr id="12" name="Text 6"/>
          <p:cNvSpPr/>
          <p:nvPr>
            <p:custDataLst>
              <p:tags r:id="rId3"/>
            </p:custDataLst>
          </p:nvPr>
        </p:nvSpPr>
        <p:spPr>
          <a:xfrm>
            <a:off x="777240" y="1751457"/>
            <a:ext cx="7955280" cy="411480"/>
          </a:xfrm>
          <a:prstGeom prst="rect">
            <a:avLst/>
          </a:prstGeom>
          <a:noFill/>
        </p:spPr>
        <p:txBody>
          <a:bodyPr wrap="square" rtlCol="0" anchor="ctr"/>
          <a:lstStyle/>
          <a:p>
            <a:pPr marL="0" indent="0" algn="just">
              <a:buNone/>
            </a:pPr>
            <a:r>
              <a:rPr lang="en-US" sz="1600" dirty="0">
                <a:solidFill>
                  <a:srgbClr val="0A2342"/>
                </a:solidFill>
                <a:latin typeface="Times New Roman" panose="02020603050405020304" charset="0"/>
                <a:cs typeface="Times New Roman" panose="02020603050405020304" charset="0"/>
              </a:rPr>
              <a:t>Nghiên cứu khái niệm, nguyên lý hoạt động của LLM và các mô hình phổ biến.</a:t>
            </a:r>
            <a:endParaRPr lang="en-US" sz="1600" dirty="0">
              <a:solidFill>
                <a:srgbClr val="0A2342"/>
              </a:solidFill>
              <a:latin typeface="Times New Roman" panose="02020603050405020304" charset="0"/>
              <a:cs typeface="Times New Roman" panose="02020603050405020304" charset="0"/>
            </a:endParaRPr>
          </a:p>
        </p:txBody>
      </p:sp>
      <p:sp>
        <p:nvSpPr>
          <p:cNvPr id="13" name="Shape 7"/>
          <p:cNvSpPr/>
          <p:nvPr>
            <p:custDataLst>
              <p:tags r:id="rId4"/>
            </p:custDataLst>
          </p:nvPr>
        </p:nvSpPr>
        <p:spPr>
          <a:xfrm>
            <a:off x="365760" y="2263521"/>
            <a:ext cx="274320" cy="274320"/>
          </a:xfrm>
          <a:prstGeom prst="ellipse">
            <a:avLst/>
          </a:prstGeom>
          <a:solidFill>
            <a:srgbClr val="00BCD4"/>
          </a:solidFill>
          <a:ln w="12700">
            <a:solidFill>
              <a:srgbClr val="00BCD4"/>
            </a:solidFill>
            <a:prstDash val="solid"/>
          </a:ln>
        </p:spPr>
      </p:sp>
      <p:sp>
        <p:nvSpPr>
          <p:cNvPr id="14" name="Text 8"/>
          <p:cNvSpPr/>
          <p:nvPr>
            <p:custDataLst>
              <p:tags r:id="rId5"/>
            </p:custDataLst>
          </p:nvPr>
        </p:nvSpPr>
        <p:spPr>
          <a:xfrm>
            <a:off x="456565" y="2263775"/>
            <a:ext cx="183515" cy="274320"/>
          </a:xfrm>
          <a:prstGeom prst="rect">
            <a:avLst/>
          </a:prstGeom>
          <a:noFill/>
        </p:spPr>
        <p:txBody>
          <a:bodyPr wrap="square" lIns="0" tIns="0" rIns="0" bIns="0" rtlCol="0" anchor="ctr"/>
          <a:lstStyle/>
          <a:p>
            <a:pPr marL="0" indent="0" algn="just">
              <a:buNone/>
            </a:pPr>
            <a:r>
              <a:rPr lang="en-US" sz="1600" b="1" dirty="0">
                <a:solidFill>
                  <a:srgbClr val="0A2342"/>
                </a:solidFill>
                <a:latin typeface="Times New Roman" panose="02020603050405020304" charset="0"/>
                <a:cs typeface="Times New Roman" panose="02020603050405020304" charset="0"/>
              </a:rPr>
              <a:t>2</a:t>
            </a:r>
            <a:endParaRPr lang="en-US" sz="1600" b="1" dirty="0">
              <a:solidFill>
                <a:srgbClr val="0A2342"/>
              </a:solidFill>
              <a:latin typeface="Times New Roman" panose="02020603050405020304" charset="0"/>
              <a:cs typeface="Times New Roman" panose="02020603050405020304" charset="0"/>
            </a:endParaRPr>
          </a:p>
        </p:txBody>
      </p:sp>
      <p:sp>
        <p:nvSpPr>
          <p:cNvPr id="15" name="Text 9"/>
          <p:cNvSpPr/>
          <p:nvPr>
            <p:custDataLst>
              <p:tags r:id="rId6"/>
            </p:custDataLst>
          </p:nvPr>
        </p:nvSpPr>
        <p:spPr>
          <a:xfrm>
            <a:off x="777240" y="2208657"/>
            <a:ext cx="7955280" cy="411480"/>
          </a:xfrm>
          <a:prstGeom prst="rect">
            <a:avLst/>
          </a:prstGeom>
          <a:noFill/>
        </p:spPr>
        <p:txBody>
          <a:bodyPr wrap="square" rtlCol="0" anchor="ctr"/>
          <a:lstStyle/>
          <a:p>
            <a:pPr marL="0" indent="0" algn="just">
              <a:buNone/>
            </a:pPr>
            <a:r>
              <a:rPr lang="en-US" sz="1600" dirty="0">
                <a:solidFill>
                  <a:srgbClr val="0A2342"/>
                </a:solidFill>
                <a:latin typeface="Times New Roman" panose="02020603050405020304" charset="0"/>
                <a:cs typeface="Times New Roman" panose="02020603050405020304" charset="0"/>
              </a:rPr>
              <a:t>Phân tích khả năng LLM trích xuất yêu cầu chức năng, quy tắc nghiệp vụ từ tài liệu.</a:t>
            </a:r>
            <a:endParaRPr lang="en-US" sz="1600" dirty="0">
              <a:solidFill>
                <a:srgbClr val="0A2342"/>
              </a:solidFill>
              <a:latin typeface="Times New Roman" panose="02020603050405020304" charset="0"/>
              <a:cs typeface="Times New Roman" panose="02020603050405020304" charset="0"/>
            </a:endParaRPr>
          </a:p>
        </p:txBody>
      </p:sp>
      <p:sp>
        <p:nvSpPr>
          <p:cNvPr id="16" name="Shape 10"/>
          <p:cNvSpPr/>
          <p:nvPr>
            <p:custDataLst>
              <p:tags r:id="rId7"/>
            </p:custDataLst>
          </p:nvPr>
        </p:nvSpPr>
        <p:spPr>
          <a:xfrm>
            <a:off x="365760" y="2720721"/>
            <a:ext cx="274320" cy="274320"/>
          </a:xfrm>
          <a:prstGeom prst="ellipse">
            <a:avLst/>
          </a:prstGeom>
          <a:solidFill>
            <a:srgbClr val="00BCD4"/>
          </a:solidFill>
          <a:ln w="12700">
            <a:solidFill>
              <a:srgbClr val="00BCD4"/>
            </a:solidFill>
            <a:prstDash val="solid"/>
          </a:ln>
        </p:spPr>
      </p:sp>
      <p:sp>
        <p:nvSpPr>
          <p:cNvPr id="17" name="Text 11"/>
          <p:cNvSpPr/>
          <p:nvPr>
            <p:custDataLst>
              <p:tags r:id="rId8"/>
            </p:custDataLst>
          </p:nvPr>
        </p:nvSpPr>
        <p:spPr>
          <a:xfrm>
            <a:off x="452755" y="2720975"/>
            <a:ext cx="187325" cy="274320"/>
          </a:xfrm>
          <a:prstGeom prst="rect">
            <a:avLst/>
          </a:prstGeom>
          <a:noFill/>
        </p:spPr>
        <p:txBody>
          <a:bodyPr wrap="square" lIns="0" tIns="0" rIns="0" bIns="0" rtlCol="0" anchor="ctr"/>
          <a:lstStyle/>
          <a:p>
            <a:pPr marL="0" indent="0" algn="just">
              <a:buNone/>
            </a:pPr>
            <a:r>
              <a:rPr lang="en-US" sz="1600" b="1" dirty="0">
                <a:solidFill>
                  <a:srgbClr val="0A2342"/>
                </a:solidFill>
                <a:latin typeface="Times New Roman" panose="02020603050405020304" charset="0"/>
                <a:cs typeface="Times New Roman" panose="02020603050405020304" charset="0"/>
              </a:rPr>
              <a:t>3</a:t>
            </a:r>
            <a:endParaRPr lang="en-US" sz="1600" b="1" dirty="0">
              <a:solidFill>
                <a:srgbClr val="0A2342"/>
              </a:solidFill>
              <a:latin typeface="Times New Roman" panose="02020603050405020304" charset="0"/>
              <a:cs typeface="Times New Roman" panose="02020603050405020304" charset="0"/>
            </a:endParaRPr>
          </a:p>
        </p:txBody>
      </p:sp>
      <p:sp>
        <p:nvSpPr>
          <p:cNvPr id="18" name="Text 12"/>
          <p:cNvSpPr/>
          <p:nvPr>
            <p:custDataLst>
              <p:tags r:id="rId9"/>
            </p:custDataLst>
          </p:nvPr>
        </p:nvSpPr>
        <p:spPr>
          <a:xfrm>
            <a:off x="777240" y="2665857"/>
            <a:ext cx="7955280" cy="411480"/>
          </a:xfrm>
          <a:prstGeom prst="rect">
            <a:avLst/>
          </a:prstGeom>
          <a:noFill/>
        </p:spPr>
        <p:txBody>
          <a:bodyPr wrap="square" rtlCol="0" anchor="ctr"/>
          <a:lstStyle/>
          <a:p>
            <a:pPr marL="0" indent="0" algn="just">
              <a:buNone/>
            </a:pPr>
            <a:r>
              <a:rPr lang="en-US" sz="1600" dirty="0">
                <a:solidFill>
                  <a:srgbClr val="0A2342"/>
                </a:solidFill>
                <a:latin typeface="Times New Roman" panose="02020603050405020304" charset="0"/>
                <a:cs typeface="Times New Roman" panose="02020603050405020304" charset="0"/>
              </a:rPr>
              <a:t>Nghiên cứu cách LLM sinh test case tự động (Positive, Negative, Boundary, Exception).</a:t>
            </a:r>
            <a:endParaRPr lang="en-US" sz="1600" dirty="0">
              <a:solidFill>
                <a:srgbClr val="0A2342"/>
              </a:solidFill>
              <a:latin typeface="Times New Roman" panose="02020603050405020304" charset="0"/>
              <a:cs typeface="Times New Roman" panose="02020603050405020304" charset="0"/>
            </a:endParaRPr>
          </a:p>
        </p:txBody>
      </p:sp>
      <p:sp>
        <p:nvSpPr>
          <p:cNvPr id="19" name="Shape 13"/>
          <p:cNvSpPr/>
          <p:nvPr>
            <p:custDataLst>
              <p:tags r:id="rId10"/>
            </p:custDataLst>
          </p:nvPr>
        </p:nvSpPr>
        <p:spPr>
          <a:xfrm>
            <a:off x="365760" y="3177921"/>
            <a:ext cx="274320" cy="274320"/>
          </a:xfrm>
          <a:prstGeom prst="ellipse">
            <a:avLst/>
          </a:prstGeom>
          <a:solidFill>
            <a:srgbClr val="00BCD4"/>
          </a:solidFill>
          <a:ln w="12700">
            <a:solidFill>
              <a:srgbClr val="00BCD4"/>
            </a:solidFill>
            <a:prstDash val="solid"/>
          </a:ln>
        </p:spPr>
        <p:txBody>
          <a:bodyPr/>
          <a:p>
            <a:endParaRPr lang="vi-VN" altLang="en-GB"/>
          </a:p>
        </p:txBody>
      </p:sp>
      <p:sp>
        <p:nvSpPr>
          <p:cNvPr id="20" name="Text 14"/>
          <p:cNvSpPr/>
          <p:nvPr>
            <p:custDataLst>
              <p:tags r:id="rId11"/>
            </p:custDataLst>
          </p:nvPr>
        </p:nvSpPr>
        <p:spPr>
          <a:xfrm>
            <a:off x="429895" y="3178175"/>
            <a:ext cx="210185" cy="274320"/>
          </a:xfrm>
          <a:prstGeom prst="rect">
            <a:avLst/>
          </a:prstGeom>
          <a:noFill/>
        </p:spPr>
        <p:txBody>
          <a:bodyPr wrap="square" lIns="0" tIns="0" rIns="0" bIns="0" rtlCol="0" anchor="ctr"/>
          <a:lstStyle/>
          <a:p>
            <a:pPr marL="0" indent="0" algn="just">
              <a:buNone/>
            </a:pPr>
            <a:r>
              <a:rPr lang="en-US" sz="1600" b="1" dirty="0">
                <a:solidFill>
                  <a:srgbClr val="0A2342"/>
                </a:solidFill>
                <a:latin typeface="Times New Roman" panose="02020603050405020304" charset="0"/>
                <a:cs typeface="Times New Roman" panose="02020603050405020304" charset="0"/>
              </a:rPr>
              <a:t>4</a:t>
            </a:r>
            <a:endParaRPr lang="en-US" sz="1600" b="1" dirty="0">
              <a:solidFill>
                <a:srgbClr val="0A2342"/>
              </a:solidFill>
              <a:latin typeface="Times New Roman" panose="02020603050405020304" charset="0"/>
              <a:cs typeface="Times New Roman" panose="02020603050405020304" charset="0"/>
            </a:endParaRPr>
          </a:p>
        </p:txBody>
      </p:sp>
      <p:sp>
        <p:nvSpPr>
          <p:cNvPr id="21" name="Text 15"/>
          <p:cNvSpPr/>
          <p:nvPr>
            <p:custDataLst>
              <p:tags r:id="rId12"/>
            </p:custDataLst>
          </p:nvPr>
        </p:nvSpPr>
        <p:spPr>
          <a:xfrm>
            <a:off x="777240" y="3123057"/>
            <a:ext cx="7955280" cy="411480"/>
          </a:xfrm>
          <a:prstGeom prst="rect">
            <a:avLst/>
          </a:prstGeom>
          <a:noFill/>
        </p:spPr>
        <p:txBody>
          <a:bodyPr wrap="square" rtlCol="0" anchor="ctr"/>
          <a:lstStyle/>
          <a:p>
            <a:pPr marL="0" indent="0" algn="just">
              <a:buNone/>
            </a:pPr>
            <a:r>
              <a:rPr lang="en-US" sz="1600" dirty="0">
                <a:solidFill>
                  <a:srgbClr val="0A2342"/>
                </a:solidFill>
                <a:latin typeface="Times New Roman" panose="02020603050405020304" charset="0"/>
                <a:cs typeface="Times New Roman" panose="02020603050405020304" charset="0"/>
              </a:rPr>
              <a:t>Xây dựng quy trình ứng dụng LLM trong phân tích yêu cầu và thiết kế ca kiểm thử.</a:t>
            </a:r>
            <a:endParaRPr lang="en-US" sz="1600" dirty="0">
              <a:solidFill>
                <a:srgbClr val="0A2342"/>
              </a:solidFill>
              <a:latin typeface="Times New Roman" panose="02020603050405020304" charset="0"/>
              <a:cs typeface="Times New Roman" panose="02020603050405020304" charset="0"/>
            </a:endParaRPr>
          </a:p>
        </p:txBody>
      </p:sp>
      <p:sp>
        <p:nvSpPr>
          <p:cNvPr id="22" name="Shape 16"/>
          <p:cNvSpPr/>
          <p:nvPr>
            <p:custDataLst>
              <p:tags r:id="rId13"/>
            </p:custDataLst>
          </p:nvPr>
        </p:nvSpPr>
        <p:spPr>
          <a:xfrm>
            <a:off x="365760" y="3635121"/>
            <a:ext cx="274320" cy="274320"/>
          </a:xfrm>
          <a:prstGeom prst="ellipse">
            <a:avLst/>
          </a:prstGeom>
          <a:solidFill>
            <a:srgbClr val="00BCD4"/>
          </a:solidFill>
          <a:ln w="12700">
            <a:solidFill>
              <a:srgbClr val="00BCD4"/>
            </a:solidFill>
            <a:prstDash val="solid"/>
          </a:ln>
        </p:spPr>
      </p:sp>
      <p:sp>
        <p:nvSpPr>
          <p:cNvPr id="23" name="Text 17"/>
          <p:cNvSpPr/>
          <p:nvPr>
            <p:custDataLst>
              <p:tags r:id="rId14"/>
            </p:custDataLst>
          </p:nvPr>
        </p:nvSpPr>
        <p:spPr>
          <a:xfrm>
            <a:off x="453390" y="3635375"/>
            <a:ext cx="186690" cy="274320"/>
          </a:xfrm>
          <a:prstGeom prst="rect">
            <a:avLst/>
          </a:prstGeom>
          <a:noFill/>
        </p:spPr>
        <p:txBody>
          <a:bodyPr wrap="square" lIns="0" tIns="0" rIns="0" bIns="0" rtlCol="0" anchor="ctr"/>
          <a:lstStyle/>
          <a:p>
            <a:pPr marL="0" indent="0" algn="just">
              <a:buNone/>
            </a:pPr>
            <a:r>
              <a:rPr lang="en-US" sz="1600" b="1" dirty="0">
                <a:solidFill>
                  <a:srgbClr val="0A2342"/>
                </a:solidFill>
                <a:latin typeface="Times New Roman" panose="02020603050405020304" charset="0"/>
                <a:cs typeface="Times New Roman" panose="02020603050405020304" charset="0"/>
              </a:rPr>
              <a:t>5</a:t>
            </a:r>
            <a:endParaRPr lang="en-US" sz="1600" b="1" dirty="0">
              <a:solidFill>
                <a:srgbClr val="0A2342"/>
              </a:solidFill>
              <a:latin typeface="Times New Roman" panose="02020603050405020304" charset="0"/>
              <a:cs typeface="Times New Roman" panose="02020603050405020304" charset="0"/>
            </a:endParaRPr>
          </a:p>
        </p:txBody>
      </p:sp>
      <p:sp>
        <p:nvSpPr>
          <p:cNvPr id="24" name="Text 18"/>
          <p:cNvSpPr/>
          <p:nvPr>
            <p:custDataLst>
              <p:tags r:id="rId15"/>
            </p:custDataLst>
          </p:nvPr>
        </p:nvSpPr>
        <p:spPr>
          <a:xfrm>
            <a:off x="777240" y="3580257"/>
            <a:ext cx="7955280" cy="411480"/>
          </a:xfrm>
          <a:prstGeom prst="rect">
            <a:avLst/>
          </a:prstGeom>
          <a:noFill/>
        </p:spPr>
        <p:txBody>
          <a:bodyPr wrap="square" rtlCol="0" anchor="ctr"/>
          <a:lstStyle/>
          <a:p>
            <a:pPr marL="0" indent="0" algn="just">
              <a:buNone/>
            </a:pPr>
            <a:r>
              <a:rPr lang="en-US" sz="1600" dirty="0">
                <a:solidFill>
                  <a:srgbClr val="0A2342"/>
                </a:solidFill>
                <a:latin typeface="Times New Roman" panose="02020603050405020304" charset="0"/>
                <a:cs typeface="Times New Roman" panose="02020603050405020304" charset="0"/>
              </a:rPr>
              <a:t>Đánh giá lợi ích: tiết kiệm thời gian, nâng cao năng suất, tăng độ bao phủ kiểm thử.</a:t>
            </a:r>
            <a:endParaRPr lang="en-US" sz="1600" dirty="0">
              <a:solidFill>
                <a:srgbClr val="0A2342"/>
              </a:solidFill>
              <a:latin typeface="Times New Roman" panose="02020603050405020304" charset="0"/>
              <a:cs typeface="Times New Roman" panose="02020603050405020304" charset="0"/>
            </a:endParaRPr>
          </a:p>
        </p:txBody>
      </p:sp>
      <p:sp>
        <p:nvSpPr>
          <p:cNvPr id="25" name="Shape 19"/>
          <p:cNvSpPr/>
          <p:nvPr>
            <p:custDataLst>
              <p:tags r:id="rId16"/>
            </p:custDataLst>
          </p:nvPr>
        </p:nvSpPr>
        <p:spPr>
          <a:xfrm>
            <a:off x="365760" y="4092321"/>
            <a:ext cx="274320" cy="274320"/>
          </a:xfrm>
          <a:prstGeom prst="ellipse">
            <a:avLst/>
          </a:prstGeom>
          <a:solidFill>
            <a:srgbClr val="00BCD4"/>
          </a:solidFill>
          <a:ln w="12700">
            <a:solidFill>
              <a:srgbClr val="00BCD4"/>
            </a:solidFill>
            <a:prstDash val="solid"/>
          </a:ln>
        </p:spPr>
        <p:txBody>
          <a:bodyPr/>
          <a:p>
            <a:endParaRPr lang="en-GB" altLang="en-US"/>
          </a:p>
        </p:txBody>
      </p:sp>
      <p:sp>
        <p:nvSpPr>
          <p:cNvPr id="26" name="Text 20"/>
          <p:cNvSpPr/>
          <p:nvPr>
            <p:custDataLst>
              <p:tags r:id="rId17"/>
            </p:custDataLst>
          </p:nvPr>
        </p:nvSpPr>
        <p:spPr>
          <a:xfrm>
            <a:off x="429895" y="4092575"/>
            <a:ext cx="210185" cy="274320"/>
          </a:xfrm>
          <a:prstGeom prst="rect">
            <a:avLst/>
          </a:prstGeom>
          <a:noFill/>
        </p:spPr>
        <p:txBody>
          <a:bodyPr wrap="square" lIns="0" tIns="0" rIns="0" bIns="0" rtlCol="0" anchor="ctr"/>
          <a:lstStyle/>
          <a:p>
            <a:pPr marL="0" indent="0" algn="just">
              <a:buNone/>
            </a:pPr>
            <a:r>
              <a:rPr lang="en-US" sz="1600" b="1" dirty="0">
                <a:solidFill>
                  <a:srgbClr val="0A2342"/>
                </a:solidFill>
                <a:latin typeface="Times New Roman" panose="02020603050405020304" charset="0"/>
                <a:cs typeface="Times New Roman" panose="02020603050405020304" charset="0"/>
              </a:rPr>
              <a:t>6</a:t>
            </a:r>
            <a:endParaRPr lang="en-US" sz="1600" b="1" dirty="0">
              <a:solidFill>
                <a:srgbClr val="0A2342"/>
              </a:solidFill>
              <a:latin typeface="Times New Roman" panose="02020603050405020304" charset="0"/>
              <a:cs typeface="Times New Roman" panose="02020603050405020304" charset="0"/>
            </a:endParaRPr>
          </a:p>
        </p:txBody>
      </p:sp>
      <p:sp>
        <p:nvSpPr>
          <p:cNvPr id="27" name="Text 21"/>
          <p:cNvSpPr/>
          <p:nvPr>
            <p:custDataLst>
              <p:tags r:id="rId18"/>
            </p:custDataLst>
          </p:nvPr>
        </p:nvSpPr>
        <p:spPr>
          <a:xfrm>
            <a:off x="777240" y="4037457"/>
            <a:ext cx="7955280" cy="411480"/>
          </a:xfrm>
          <a:prstGeom prst="rect">
            <a:avLst/>
          </a:prstGeom>
          <a:noFill/>
        </p:spPr>
        <p:txBody>
          <a:bodyPr wrap="square" rtlCol="0" anchor="ctr"/>
          <a:lstStyle/>
          <a:p>
            <a:pPr marL="0" indent="0" algn="just">
              <a:buNone/>
            </a:pPr>
            <a:r>
              <a:rPr lang="en-US" sz="1600" dirty="0">
                <a:solidFill>
                  <a:srgbClr val="0A2342"/>
                </a:solidFill>
                <a:latin typeface="Times New Roman" panose="02020603050405020304" charset="0"/>
                <a:cs typeface="Times New Roman" panose="02020603050405020304" charset="0"/>
              </a:rPr>
              <a:t>Phân tích hạn chế: hallucination, thiếu hiểu biết nghiệp vụ, vấn đề bảo mật dữ liệu.</a:t>
            </a:r>
            <a:endParaRPr lang="en-US" sz="1600" dirty="0">
              <a:solidFill>
                <a:srgbClr val="0A2342"/>
              </a:solidFill>
              <a:latin typeface="Times New Roman" panose="02020603050405020304" charset="0"/>
              <a:cs typeface="Times New Roman" panose="02020603050405020304" charset="0"/>
            </a:endParaRPr>
          </a:p>
        </p:txBody>
      </p:sp>
      <p:sp>
        <p:nvSpPr>
          <p:cNvPr id="28" name="Shape 22"/>
          <p:cNvSpPr/>
          <p:nvPr>
            <p:custDataLst>
              <p:tags r:id="rId19"/>
            </p:custDataLst>
          </p:nvPr>
        </p:nvSpPr>
        <p:spPr>
          <a:xfrm>
            <a:off x="365760" y="4549521"/>
            <a:ext cx="274320" cy="274320"/>
          </a:xfrm>
          <a:prstGeom prst="ellipse">
            <a:avLst/>
          </a:prstGeom>
          <a:solidFill>
            <a:srgbClr val="00BCD4"/>
          </a:solidFill>
          <a:ln w="12700">
            <a:solidFill>
              <a:srgbClr val="00BCD4"/>
            </a:solidFill>
            <a:prstDash val="solid"/>
          </a:ln>
        </p:spPr>
      </p:sp>
      <p:sp>
        <p:nvSpPr>
          <p:cNvPr id="29" name="Text 23"/>
          <p:cNvSpPr/>
          <p:nvPr>
            <p:custDataLst>
              <p:tags r:id="rId20"/>
            </p:custDataLst>
          </p:nvPr>
        </p:nvSpPr>
        <p:spPr>
          <a:xfrm>
            <a:off x="429895" y="4549775"/>
            <a:ext cx="210185" cy="274320"/>
          </a:xfrm>
          <a:prstGeom prst="rect">
            <a:avLst/>
          </a:prstGeom>
          <a:noFill/>
        </p:spPr>
        <p:txBody>
          <a:bodyPr wrap="square" lIns="0" tIns="0" rIns="0" bIns="0" rtlCol="0" anchor="ctr"/>
          <a:lstStyle/>
          <a:p>
            <a:pPr marL="0" indent="0" algn="just">
              <a:buNone/>
            </a:pPr>
            <a:r>
              <a:rPr lang="en-US" sz="1600" b="1" dirty="0">
                <a:solidFill>
                  <a:srgbClr val="0A2342"/>
                </a:solidFill>
                <a:latin typeface="Times New Roman" panose="02020603050405020304" charset="0"/>
                <a:cs typeface="Times New Roman" panose="02020603050405020304" charset="0"/>
              </a:rPr>
              <a:t>7</a:t>
            </a:r>
            <a:endParaRPr lang="en-US" sz="1600" b="1" dirty="0">
              <a:solidFill>
                <a:srgbClr val="0A2342"/>
              </a:solidFill>
              <a:latin typeface="Times New Roman" panose="02020603050405020304" charset="0"/>
              <a:cs typeface="Times New Roman" panose="02020603050405020304" charset="0"/>
            </a:endParaRPr>
          </a:p>
        </p:txBody>
      </p:sp>
      <p:sp>
        <p:nvSpPr>
          <p:cNvPr id="30" name="Text 24"/>
          <p:cNvSpPr/>
          <p:nvPr>
            <p:custDataLst>
              <p:tags r:id="rId21"/>
            </p:custDataLst>
          </p:nvPr>
        </p:nvSpPr>
        <p:spPr>
          <a:xfrm>
            <a:off x="777240" y="4494657"/>
            <a:ext cx="7955280" cy="411480"/>
          </a:xfrm>
          <a:prstGeom prst="rect">
            <a:avLst/>
          </a:prstGeom>
          <a:noFill/>
        </p:spPr>
        <p:txBody>
          <a:bodyPr wrap="square" rtlCol="0" anchor="ctr"/>
          <a:lstStyle/>
          <a:p>
            <a:pPr marL="0" indent="0" algn="just">
              <a:buNone/>
            </a:pPr>
            <a:r>
              <a:rPr lang="en-US" sz="1600" dirty="0">
                <a:solidFill>
                  <a:srgbClr val="0A2342"/>
                </a:solidFill>
                <a:latin typeface="Times New Roman" panose="02020603050405020304" charset="0"/>
                <a:cs typeface="Times New Roman" panose="02020603050405020304" charset="0"/>
              </a:rPr>
              <a:t>Đề xuất biện pháp kiểm chứng để nâng cao độ chính xác của kết quả LLM.</a:t>
            </a:r>
            <a:endParaRPr lang="en-US" sz="1600" dirty="0">
              <a:solidFill>
                <a:srgbClr val="0A2342"/>
              </a:solidFill>
              <a:latin typeface="Times New Roman" panose="02020603050405020304" charset="0"/>
              <a:cs typeface="Times New Roman" panose="02020603050405020304" charset="0"/>
            </a:endParaRPr>
          </a:p>
        </p:txBody>
      </p:sp>
      <p:sp>
        <p:nvSpPr>
          <p:cNvPr id="31" name="Text Box 30"/>
          <p:cNvSpPr txBox="1"/>
          <p:nvPr/>
        </p:nvSpPr>
        <p:spPr>
          <a:xfrm>
            <a:off x="278130" y="1398270"/>
            <a:ext cx="3135630" cy="337185"/>
          </a:xfrm>
          <a:prstGeom prst="rect">
            <a:avLst/>
          </a:prstGeom>
          <a:noFill/>
        </p:spPr>
        <p:txBody>
          <a:bodyPr wrap="square" rtlCol="0">
            <a:spAutoFit/>
          </a:bodyPr>
          <a:p>
            <a:r>
              <a:rPr lang="vi-VN" altLang="en-GB" sz="1600">
                <a:latin typeface="Times New Roman" panose="02020603050405020304" charset="0"/>
                <a:cs typeface="Times New Roman" panose="02020603050405020304" charset="0"/>
              </a:rPr>
              <a:t>Mục tiêu cụ thể:</a:t>
            </a:r>
            <a:endParaRPr lang="vi-VN" altLang="en-GB" sz="1600">
              <a:latin typeface="Times New Roman" panose="02020603050405020304" charset="0"/>
              <a:cs typeface="Times New Roman" panose="02020603050405020304" charset="0"/>
            </a:endParaRPr>
          </a:p>
        </p:txBody>
      </p:sp>
      <p:sp>
        <p:nvSpPr>
          <p:cNvPr id="32" name="Shape 2"/>
          <p:cNvSpPr/>
          <p:nvPr/>
        </p:nvSpPr>
        <p:spPr>
          <a:xfrm>
            <a:off x="429895" y="592455"/>
            <a:ext cx="8229600" cy="36576"/>
          </a:xfrm>
          <a:prstGeom prst="rect">
            <a:avLst/>
          </a:prstGeom>
          <a:solidFill>
            <a:srgbClr val="0A7EA4"/>
          </a:solidFill>
          <a:ln w="12700">
            <a:solidFill>
              <a:srgbClr val="0A7EA4"/>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350520" y="164465"/>
            <a:ext cx="8790305" cy="457200"/>
          </a:xfrm>
          <a:prstGeom prst="rect">
            <a:avLst/>
          </a:prstGeom>
          <a:noFill/>
        </p:spPr>
        <p:txBody>
          <a:bodyPr wrap="square" rtlCol="0" anchor="ctr"/>
          <a:lstStyle/>
          <a:p>
            <a:pPr marL="0" indent="0">
              <a:buNone/>
            </a:pPr>
            <a:r>
              <a:rPr lang="en-US" sz="2800" b="1" dirty="0">
                <a:solidFill>
                  <a:srgbClr val="0D2137"/>
                </a:solidFill>
                <a:latin typeface="Times New Roman" panose="02020603050405020304" charset="0"/>
                <a:ea typeface="Calibri" panose="020F0502020204030204" pitchFamily="34" charset="-122"/>
                <a:cs typeface="Times New Roman" panose="02020603050405020304" charset="0"/>
              </a:rPr>
              <a:t>CHƯƠNG 2: </a:t>
            </a:r>
            <a:r>
              <a:rPr lang="vi-VN" altLang="en-US" sz="2800" b="1" dirty="0">
                <a:solidFill>
                  <a:srgbClr val="0D2137"/>
                </a:solidFill>
                <a:latin typeface="Times New Roman" panose="02020603050405020304" charset="0"/>
                <a:ea typeface="Calibri" panose="020F0502020204030204" pitchFamily="34" charset="-122"/>
                <a:cs typeface="Times New Roman" panose="02020603050405020304" charset="0"/>
              </a:rPr>
              <a:t>CƠ SỞ LÝ THUYẾT VÀ </a:t>
            </a:r>
            <a:r>
              <a:rPr lang="en-US" sz="2800" b="1" dirty="0">
                <a:solidFill>
                  <a:srgbClr val="0D2137"/>
                </a:solidFill>
                <a:latin typeface="Times New Roman" panose="02020603050405020304" charset="0"/>
                <a:ea typeface="Calibri" panose="020F0502020204030204" pitchFamily="34" charset="-122"/>
                <a:cs typeface="Times New Roman" panose="02020603050405020304" charset="0"/>
              </a:rPr>
              <a:t>TỔNG QUAN</a:t>
            </a:r>
            <a:endParaRPr lang="en-US" sz="2800" dirty="0">
              <a:latin typeface="Times New Roman" panose="02020603050405020304" charset="0"/>
              <a:cs typeface="Times New Roman" panose="02020603050405020304" charset="0"/>
            </a:endParaRPr>
          </a:p>
        </p:txBody>
      </p:sp>
      <p:sp>
        <p:nvSpPr>
          <p:cNvPr id="4" name="Shape 2"/>
          <p:cNvSpPr/>
          <p:nvPr/>
        </p:nvSpPr>
        <p:spPr>
          <a:xfrm>
            <a:off x="457200" y="592455"/>
            <a:ext cx="8229600" cy="36576"/>
          </a:xfrm>
          <a:prstGeom prst="rect">
            <a:avLst/>
          </a:prstGeom>
          <a:solidFill>
            <a:srgbClr val="0A7EA4"/>
          </a:solidFill>
          <a:ln w="12700">
            <a:solidFill>
              <a:srgbClr val="0A7EA4"/>
            </a:solidFill>
            <a:prstDash val="solid"/>
          </a:ln>
        </p:spPr>
      </p:sp>
      <p:sp>
        <p:nvSpPr>
          <p:cNvPr id="26" name="Shape 3"/>
          <p:cNvSpPr/>
          <p:nvPr/>
        </p:nvSpPr>
        <p:spPr>
          <a:xfrm>
            <a:off x="365760" y="1060450"/>
            <a:ext cx="8412480" cy="1005840"/>
          </a:xfrm>
          <a:prstGeom prst="roundRect">
            <a:avLst>
              <a:gd name="adj" fmla="val 9091"/>
            </a:avLst>
          </a:prstGeom>
        </p:spPr>
        <p:style>
          <a:lnRef idx="0">
            <a:srgbClr val="FFFFFF"/>
          </a:lnRef>
          <a:fillRef idx="2">
            <a:schemeClr val="accent1"/>
          </a:fillRef>
          <a:effectRef idx="1">
            <a:schemeClr val="accent1"/>
          </a:effectRef>
          <a:fontRef idx="minor">
            <a:schemeClr val="dk1"/>
          </a:fontRef>
        </p:style>
      </p:sp>
      <p:sp>
        <p:nvSpPr>
          <p:cNvPr id="27" name="Text 4"/>
          <p:cNvSpPr/>
          <p:nvPr/>
        </p:nvSpPr>
        <p:spPr>
          <a:xfrm>
            <a:off x="548640" y="1060450"/>
            <a:ext cx="8138160" cy="1005840"/>
          </a:xfrm>
          <a:prstGeom prst="rect">
            <a:avLst/>
          </a:prstGeom>
          <a:noFill/>
        </p:spPr>
        <p:txBody>
          <a:bodyPr wrap="square" rtlCol="0" anchor="ctr"/>
          <a:lstStyle/>
          <a:p>
            <a:pPr marL="0" indent="0" algn="just">
              <a:buNone/>
            </a:pPr>
            <a:r>
              <a:rPr lang="en-US" dirty="0">
                <a:solidFill>
                  <a:schemeClr val="tx1"/>
                </a:solidFill>
                <a:latin typeface="Times New Roman" panose="02020603050405020304" charset="0"/>
                <a:cs typeface="Times New Roman" panose="02020603050405020304" charset="0"/>
              </a:rPr>
              <a:t>Large Language Models (LLM) là các mô hình AI được huấn luyện trên dữ liệu văn bản khổng lồ, dựa trên kiến trúc Transformer, có khả năng hiểu và sinh ngôn ngữ tự nhiên ở mức độ gần với con người.</a:t>
            </a:r>
            <a:endParaRPr lang="en-US" dirty="0">
              <a:solidFill>
                <a:schemeClr val="tx1"/>
              </a:solidFill>
              <a:latin typeface="Times New Roman" panose="02020603050405020304" charset="0"/>
              <a:cs typeface="Times New Roman" panose="02020603050405020304" charset="0"/>
            </a:endParaRPr>
          </a:p>
        </p:txBody>
      </p:sp>
      <p:sp>
        <p:nvSpPr>
          <p:cNvPr id="28" name="Shape 5"/>
          <p:cNvSpPr/>
          <p:nvPr>
            <p:custDataLst>
              <p:tags r:id="rId1"/>
            </p:custDataLst>
          </p:nvPr>
        </p:nvSpPr>
        <p:spPr>
          <a:xfrm>
            <a:off x="365760" y="2432050"/>
            <a:ext cx="4069080" cy="1051560"/>
          </a:xfrm>
          <a:prstGeom prst="roundRect">
            <a:avLst>
              <a:gd name="adj" fmla="val 6957"/>
            </a:avLst>
          </a:prstGeom>
          <a:solidFill>
            <a:srgbClr val="0D1B2A"/>
          </a:solidFill>
          <a:ln w="12700">
            <a:solidFill>
              <a:srgbClr val="00BCD4">
                <a:alpha val="40000"/>
              </a:srgbClr>
            </a:solidFill>
            <a:prstDash val="solid"/>
          </a:ln>
        </p:spPr>
      </p:sp>
      <p:sp>
        <p:nvSpPr>
          <p:cNvPr id="29" name="Text 6"/>
          <p:cNvSpPr/>
          <p:nvPr>
            <p:custDataLst>
              <p:tags r:id="rId2"/>
            </p:custDataLst>
          </p:nvPr>
        </p:nvSpPr>
        <p:spPr>
          <a:xfrm>
            <a:off x="502920" y="2523490"/>
            <a:ext cx="3749040" cy="320040"/>
          </a:xfrm>
          <a:prstGeom prst="rect">
            <a:avLst/>
          </a:prstGeom>
          <a:noFill/>
        </p:spPr>
        <p:txBody>
          <a:bodyPr wrap="square" rtlCol="0" anchor="ctr"/>
          <a:lstStyle/>
          <a:p>
            <a:pPr marL="0" indent="0">
              <a:buNone/>
            </a:pPr>
            <a:r>
              <a:rPr lang="en-US" sz="1600" b="1" dirty="0">
                <a:solidFill>
                  <a:srgbClr val="00BCD4"/>
                </a:solidFill>
                <a:latin typeface="Times New Roman" panose="02020603050405020304" charset="0"/>
                <a:cs typeface="Times New Roman" panose="02020603050405020304" charset="0"/>
              </a:rPr>
              <a:t>GPT (OpenAI)</a:t>
            </a:r>
            <a:endParaRPr lang="en-US" sz="1600" b="1" dirty="0">
              <a:solidFill>
                <a:srgbClr val="00BCD4"/>
              </a:solidFill>
              <a:latin typeface="Times New Roman" panose="02020603050405020304" charset="0"/>
              <a:cs typeface="Times New Roman" panose="02020603050405020304" charset="0"/>
            </a:endParaRPr>
          </a:p>
        </p:txBody>
      </p:sp>
      <p:sp>
        <p:nvSpPr>
          <p:cNvPr id="30" name="Text 7"/>
          <p:cNvSpPr/>
          <p:nvPr>
            <p:custDataLst>
              <p:tags r:id="rId3"/>
            </p:custDataLst>
          </p:nvPr>
        </p:nvSpPr>
        <p:spPr>
          <a:xfrm>
            <a:off x="502920" y="2843530"/>
            <a:ext cx="3794760" cy="548640"/>
          </a:xfrm>
          <a:prstGeom prst="rect">
            <a:avLst/>
          </a:prstGeom>
          <a:noFill/>
        </p:spPr>
        <p:txBody>
          <a:bodyPr wrap="square" rtlCol="0" anchor="ctr"/>
          <a:lstStyle/>
          <a:p>
            <a:pPr indent="0" algn="just" fontAlgn="auto">
              <a:lnSpc>
                <a:spcPct val="120000"/>
              </a:lnSpc>
              <a:buNone/>
            </a:pPr>
            <a:r>
              <a:rPr lang="en-US" sz="1600" dirty="0">
                <a:solidFill>
                  <a:srgbClr val="FFFFFF"/>
                </a:solidFill>
                <a:latin typeface="Times New Roman" panose="02020603050405020304" charset="0"/>
                <a:cs typeface="Times New Roman" panose="02020603050405020304" charset="0"/>
              </a:rPr>
              <a:t>Mô hình ngôn ngữ đa năng, mạnh trong sinh văn bản và lập trình.</a:t>
            </a:r>
            <a:endParaRPr lang="en-US" sz="1600" dirty="0">
              <a:solidFill>
                <a:srgbClr val="FFFFFF"/>
              </a:solidFill>
              <a:latin typeface="Times New Roman" panose="02020603050405020304" charset="0"/>
              <a:cs typeface="Times New Roman" panose="02020603050405020304" charset="0"/>
            </a:endParaRPr>
          </a:p>
        </p:txBody>
      </p:sp>
      <p:sp>
        <p:nvSpPr>
          <p:cNvPr id="31" name="Shape 8"/>
          <p:cNvSpPr/>
          <p:nvPr>
            <p:custDataLst>
              <p:tags r:id="rId4"/>
            </p:custDataLst>
          </p:nvPr>
        </p:nvSpPr>
        <p:spPr>
          <a:xfrm>
            <a:off x="4663440" y="2432050"/>
            <a:ext cx="4069080" cy="1051560"/>
          </a:xfrm>
          <a:prstGeom prst="roundRect">
            <a:avLst>
              <a:gd name="adj" fmla="val 6957"/>
            </a:avLst>
          </a:prstGeom>
          <a:solidFill>
            <a:srgbClr val="0D1B2A"/>
          </a:solidFill>
          <a:ln w="12700">
            <a:solidFill>
              <a:srgbClr val="00BCD4">
                <a:alpha val="40000"/>
              </a:srgbClr>
            </a:solidFill>
            <a:prstDash val="solid"/>
          </a:ln>
        </p:spPr>
      </p:sp>
      <p:sp>
        <p:nvSpPr>
          <p:cNvPr id="32" name="Text 9"/>
          <p:cNvSpPr/>
          <p:nvPr>
            <p:custDataLst>
              <p:tags r:id="rId5"/>
            </p:custDataLst>
          </p:nvPr>
        </p:nvSpPr>
        <p:spPr>
          <a:xfrm>
            <a:off x="4800600" y="2523490"/>
            <a:ext cx="3749040" cy="320040"/>
          </a:xfrm>
          <a:prstGeom prst="rect">
            <a:avLst/>
          </a:prstGeom>
          <a:noFill/>
        </p:spPr>
        <p:txBody>
          <a:bodyPr wrap="square" rtlCol="0" anchor="ctr"/>
          <a:lstStyle/>
          <a:p>
            <a:pPr marL="0" indent="0">
              <a:buNone/>
            </a:pPr>
            <a:r>
              <a:rPr lang="en-US" sz="1600" b="1" dirty="0">
                <a:solidFill>
                  <a:srgbClr val="00BCD4"/>
                </a:solidFill>
                <a:latin typeface="Times New Roman" panose="02020603050405020304" charset="0"/>
                <a:cs typeface="Times New Roman" panose="02020603050405020304" charset="0"/>
              </a:rPr>
              <a:t>Gemini (Google)</a:t>
            </a:r>
            <a:endParaRPr lang="en-US" sz="1600" b="1" dirty="0">
              <a:solidFill>
                <a:srgbClr val="00BCD4"/>
              </a:solidFill>
              <a:latin typeface="Times New Roman" panose="02020603050405020304" charset="0"/>
              <a:cs typeface="Times New Roman" panose="02020603050405020304" charset="0"/>
            </a:endParaRPr>
          </a:p>
        </p:txBody>
      </p:sp>
      <p:sp>
        <p:nvSpPr>
          <p:cNvPr id="33" name="Text 10"/>
          <p:cNvSpPr/>
          <p:nvPr>
            <p:custDataLst>
              <p:tags r:id="rId6"/>
            </p:custDataLst>
          </p:nvPr>
        </p:nvSpPr>
        <p:spPr>
          <a:xfrm>
            <a:off x="4800600" y="2843530"/>
            <a:ext cx="3794760" cy="548640"/>
          </a:xfrm>
          <a:prstGeom prst="rect">
            <a:avLst/>
          </a:prstGeom>
          <a:noFill/>
        </p:spPr>
        <p:txBody>
          <a:bodyPr wrap="square" rtlCol="0" anchor="ctr"/>
          <a:lstStyle/>
          <a:p>
            <a:pPr indent="0" algn="just" fontAlgn="auto">
              <a:lnSpc>
                <a:spcPct val="120000"/>
              </a:lnSpc>
              <a:buNone/>
            </a:pPr>
            <a:r>
              <a:rPr lang="en-US" sz="1600" dirty="0">
                <a:solidFill>
                  <a:srgbClr val="FFFFFF"/>
                </a:solidFill>
                <a:latin typeface="Times New Roman" panose="02020603050405020304" charset="0"/>
                <a:cs typeface="Times New Roman" panose="02020603050405020304" charset="0"/>
              </a:rPr>
              <a:t>Tích hợp đa phương thức, tốt trong phân tích tài liệu phức tạp.</a:t>
            </a:r>
            <a:endParaRPr lang="en-US" sz="1600" dirty="0">
              <a:solidFill>
                <a:srgbClr val="FFFFFF"/>
              </a:solidFill>
              <a:latin typeface="Times New Roman" panose="02020603050405020304" charset="0"/>
              <a:cs typeface="Times New Roman" panose="02020603050405020304" charset="0"/>
            </a:endParaRPr>
          </a:p>
        </p:txBody>
      </p:sp>
      <p:sp>
        <p:nvSpPr>
          <p:cNvPr id="34" name="Shape 11"/>
          <p:cNvSpPr/>
          <p:nvPr>
            <p:custDataLst>
              <p:tags r:id="rId7"/>
            </p:custDataLst>
          </p:nvPr>
        </p:nvSpPr>
        <p:spPr>
          <a:xfrm>
            <a:off x="365760" y="3666490"/>
            <a:ext cx="4069080" cy="1051560"/>
          </a:xfrm>
          <a:prstGeom prst="roundRect">
            <a:avLst>
              <a:gd name="adj" fmla="val 6957"/>
            </a:avLst>
          </a:prstGeom>
          <a:solidFill>
            <a:srgbClr val="0D1B2A"/>
          </a:solidFill>
          <a:ln w="12700">
            <a:solidFill>
              <a:srgbClr val="00BCD4">
                <a:alpha val="40000"/>
              </a:srgbClr>
            </a:solidFill>
            <a:prstDash val="solid"/>
          </a:ln>
        </p:spPr>
      </p:sp>
      <p:sp>
        <p:nvSpPr>
          <p:cNvPr id="35" name="Text 12"/>
          <p:cNvSpPr/>
          <p:nvPr>
            <p:custDataLst>
              <p:tags r:id="rId8"/>
            </p:custDataLst>
          </p:nvPr>
        </p:nvSpPr>
        <p:spPr>
          <a:xfrm>
            <a:off x="502920" y="3757930"/>
            <a:ext cx="3749040" cy="320040"/>
          </a:xfrm>
          <a:prstGeom prst="rect">
            <a:avLst/>
          </a:prstGeom>
          <a:noFill/>
        </p:spPr>
        <p:txBody>
          <a:bodyPr wrap="square" rtlCol="0" anchor="ctr"/>
          <a:lstStyle/>
          <a:p>
            <a:pPr marL="0" indent="0">
              <a:buNone/>
            </a:pPr>
            <a:r>
              <a:rPr lang="en-US" sz="1600" b="1" dirty="0">
                <a:solidFill>
                  <a:srgbClr val="00BCD4"/>
                </a:solidFill>
                <a:latin typeface="Times New Roman" panose="02020603050405020304" charset="0"/>
                <a:cs typeface="Times New Roman" panose="02020603050405020304" charset="0"/>
              </a:rPr>
              <a:t>Claude (Anthropic)</a:t>
            </a:r>
            <a:endParaRPr lang="en-US" sz="1600" b="1" dirty="0">
              <a:solidFill>
                <a:srgbClr val="00BCD4"/>
              </a:solidFill>
              <a:latin typeface="Times New Roman" panose="02020603050405020304" charset="0"/>
              <a:cs typeface="Times New Roman" panose="02020603050405020304" charset="0"/>
            </a:endParaRPr>
          </a:p>
        </p:txBody>
      </p:sp>
      <p:sp>
        <p:nvSpPr>
          <p:cNvPr id="36" name="Text 13"/>
          <p:cNvSpPr/>
          <p:nvPr>
            <p:custDataLst>
              <p:tags r:id="rId9"/>
            </p:custDataLst>
          </p:nvPr>
        </p:nvSpPr>
        <p:spPr>
          <a:xfrm>
            <a:off x="502920" y="4077970"/>
            <a:ext cx="3794760" cy="548640"/>
          </a:xfrm>
          <a:prstGeom prst="rect">
            <a:avLst/>
          </a:prstGeom>
          <a:noFill/>
        </p:spPr>
        <p:txBody>
          <a:bodyPr wrap="square" rtlCol="0" anchor="ctr"/>
          <a:lstStyle/>
          <a:p>
            <a:pPr indent="0" algn="just" fontAlgn="auto">
              <a:lnSpc>
                <a:spcPct val="120000"/>
              </a:lnSpc>
              <a:buNone/>
            </a:pPr>
            <a:r>
              <a:rPr lang="en-US" sz="1600" dirty="0">
                <a:solidFill>
                  <a:srgbClr val="FFFFFF"/>
                </a:solidFill>
                <a:latin typeface="Times New Roman" panose="02020603050405020304" charset="0"/>
                <a:cs typeface="Times New Roman" panose="02020603050405020304" charset="0"/>
              </a:rPr>
              <a:t>Tập trung vào tính an toàn và phân tích logic chuyên sâu.</a:t>
            </a:r>
            <a:endParaRPr lang="en-US" sz="1600" dirty="0">
              <a:solidFill>
                <a:srgbClr val="FFFFFF"/>
              </a:solidFill>
              <a:latin typeface="Times New Roman" panose="02020603050405020304" charset="0"/>
              <a:cs typeface="Times New Roman" panose="02020603050405020304" charset="0"/>
            </a:endParaRPr>
          </a:p>
        </p:txBody>
      </p:sp>
      <p:sp>
        <p:nvSpPr>
          <p:cNvPr id="37" name="Shape 14"/>
          <p:cNvSpPr/>
          <p:nvPr>
            <p:custDataLst>
              <p:tags r:id="rId10"/>
            </p:custDataLst>
          </p:nvPr>
        </p:nvSpPr>
        <p:spPr>
          <a:xfrm>
            <a:off x="4663440" y="3666490"/>
            <a:ext cx="4069080" cy="1051560"/>
          </a:xfrm>
          <a:prstGeom prst="roundRect">
            <a:avLst>
              <a:gd name="adj" fmla="val 6957"/>
            </a:avLst>
          </a:prstGeom>
          <a:solidFill>
            <a:srgbClr val="0D1B2A"/>
          </a:solidFill>
          <a:ln w="12700">
            <a:solidFill>
              <a:srgbClr val="00BCD4">
                <a:alpha val="40000"/>
              </a:srgbClr>
            </a:solidFill>
            <a:prstDash val="solid"/>
          </a:ln>
        </p:spPr>
      </p:sp>
      <p:sp>
        <p:nvSpPr>
          <p:cNvPr id="38" name="Text 15"/>
          <p:cNvSpPr/>
          <p:nvPr>
            <p:custDataLst>
              <p:tags r:id="rId11"/>
            </p:custDataLst>
          </p:nvPr>
        </p:nvSpPr>
        <p:spPr>
          <a:xfrm>
            <a:off x="4800600" y="3757930"/>
            <a:ext cx="3749040" cy="320040"/>
          </a:xfrm>
          <a:prstGeom prst="rect">
            <a:avLst/>
          </a:prstGeom>
          <a:noFill/>
        </p:spPr>
        <p:txBody>
          <a:bodyPr wrap="square" rtlCol="0" anchor="ctr"/>
          <a:lstStyle/>
          <a:p>
            <a:pPr marL="0" indent="0">
              <a:buNone/>
            </a:pPr>
            <a:r>
              <a:rPr lang="en-US" sz="1600" b="1" dirty="0">
                <a:solidFill>
                  <a:srgbClr val="00BCD4"/>
                </a:solidFill>
                <a:latin typeface="Times New Roman" panose="02020603050405020304" charset="0"/>
                <a:cs typeface="Times New Roman" panose="02020603050405020304" charset="0"/>
              </a:rPr>
              <a:t>Llama (Meta)</a:t>
            </a:r>
            <a:endParaRPr lang="en-US" sz="1600" b="1" dirty="0">
              <a:solidFill>
                <a:srgbClr val="00BCD4"/>
              </a:solidFill>
              <a:latin typeface="Times New Roman" panose="02020603050405020304" charset="0"/>
              <a:cs typeface="Times New Roman" panose="02020603050405020304" charset="0"/>
            </a:endParaRPr>
          </a:p>
        </p:txBody>
      </p:sp>
      <p:sp>
        <p:nvSpPr>
          <p:cNvPr id="39" name="Text 16"/>
          <p:cNvSpPr/>
          <p:nvPr>
            <p:custDataLst>
              <p:tags r:id="rId12"/>
            </p:custDataLst>
          </p:nvPr>
        </p:nvSpPr>
        <p:spPr>
          <a:xfrm>
            <a:off x="4800600" y="4077970"/>
            <a:ext cx="3794760" cy="548640"/>
          </a:xfrm>
          <a:prstGeom prst="rect">
            <a:avLst/>
          </a:prstGeom>
          <a:noFill/>
        </p:spPr>
        <p:txBody>
          <a:bodyPr wrap="square" rtlCol="0" anchor="ctr"/>
          <a:lstStyle/>
          <a:p>
            <a:pPr indent="0" algn="just" fontAlgn="auto">
              <a:lnSpc>
                <a:spcPct val="120000"/>
              </a:lnSpc>
              <a:buNone/>
            </a:pPr>
            <a:r>
              <a:rPr lang="en-US" sz="1600" dirty="0">
                <a:solidFill>
                  <a:srgbClr val="FFFFFF"/>
                </a:solidFill>
                <a:latin typeface="Times New Roman" panose="02020603050405020304" charset="0"/>
                <a:cs typeface="Times New Roman" panose="02020603050405020304" charset="0"/>
              </a:rPr>
              <a:t>Mô hình mã nguồn mở, có thể tùy chỉnh và triển khai nội bộ.</a:t>
            </a:r>
            <a:endParaRPr lang="en-US" sz="1600" dirty="0">
              <a:solidFill>
                <a:srgbClr val="FFFFFF"/>
              </a:solidFill>
              <a:latin typeface="Times New Roman" panose="02020603050405020304" charset="0"/>
              <a:cs typeface="Times New Roman" panose="02020603050405020304" charset="0"/>
            </a:endParaRPr>
          </a:p>
        </p:txBody>
      </p:sp>
      <p:sp>
        <p:nvSpPr>
          <p:cNvPr id="40" name="Text Box 39"/>
          <p:cNvSpPr txBox="1"/>
          <p:nvPr/>
        </p:nvSpPr>
        <p:spPr>
          <a:xfrm>
            <a:off x="365760" y="657225"/>
            <a:ext cx="3048000" cy="368300"/>
          </a:xfrm>
          <a:prstGeom prst="rect">
            <a:avLst/>
          </a:prstGeom>
          <a:noFill/>
        </p:spPr>
        <p:txBody>
          <a:bodyPr wrap="square" rtlCol="0">
            <a:spAutoFit/>
          </a:bodyPr>
          <a:p>
            <a:r>
              <a:rPr lang="vi-VN" altLang="en-GB" b="1">
                <a:latin typeface="Times New Roman" panose="02020603050405020304" charset="0"/>
                <a:cs typeface="Times New Roman" panose="02020603050405020304" charset="0"/>
              </a:rPr>
              <a:t>Tổng quan về LLM</a:t>
            </a:r>
            <a:endParaRPr lang="vi-VN" altLang="en-GB" b="1">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hape 0"/>
          <p:cNvSpPr/>
          <p:nvPr/>
        </p:nvSpPr>
        <p:spPr>
          <a:xfrm>
            <a:off x="0" y="0"/>
            <a:ext cx="9144000" cy="73152"/>
          </a:xfrm>
          <a:prstGeom prst="rect">
            <a:avLst/>
          </a:prstGeom>
          <a:solidFill>
            <a:srgbClr val="0A7EA4"/>
          </a:solidFill>
          <a:ln w="12700">
            <a:solidFill>
              <a:srgbClr val="0A7EA4"/>
            </a:solidFill>
            <a:prstDash val="solid"/>
          </a:ln>
        </p:spPr>
      </p:sp>
      <p:sp>
        <p:nvSpPr>
          <p:cNvPr id="7" name="Text 1"/>
          <p:cNvSpPr/>
          <p:nvPr/>
        </p:nvSpPr>
        <p:spPr>
          <a:xfrm>
            <a:off x="154940" y="0"/>
            <a:ext cx="8743950" cy="914400"/>
          </a:xfrm>
          <a:prstGeom prst="rect">
            <a:avLst/>
          </a:prstGeom>
          <a:noFill/>
        </p:spPr>
        <p:txBody>
          <a:bodyPr wrap="square" rtlCol="0" anchor="ctr"/>
          <a:lstStyle/>
          <a:p>
            <a:pPr marL="0" indent="0">
              <a:buNone/>
            </a:pPr>
            <a:r>
              <a:rPr lang="en-US" sz="2400" b="1" dirty="0">
                <a:solidFill>
                  <a:schemeClr val="tx1"/>
                </a:solidFill>
                <a:latin typeface="Times New Roman" panose="02020603050405020304" charset="0"/>
                <a:cs typeface="Times New Roman" panose="02020603050405020304" charset="0"/>
              </a:rPr>
              <a:t>KIẾN TRÚC TRANSFORMER VÀ NGUYÊN LÝ HOẠT ĐỘNG</a:t>
            </a:r>
            <a:endParaRPr lang="en-US" sz="2400" b="1" dirty="0">
              <a:solidFill>
                <a:schemeClr val="tx1"/>
              </a:solidFill>
              <a:latin typeface="Times New Roman" panose="02020603050405020304" charset="0"/>
              <a:cs typeface="Times New Roman" panose="02020603050405020304" charset="0"/>
            </a:endParaRPr>
          </a:p>
        </p:txBody>
      </p:sp>
      <p:sp>
        <p:nvSpPr>
          <p:cNvPr id="8" name="Shape 2"/>
          <p:cNvSpPr/>
          <p:nvPr>
            <p:custDataLst>
              <p:tags r:id="rId1"/>
            </p:custDataLst>
          </p:nvPr>
        </p:nvSpPr>
        <p:spPr>
          <a:xfrm>
            <a:off x="210185" y="955675"/>
            <a:ext cx="4846320" cy="868680"/>
          </a:xfrm>
          <a:prstGeom prst="roundRect">
            <a:avLst>
              <a:gd name="adj" fmla="val 8421"/>
            </a:avLst>
          </a:prstGeom>
          <a:solidFill>
            <a:srgbClr val="E3F2FD"/>
          </a:solidFill>
          <a:ln w="12700">
            <a:solidFill>
              <a:srgbClr val="1565C0">
                <a:alpha val="40000"/>
              </a:srgbClr>
            </a:solidFill>
            <a:prstDash val="solid"/>
          </a:ln>
        </p:spPr>
      </p:sp>
      <p:sp>
        <p:nvSpPr>
          <p:cNvPr id="9" name="Shape 3"/>
          <p:cNvSpPr/>
          <p:nvPr>
            <p:custDataLst>
              <p:tags r:id="rId2"/>
            </p:custDataLst>
          </p:nvPr>
        </p:nvSpPr>
        <p:spPr>
          <a:xfrm>
            <a:off x="210185" y="955675"/>
            <a:ext cx="73152" cy="868680"/>
          </a:xfrm>
          <a:prstGeom prst="roundRect">
            <a:avLst/>
          </a:prstGeom>
          <a:solidFill>
            <a:srgbClr val="00BCD4"/>
          </a:solidFill>
          <a:ln w="12700">
            <a:solidFill>
              <a:srgbClr val="00BCD4"/>
            </a:solidFill>
            <a:prstDash val="solid"/>
          </a:ln>
        </p:spPr>
      </p:sp>
      <p:sp>
        <p:nvSpPr>
          <p:cNvPr id="10" name="Text 4"/>
          <p:cNvSpPr/>
          <p:nvPr>
            <p:custDataLst>
              <p:tags r:id="rId3"/>
            </p:custDataLst>
          </p:nvPr>
        </p:nvSpPr>
        <p:spPr>
          <a:xfrm>
            <a:off x="438785" y="1001395"/>
            <a:ext cx="4389120" cy="274320"/>
          </a:xfrm>
          <a:prstGeom prst="rect">
            <a:avLst/>
          </a:prstGeom>
          <a:noFill/>
        </p:spPr>
        <p:txBody>
          <a:bodyPr wrap="square" rtlCol="0" anchor="ctr"/>
          <a:lstStyle/>
          <a:p>
            <a:pPr indent="0" algn="just" fontAlgn="auto">
              <a:lnSpc>
                <a:spcPct val="120000"/>
              </a:lnSpc>
              <a:buNone/>
            </a:pPr>
            <a:r>
              <a:rPr lang="en-US" sz="1600" b="1" dirty="0">
                <a:solidFill>
                  <a:schemeClr val="tx1"/>
                </a:solidFill>
                <a:latin typeface="Times New Roman" panose="02020603050405020304" charset="0"/>
                <a:cs typeface="Times New Roman" panose="02020603050405020304" charset="0"/>
              </a:rPr>
              <a:t>Tokenization</a:t>
            </a:r>
            <a:endParaRPr lang="en-US" sz="1600" b="1" dirty="0">
              <a:solidFill>
                <a:schemeClr val="tx1"/>
              </a:solidFill>
              <a:latin typeface="Times New Roman" panose="02020603050405020304" charset="0"/>
              <a:cs typeface="Times New Roman" panose="02020603050405020304" charset="0"/>
            </a:endParaRPr>
          </a:p>
        </p:txBody>
      </p:sp>
      <p:sp>
        <p:nvSpPr>
          <p:cNvPr id="11" name="Text 5"/>
          <p:cNvSpPr/>
          <p:nvPr>
            <p:custDataLst>
              <p:tags r:id="rId4"/>
            </p:custDataLst>
          </p:nvPr>
        </p:nvSpPr>
        <p:spPr>
          <a:xfrm>
            <a:off x="438785" y="1303147"/>
            <a:ext cx="4389120" cy="457200"/>
          </a:xfrm>
          <a:prstGeom prst="rect">
            <a:avLst/>
          </a:prstGeom>
          <a:noFill/>
        </p:spPr>
        <p:txBody>
          <a:bodyPr wrap="square" rtlCol="0" anchor="ctr"/>
          <a:lstStyle/>
          <a:p>
            <a:pPr indent="0" algn="just" fontAlgn="auto">
              <a:lnSpc>
                <a:spcPct val="120000"/>
              </a:lnSpc>
              <a:buNone/>
            </a:pPr>
            <a:r>
              <a:rPr lang="en-US" sz="1600" dirty="0">
                <a:solidFill>
                  <a:schemeClr val="tx1"/>
                </a:solidFill>
                <a:latin typeface="Times New Roman" panose="02020603050405020304" charset="0"/>
                <a:cs typeface="Times New Roman" panose="02020603050405020304" charset="0"/>
              </a:rPr>
              <a:t>Văn bản được chia thành các Token </a:t>
            </a:r>
            <a:r>
              <a:rPr lang="vi-VN" altLang="en-US" sz="1600" dirty="0">
                <a:solidFill>
                  <a:schemeClr val="tx1"/>
                </a:solidFill>
                <a:latin typeface="Times New Roman" panose="02020603050405020304" charset="0"/>
                <a:cs typeface="Times New Roman" panose="02020603050405020304" charset="0"/>
              </a:rPr>
              <a:t>-</a:t>
            </a:r>
            <a:r>
              <a:rPr lang="en-US" sz="1600" dirty="0">
                <a:solidFill>
                  <a:schemeClr val="tx1"/>
                </a:solidFill>
                <a:latin typeface="Times New Roman" panose="02020603050405020304" charset="0"/>
                <a:cs typeface="Times New Roman" panose="02020603050405020304" charset="0"/>
              </a:rPr>
              <a:t> đơn vị cơ bản để mô hình xử lý.</a:t>
            </a:r>
            <a:endParaRPr lang="en-US" sz="1600" dirty="0">
              <a:solidFill>
                <a:schemeClr val="tx1"/>
              </a:solidFill>
              <a:latin typeface="Times New Roman" panose="02020603050405020304" charset="0"/>
              <a:cs typeface="Times New Roman" panose="02020603050405020304" charset="0"/>
            </a:endParaRPr>
          </a:p>
        </p:txBody>
      </p:sp>
      <p:sp>
        <p:nvSpPr>
          <p:cNvPr id="12" name="Shape 6"/>
          <p:cNvSpPr/>
          <p:nvPr>
            <p:custDataLst>
              <p:tags r:id="rId5"/>
            </p:custDataLst>
          </p:nvPr>
        </p:nvSpPr>
        <p:spPr>
          <a:xfrm>
            <a:off x="210185" y="1961515"/>
            <a:ext cx="4846320" cy="868680"/>
          </a:xfrm>
          <a:prstGeom prst="roundRect">
            <a:avLst>
              <a:gd name="adj" fmla="val 8421"/>
            </a:avLst>
          </a:prstGeom>
          <a:solidFill>
            <a:srgbClr val="E3F2FD"/>
          </a:solidFill>
          <a:ln w="12700">
            <a:solidFill>
              <a:srgbClr val="1565C0">
                <a:alpha val="40000"/>
              </a:srgbClr>
            </a:solidFill>
            <a:prstDash val="solid"/>
          </a:ln>
        </p:spPr>
      </p:sp>
      <p:sp>
        <p:nvSpPr>
          <p:cNvPr id="13" name="Shape 7"/>
          <p:cNvSpPr/>
          <p:nvPr>
            <p:custDataLst>
              <p:tags r:id="rId6"/>
            </p:custDataLst>
          </p:nvPr>
        </p:nvSpPr>
        <p:spPr>
          <a:xfrm>
            <a:off x="210185" y="1961515"/>
            <a:ext cx="73152" cy="868680"/>
          </a:xfrm>
          <a:prstGeom prst="roundRect">
            <a:avLst/>
          </a:prstGeom>
          <a:solidFill>
            <a:srgbClr val="00BCD4"/>
          </a:solidFill>
          <a:ln w="12700">
            <a:solidFill>
              <a:srgbClr val="00BCD4"/>
            </a:solidFill>
            <a:prstDash val="solid"/>
          </a:ln>
        </p:spPr>
      </p:sp>
      <p:sp>
        <p:nvSpPr>
          <p:cNvPr id="14" name="Text 8"/>
          <p:cNvSpPr/>
          <p:nvPr>
            <p:custDataLst>
              <p:tags r:id="rId7"/>
            </p:custDataLst>
          </p:nvPr>
        </p:nvSpPr>
        <p:spPr>
          <a:xfrm>
            <a:off x="438785" y="2007235"/>
            <a:ext cx="4389120" cy="274320"/>
          </a:xfrm>
          <a:prstGeom prst="rect">
            <a:avLst/>
          </a:prstGeom>
          <a:noFill/>
        </p:spPr>
        <p:txBody>
          <a:bodyPr wrap="square" rtlCol="0" anchor="ctr"/>
          <a:lstStyle/>
          <a:p>
            <a:pPr indent="0" algn="just" fontAlgn="auto">
              <a:lnSpc>
                <a:spcPct val="120000"/>
              </a:lnSpc>
              <a:buNone/>
            </a:pPr>
            <a:r>
              <a:rPr lang="en-US" sz="1600" b="1" dirty="0">
                <a:solidFill>
                  <a:schemeClr val="tx1"/>
                </a:solidFill>
                <a:latin typeface="Times New Roman" panose="02020603050405020304" charset="0"/>
                <a:cs typeface="Times New Roman" panose="02020603050405020304" charset="0"/>
              </a:rPr>
              <a:t>Self-Attention</a:t>
            </a:r>
            <a:endParaRPr lang="en-US" sz="1600" b="1" dirty="0">
              <a:solidFill>
                <a:schemeClr val="tx1"/>
              </a:solidFill>
              <a:latin typeface="Times New Roman" panose="02020603050405020304" charset="0"/>
              <a:cs typeface="Times New Roman" panose="02020603050405020304" charset="0"/>
            </a:endParaRPr>
          </a:p>
        </p:txBody>
      </p:sp>
      <p:sp>
        <p:nvSpPr>
          <p:cNvPr id="15" name="Text 9"/>
          <p:cNvSpPr/>
          <p:nvPr>
            <p:custDataLst>
              <p:tags r:id="rId8"/>
            </p:custDataLst>
          </p:nvPr>
        </p:nvSpPr>
        <p:spPr>
          <a:xfrm>
            <a:off x="438785" y="2308987"/>
            <a:ext cx="4389120" cy="457200"/>
          </a:xfrm>
          <a:prstGeom prst="rect">
            <a:avLst/>
          </a:prstGeom>
          <a:noFill/>
        </p:spPr>
        <p:txBody>
          <a:bodyPr wrap="square" rtlCol="0" anchor="ctr"/>
          <a:lstStyle/>
          <a:p>
            <a:pPr indent="0" algn="just" fontAlgn="auto">
              <a:lnSpc>
                <a:spcPct val="120000"/>
              </a:lnSpc>
              <a:buNone/>
            </a:pPr>
            <a:r>
              <a:rPr lang="en-US" sz="1600" dirty="0">
                <a:solidFill>
                  <a:schemeClr val="tx1"/>
                </a:solidFill>
                <a:latin typeface="Times New Roman" panose="02020603050405020304" charset="0"/>
                <a:cs typeface="Times New Roman" panose="02020603050405020304" charset="0"/>
              </a:rPr>
              <a:t>Cơ chế xác định mức độ liên quan giữa các từ để hiểu ngữ nghĩa chính xác.</a:t>
            </a:r>
            <a:endParaRPr lang="en-US" sz="1600" dirty="0">
              <a:solidFill>
                <a:schemeClr val="tx1"/>
              </a:solidFill>
              <a:latin typeface="Times New Roman" panose="02020603050405020304" charset="0"/>
              <a:cs typeface="Times New Roman" panose="02020603050405020304" charset="0"/>
            </a:endParaRPr>
          </a:p>
        </p:txBody>
      </p:sp>
      <p:sp>
        <p:nvSpPr>
          <p:cNvPr id="16" name="Shape 10"/>
          <p:cNvSpPr/>
          <p:nvPr>
            <p:custDataLst>
              <p:tags r:id="rId9"/>
            </p:custDataLst>
          </p:nvPr>
        </p:nvSpPr>
        <p:spPr>
          <a:xfrm>
            <a:off x="210185" y="2967355"/>
            <a:ext cx="4846320" cy="868680"/>
          </a:xfrm>
          <a:prstGeom prst="roundRect">
            <a:avLst>
              <a:gd name="adj" fmla="val 8421"/>
            </a:avLst>
          </a:prstGeom>
          <a:solidFill>
            <a:srgbClr val="E3F2FD"/>
          </a:solidFill>
          <a:ln w="12700">
            <a:solidFill>
              <a:srgbClr val="1565C0">
                <a:alpha val="40000"/>
              </a:srgbClr>
            </a:solidFill>
            <a:prstDash val="solid"/>
          </a:ln>
        </p:spPr>
      </p:sp>
      <p:sp>
        <p:nvSpPr>
          <p:cNvPr id="17" name="Shape 11"/>
          <p:cNvSpPr/>
          <p:nvPr>
            <p:custDataLst>
              <p:tags r:id="rId10"/>
            </p:custDataLst>
          </p:nvPr>
        </p:nvSpPr>
        <p:spPr>
          <a:xfrm>
            <a:off x="210185" y="2967355"/>
            <a:ext cx="73152" cy="868680"/>
          </a:xfrm>
          <a:prstGeom prst="roundRect">
            <a:avLst/>
          </a:prstGeom>
          <a:solidFill>
            <a:srgbClr val="00BCD4"/>
          </a:solidFill>
          <a:ln w="12700">
            <a:solidFill>
              <a:srgbClr val="00BCD4"/>
            </a:solidFill>
            <a:prstDash val="solid"/>
          </a:ln>
        </p:spPr>
      </p:sp>
      <p:sp>
        <p:nvSpPr>
          <p:cNvPr id="18" name="Text 12"/>
          <p:cNvSpPr/>
          <p:nvPr>
            <p:custDataLst>
              <p:tags r:id="rId11"/>
            </p:custDataLst>
          </p:nvPr>
        </p:nvSpPr>
        <p:spPr>
          <a:xfrm>
            <a:off x="438785" y="3013075"/>
            <a:ext cx="4389120" cy="274320"/>
          </a:xfrm>
          <a:prstGeom prst="rect">
            <a:avLst/>
          </a:prstGeom>
          <a:noFill/>
        </p:spPr>
        <p:txBody>
          <a:bodyPr wrap="square" rtlCol="0" anchor="ctr"/>
          <a:lstStyle/>
          <a:p>
            <a:pPr indent="0" algn="just" fontAlgn="auto">
              <a:lnSpc>
                <a:spcPct val="120000"/>
              </a:lnSpc>
              <a:buNone/>
            </a:pPr>
            <a:r>
              <a:rPr lang="en-US" sz="1600" b="1" dirty="0">
                <a:solidFill>
                  <a:schemeClr val="tx1"/>
                </a:solidFill>
                <a:latin typeface="Times New Roman" panose="02020603050405020304" charset="0"/>
                <a:cs typeface="Times New Roman" panose="02020603050405020304" charset="0"/>
              </a:rPr>
              <a:t>Xử lý song song</a:t>
            </a:r>
            <a:endParaRPr lang="en-US" sz="1600" b="1" dirty="0">
              <a:solidFill>
                <a:schemeClr val="tx1"/>
              </a:solidFill>
              <a:latin typeface="Times New Roman" panose="02020603050405020304" charset="0"/>
              <a:cs typeface="Times New Roman" panose="02020603050405020304" charset="0"/>
            </a:endParaRPr>
          </a:p>
        </p:txBody>
      </p:sp>
      <p:sp>
        <p:nvSpPr>
          <p:cNvPr id="19" name="Text 13"/>
          <p:cNvSpPr/>
          <p:nvPr>
            <p:custDataLst>
              <p:tags r:id="rId12"/>
            </p:custDataLst>
          </p:nvPr>
        </p:nvSpPr>
        <p:spPr>
          <a:xfrm>
            <a:off x="438785" y="3314827"/>
            <a:ext cx="4389120" cy="457200"/>
          </a:xfrm>
          <a:prstGeom prst="rect">
            <a:avLst/>
          </a:prstGeom>
          <a:noFill/>
        </p:spPr>
        <p:txBody>
          <a:bodyPr wrap="square" rtlCol="0" anchor="ctr"/>
          <a:lstStyle/>
          <a:p>
            <a:pPr indent="0" algn="just" fontAlgn="auto">
              <a:lnSpc>
                <a:spcPct val="120000"/>
              </a:lnSpc>
              <a:buNone/>
            </a:pPr>
            <a:r>
              <a:rPr lang="en-US" sz="1600" dirty="0">
                <a:solidFill>
                  <a:schemeClr val="tx1"/>
                </a:solidFill>
                <a:latin typeface="Times New Roman" panose="02020603050405020304" charset="0"/>
                <a:cs typeface="Times New Roman" panose="02020603050405020304" charset="0"/>
              </a:rPr>
              <a:t>Không như RNN/LSTM, Transformer xử lý dữ liệu song song, tốc độ huấn luyện cao hơn.</a:t>
            </a:r>
            <a:endParaRPr lang="en-US" sz="1600" dirty="0">
              <a:solidFill>
                <a:schemeClr val="tx1"/>
              </a:solidFill>
              <a:latin typeface="Times New Roman" panose="02020603050405020304" charset="0"/>
              <a:cs typeface="Times New Roman" panose="02020603050405020304" charset="0"/>
            </a:endParaRPr>
          </a:p>
        </p:txBody>
      </p:sp>
      <p:sp>
        <p:nvSpPr>
          <p:cNvPr id="20" name="Shape 14"/>
          <p:cNvSpPr/>
          <p:nvPr>
            <p:custDataLst>
              <p:tags r:id="rId13"/>
            </p:custDataLst>
          </p:nvPr>
        </p:nvSpPr>
        <p:spPr>
          <a:xfrm>
            <a:off x="210185" y="3973195"/>
            <a:ext cx="4846320" cy="868680"/>
          </a:xfrm>
          <a:prstGeom prst="roundRect">
            <a:avLst>
              <a:gd name="adj" fmla="val 8421"/>
            </a:avLst>
          </a:prstGeom>
          <a:solidFill>
            <a:srgbClr val="E3F2FD"/>
          </a:solidFill>
          <a:ln w="12700">
            <a:solidFill>
              <a:srgbClr val="1565C0">
                <a:alpha val="40000"/>
              </a:srgbClr>
            </a:solidFill>
            <a:prstDash val="solid"/>
          </a:ln>
        </p:spPr>
      </p:sp>
      <p:sp>
        <p:nvSpPr>
          <p:cNvPr id="21" name="Shape 15"/>
          <p:cNvSpPr/>
          <p:nvPr>
            <p:custDataLst>
              <p:tags r:id="rId14"/>
            </p:custDataLst>
          </p:nvPr>
        </p:nvSpPr>
        <p:spPr>
          <a:xfrm>
            <a:off x="210185" y="3973195"/>
            <a:ext cx="73152" cy="868680"/>
          </a:xfrm>
          <a:prstGeom prst="roundRect">
            <a:avLst/>
          </a:prstGeom>
          <a:solidFill>
            <a:srgbClr val="00BCD4"/>
          </a:solidFill>
          <a:ln w="12700">
            <a:solidFill>
              <a:srgbClr val="00BCD4"/>
            </a:solidFill>
            <a:prstDash val="solid"/>
          </a:ln>
        </p:spPr>
      </p:sp>
      <p:sp>
        <p:nvSpPr>
          <p:cNvPr id="22" name="Text 16"/>
          <p:cNvSpPr/>
          <p:nvPr>
            <p:custDataLst>
              <p:tags r:id="rId15"/>
            </p:custDataLst>
          </p:nvPr>
        </p:nvSpPr>
        <p:spPr>
          <a:xfrm>
            <a:off x="438785" y="4018915"/>
            <a:ext cx="4389120" cy="274320"/>
          </a:xfrm>
          <a:prstGeom prst="rect">
            <a:avLst/>
          </a:prstGeom>
          <a:noFill/>
        </p:spPr>
        <p:txBody>
          <a:bodyPr wrap="square" rtlCol="0" anchor="ctr"/>
          <a:lstStyle/>
          <a:p>
            <a:pPr indent="0" algn="just" fontAlgn="auto">
              <a:lnSpc>
                <a:spcPct val="120000"/>
              </a:lnSpc>
              <a:buNone/>
            </a:pPr>
            <a:r>
              <a:rPr lang="en-US" sz="1600" b="1" dirty="0">
                <a:solidFill>
                  <a:schemeClr val="tx1"/>
                </a:solidFill>
                <a:latin typeface="Times New Roman" panose="02020603050405020304" charset="0"/>
                <a:cs typeface="Times New Roman" panose="02020603050405020304" charset="0"/>
              </a:rPr>
              <a:t>Sinh kết quả</a:t>
            </a:r>
            <a:endParaRPr lang="en-US" sz="1600" b="1" dirty="0">
              <a:solidFill>
                <a:schemeClr val="tx1"/>
              </a:solidFill>
              <a:latin typeface="Times New Roman" panose="02020603050405020304" charset="0"/>
              <a:cs typeface="Times New Roman" panose="02020603050405020304" charset="0"/>
            </a:endParaRPr>
          </a:p>
        </p:txBody>
      </p:sp>
      <p:sp>
        <p:nvSpPr>
          <p:cNvPr id="23" name="Text 17"/>
          <p:cNvSpPr/>
          <p:nvPr>
            <p:custDataLst>
              <p:tags r:id="rId16"/>
            </p:custDataLst>
          </p:nvPr>
        </p:nvSpPr>
        <p:spPr>
          <a:xfrm>
            <a:off x="438785" y="4320667"/>
            <a:ext cx="4389120" cy="457200"/>
          </a:xfrm>
          <a:prstGeom prst="rect">
            <a:avLst/>
          </a:prstGeom>
          <a:noFill/>
        </p:spPr>
        <p:txBody>
          <a:bodyPr wrap="square" rtlCol="0" anchor="ctr"/>
          <a:lstStyle/>
          <a:p>
            <a:pPr indent="0" algn="just" fontAlgn="auto">
              <a:lnSpc>
                <a:spcPct val="120000"/>
              </a:lnSpc>
              <a:buNone/>
            </a:pPr>
            <a:r>
              <a:rPr lang="en-US" sz="1600" dirty="0">
                <a:solidFill>
                  <a:schemeClr val="tx1"/>
                </a:solidFill>
                <a:latin typeface="Times New Roman" panose="02020603050405020304" charset="0"/>
                <a:cs typeface="Times New Roman" panose="02020603050405020304" charset="0"/>
              </a:rPr>
              <a:t>Dự đoán token tiếp theo dựa trên xác suất trong chuỗi ngữ cảnh đã học.</a:t>
            </a:r>
            <a:endParaRPr lang="en-US" sz="1600" dirty="0">
              <a:solidFill>
                <a:schemeClr val="tx1"/>
              </a:solidFill>
              <a:latin typeface="Times New Roman" panose="02020603050405020304" charset="0"/>
              <a:cs typeface="Times New Roman" panose="02020603050405020304" charset="0"/>
            </a:endParaRPr>
          </a:p>
        </p:txBody>
      </p:sp>
      <p:sp>
        <p:nvSpPr>
          <p:cNvPr id="53" name="Text 32"/>
          <p:cNvSpPr/>
          <p:nvPr/>
        </p:nvSpPr>
        <p:spPr>
          <a:xfrm>
            <a:off x="6079490" y="4828540"/>
            <a:ext cx="2819400" cy="314960"/>
          </a:xfrm>
          <a:prstGeom prst="rect">
            <a:avLst/>
          </a:prstGeom>
          <a:noFill/>
        </p:spPr>
        <p:txBody>
          <a:bodyPr wrap="square" rtlCol="0" anchor="ctr"/>
          <a:lstStyle/>
          <a:p>
            <a:pPr marL="0" indent="0" algn="ctr">
              <a:buNone/>
            </a:pPr>
            <a:r>
              <a:rPr lang="en-US" sz="1400" i="1" dirty="0">
                <a:solidFill>
                  <a:schemeClr val="tx1"/>
                </a:solidFill>
                <a:latin typeface="Times New Roman" panose="02020603050405020304" charset="0"/>
                <a:cs typeface="Times New Roman" panose="02020603050405020304" charset="0"/>
              </a:rPr>
              <a:t>Kiến trúc </a:t>
            </a:r>
            <a:r>
              <a:rPr lang="vi-VN" altLang="en-US" sz="1400" i="1" dirty="0">
                <a:solidFill>
                  <a:schemeClr val="tx1"/>
                </a:solidFill>
                <a:latin typeface="Times New Roman" panose="02020603050405020304" charset="0"/>
                <a:cs typeface="Times New Roman" panose="02020603050405020304" charset="0"/>
              </a:rPr>
              <a:t>của </a:t>
            </a:r>
            <a:r>
              <a:rPr lang="vi-VN" altLang="en-US" sz="1400" i="1" dirty="0">
                <a:solidFill>
                  <a:schemeClr val="tx1"/>
                </a:solidFill>
                <a:latin typeface="Times New Roman" panose="02020603050405020304" charset="0"/>
                <a:cs typeface="Times New Roman" panose="02020603050405020304" charset="0"/>
              </a:rPr>
              <a:t>Transformer</a:t>
            </a:r>
            <a:endParaRPr lang="vi-VN" altLang="en-US" sz="1400" i="1" dirty="0">
              <a:solidFill>
                <a:schemeClr val="tx1"/>
              </a:solidFill>
              <a:latin typeface="Times New Roman" panose="02020603050405020304" charset="0"/>
              <a:cs typeface="Times New Roman" panose="02020603050405020304" charset="0"/>
            </a:endParaRPr>
          </a:p>
        </p:txBody>
      </p:sp>
      <p:pic>
        <p:nvPicPr>
          <p:cNvPr id="54" name="Picture 3" descr="IMG_256"/>
          <p:cNvPicPr>
            <a:picLocks noChangeAspect="1"/>
          </p:cNvPicPr>
          <p:nvPr/>
        </p:nvPicPr>
        <p:blipFill>
          <a:blip r:embed="rId17"/>
          <a:stretch>
            <a:fillRect/>
          </a:stretch>
        </p:blipFill>
        <p:spPr>
          <a:xfrm>
            <a:off x="5625465" y="743585"/>
            <a:ext cx="3271520" cy="4097655"/>
          </a:xfrm>
          <a:prstGeom prst="rect">
            <a:avLst/>
          </a:prstGeom>
          <a:noFill/>
          <a:ln w="9525">
            <a:noFill/>
          </a:ln>
        </p:spPr>
      </p:pic>
      <p:sp>
        <p:nvSpPr>
          <p:cNvPr id="55" name="Shape 2"/>
          <p:cNvSpPr/>
          <p:nvPr/>
        </p:nvSpPr>
        <p:spPr>
          <a:xfrm>
            <a:off x="457200" y="640080"/>
            <a:ext cx="8229600" cy="36576"/>
          </a:xfrm>
          <a:prstGeom prst="rect">
            <a:avLst/>
          </a:prstGeom>
          <a:solidFill>
            <a:srgbClr val="0A7EA4"/>
          </a:solidFill>
          <a:ln w="12700">
            <a:solidFill>
              <a:srgbClr val="0A7EA4"/>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457200" y="164592"/>
            <a:ext cx="8229600" cy="457200"/>
          </a:xfrm>
          <a:prstGeom prst="rect">
            <a:avLst/>
          </a:prstGeom>
          <a:noFill/>
        </p:spPr>
        <p:txBody>
          <a:bodyPr wrap="square" rtlCol="0" anchor="ctr"/>
          <a:lstStyle/>
          <a:p>
            <a:pPr marL="0" indent="0">
              <a:buNone/>
            </a:pPr>
            <a:r>
              <a:rPr lang="en-US" sz="2400" b="1" dirty="0">
                <a:solidFill>
                  <a:srgbClr val="0D2137"/>
                </a:solidFill>
                <a:latin typeface="Times New Roman" panose="02020603050405020304" charset="0"/>
                <a:ea typeface="Calibri" panose="020F0502020204030204" pitchFamily="34" charset="-122"/>
                <a:cs typeface="Times New Roman" panose="02020603050405020304" charset="0"/>
              </a:rPr>
              <a:t>PHÂN TÍCH YÊU CẦU </a:t>
            </a:r>
            <a:r>
              <a:rPr lang="vi-VN" altLang="en-US" sz="2400" b="1" dirty="0">
                <a:solidFill>
                  <a:srgbClr val="0D2137"/>
                </a:solidFill>
                <a:latin typeface="Times New Roman" panose="02020603050405020304" charset="0"/>
                <a:ea typeface="Calibri" panose="020F0502020204030204" pitchFamily="34" charset="-122"/>
                <a:cs typeface="Times New Roman" panose="02020603050405020304" charset="0"/>
              </a:rPr>
              <a:t>VÀ</a:t>
            </a:r>
            <a:r>
              <a:rPr lang="en-US" sz="2400" b="1" dirty="0">
                <a:solidFill>
                  <a:srgbClr val="0D2137"/>
                </a:solidFill>
                <a:latin typeface="Times New Roman" panose="02020603050405020304" charset="0"/>
                <a:ea typeface="Calibri" panose="020F0502020204030204" pitchFamily="34" charset="-122"/>
                <a:cs typeface="Times New Roman" panose="02020603050405020304" charset="0"/>
              </a:rPr>
              <a:t> CA KIỂM THỬ PHẦN MỀM</a:t>
            </a:r>
            <a:endParaRPr lang="en-US" sz="24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640080"/>
            <a:ext cx="8229600" cy="36576"/>
          </a:xfrm>
          <a:prstGeom prst="rect">
            <a:avLst/>
          </a:prstGeom>
          <a:solidFill>
            <a:srgbClr val="0A7EA4"/>
          </a:solidFill>
          <a:ln w="12700">
            <a:solidFill>
              <a:srgbClr val="0A7EA4"/>
            </a:solidFill>
            <a:prstDash val="solid"/>
          </a:ln>
        </p:spPr>
      </p:sp>
      <p:sp>
        <p:nvSpPr>
          <p:cNvPr id="5" name="Text 3"/>
          <p:cNvSpPr/>
          <p:nvPr/>
        </p:nvSpPr>
        <p:spPr>
          <a:xfrm>
            <a:off x="320040" y="777240"/>
            <a:ext cx="4023360" cy="347472"/>
          </a:xfrm>
          <a:prstGeom prst="rect">
            <a:avLst/>
          </a:prstGeom>
          <a:noFill/>
        </p:spPr>
        <p:txBody>
          <a:bodyPr wrap="square" rtlCol="0" anchor="ctr"/>
          <a:lstStyle/>
          <a:p>
            <a:pPr marL="0" indent="0">
              <a:buNone/>
            </a:pPr>
            <a:r>
              <a:rPr lang="en-US" sz="2000" b="1" dirty="0">
                <a:solidFill>
                  <a:schemeClr val="tx1"/>
                </a:solidFill>
                <a:latin typeface="Times New Roman" panose="02020603050405020304" charset="0"/>
                <a:ea typeface="Calibri" panose="020F0502020204030204" pitchFamily="34" charset="-122"/>
                <a:cs typeface="Times New Roman" panose="02020603050405020304" charset="0"/>
              </a:rPr>
              <a:t>Phân tích yêu cầu phần mềm</a:t>
            </a:r>
            <a:endParaRPr lang="en-US" sz="20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6" name="Shape 4"/>
          <p:cNvSpPr/>
          <p:nvPr>
            <p:custDataLst>
              <p:tags r:id="rId1"/>
            </p:custDataLst>
          </p:nvPr>
        </p:nvSpPr>
        <p:spPr>
          <a:xfrm>
            <a:off x="320040" y="1280160"/>
            <a:ext cx="4023360" cy="758190"/>
          </a:xfrm>
          <a:prstGeom prst="roundRect">
            <a:avLst>
              <a:gd name="adj" fmla="val 9756"/>
            </a:avLst>
          </a:prstGeom>
          <a:solidFill>
            <a:srgbClr val="E8F6FC"/>
          </a:solidFill>
          <a:effectLst>
            <a:outerShdw blurRad="101600" dist="38100" dir="2700000" algn="bl" rotWithShape="0">
              <a:srgbClr val="000000">
                <a:alpha val="12000"/>
              </a:srgbClr>
            </a:outerShdw>
          </a:effectLst>
        </p:spPr>
      </p:sp>
      <p:sp>
        <p:nvSpPr>
          <p:cNvPr id="7" name="Text 5"/>
          <p:cNvSpPr/>
          <p:nvPr>
            <p:custDataLst>
              <p:tags r:id="rId2"/>
            </p:custDataLst>
          </p:nvPr>
        </p:nvSpPr>
        <p:spPr>
          <a:xfrm>
            <a:off x="457200" y="1313815"/>
            <a:ext cx="3749040" cy="277495"/>
          </a:xfrm>
          <a:prstGeom prst="rect">
            <a:avLst/>
          </a:prstGeom>
          <a:noFill/>
        </p:spPr>
        <p:txBody>
          <a:bodyPr wrap="square" rtlCol="0" anchor="ctr"/>
          <a:lstStyle/>
          <a:p>
            <a:pPr marL="0" indent="0" algn="just">
              <a:buNone/>
            </a:pPr>
            <a:r>
              <a:rPr lang="en-US" sz="1600" b="1" dirty="0">
                <a:solidFill>
                  <a:srgbClr val="0A7EA4"/>
                </a:solidFill>
                <a:latin typeface="Times New Roman" panose="02020603050405020304" charset="0"/>
                <a:ea typeface="Calibri" panose="020F0502020204030204" pitchFamily="34" charset="-122"/>
                <a:cs typeface="Times New Roman" panose="02020603050405020304" charset="0"/>
              </a:rPr>
              <a:t>Yêu cầu chức năng (FR)</a:t>
            </a:r>
            <a:endParaRPr lang="en-US" sz="16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8" name="Text 6"/>
          <p:cNvSpPr/>
          <p:nvPr>
            <p:custDataLst>
              <p:tags r:id="rId3"/>
            </p:custDataLst>
          </p:nvPr>
        </p:nvSpPr>
        <p:spPr>
          <a:xfrm>
            <a:off x="457200" y="1617980"/>
            <a:ext cx="3869690" cy="350520"/>
          </a:xfrm>
          <a:prstGeom prst="rect">
            <a:avLst/>
          </a:prstGeom>
          <a:noFill/>
        </p:spPr>
        <p:txBody>
          <a:bodyPr wrap="square" rtlCol="0" anchor="ctr"/>
          <a:lstStyle/>
          <a:p>
            <a:pPr marL="0" indent="0" algn="just">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Mô tả các chức năng hệ thống phải thực hiện</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9" name="Shape 7"/>
          <p:cNvSpPr/>
          <p:nvPr>
            <p:custDataLst>
              <p:tags r:id="rId4"/>
            </p:custDataLst>
          </p:nvPr>
        </p:nvSpPr>
        <p:spPr>
          <a:xfrm>
            <a:off x="320040" y="2167255"/>
            <a:ext cx="4023360" cy="758190"/>
          </a:xfrm>
          <a:prstGeom prst="roundRect">
            <a:avLst>
              <a:gd name="adj" fmla="val 9756"/>
            </a:avLst>
          </a:prstGeom>
          <a:solidFill>
            <a:srgbClr val="E8F6FC"/>
          </a:solidFill>
          <a:effectLst>
            <a:outerShdw blurRad="101600" dist="38100" dir="2700000" algn="bl" rotWithShape="0">
              <a:srgbClr val="000000">
                <a:alpha val="12000"/>
              </a:srgbClr>
            </a:outerShdw>
          </a:effectLst>
        </p:spPr>
      </p:sp>
      <p:sp>
        <p:nvSpPr>
          <p:cNvPr id="10" name="Text 8"/>
          <p:cNvSpPr/>
          <p:nvPr>
            <p:custDataLst>
              <p:tags r:id="rId5"/>
            </p:custDataLst>
          </p:nvPr>
        </p:nvSpPr>
        <p:spPr>
          <a:xfrm>
            <a:off x="457200" y="2251710"/>
            <a:ext cx="3749040" cy="277495"/>
          </a:xfrm>
          <a:prstGeom prst="rect">
            <a:avLst/>
          </a:prstGeom>
          <a:noFill/>
        </p:spPr>
        <p:txBody>
          <a:bodyPr wrap="square" rtlCol="0" anchor="ctr"/>
          <a:lstStyle/>
          <a:p>
            <a:pPr marL="0" indent="0" algn="just">
              <a:buNone/>
            </a:pPr>
            <a:r>
              <a:rPr lang="en-US" sz="1600" b="1" dirty="0">
                <a:solidFill>
                  <a:srgbClr val="0A7EA4"/>
                </a:solidFill>
                <a:latin typeface="Times New Roman" panose="02020603050405020304" charset="0"/>
                <a:ea typeface="Calibri" panose="020F0502020204030204" pitchFamily="34" charset="-122"/>
                <a:cs typeface="Times New Roman" panose="02020603050405020304" charset="0"/>
              </a:rPr>
              <a:t>Yêu cầu phi chức năng (NFR)</a:t>
            </a:r>
            <a:endParaRPr lang="en-US" sz="16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11" name="Text 9"/>
          <p:cNvSpPr/>
          <p:nvPr>
            <p:custDataLst>
              <p:tags r:id="rId6"/>
            </p:custDataLst>
          </p:nvPr>
        </p:nvSpPr>
        <p:spPr>
          <a:xfrm>
            <a:off x="457200" y="2543175"/>
            <a:ext cx="3749040" cy="350520"/>
          </a:xfrm>
          <a:prstGeom prst="rect">
            <a:avLst/>
          </a:prstGeom>
          <a:noFill/>
        </p:spPr>
        <p:txBody>
          <a:bodyPr wrap="square" rtlCol="0" anchor="ctr"/>
          <a:lstStyle/>
          <a:p>
            <a:pPr marL="0" indent="0" algn="just">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Hiệu năng, bảo mật, khả năng mở rộng</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2" name="Shape 10"/>
          <p:cNvSpPr/>
          <p:nvPr>
            <p:custDataLst>
              <p:tags r:id="rId7"/>
            </p:custDataLst>
          </p:nvPr>
        </p:nvSpPr>
        <p:spPr>
          <a:xfrm>
            <a:off x="320040" y="3053715"/>
            <a:ext cx="4023360" cy="758190"/>
          </a:xfrm>
          <a:prstGeom prst="roundRect">
            <a:avLst>
              <a:gd name="adj" fmla="val 9756"/>
            </a:avLst>
          </a:prstGeom>
          <a:solidFill>
            <a:srgbClr val="E8F6FC"/>
          </a:solidFill>
          <a:effectLst>
            <a:outerShdw blurRad="101600" dist="38100" dir="2700000" algn="bl" rotWithShape="0">
              <a:srgbClr val="000000">
                <a:alpha val="12000"/>
              </a:srgbClr>
            </a:outerShdw>
          </a:effectLst>
        </p:spPr>
      </p:sp>
      <p:sp>
        <p:nvSpPr>
          <p:cNvPr id="13" name="Text 11"/>
          <p:cNvSpPr/>
          <p:nvPr>
            <p:custDataLst>
              <p:tags r:id="rId8"/>
            </p:custDataLst>
          </p:nvPr>
        </p:nvSpPr>
        <p:spPr>
          <a:xfrm>
            <a:off x="457200" y="3124200"/>
            <a:ext cx="3749040" cy="277495"/>
          </a:xfrm>
          <a:prstGeom prst="rect">
            <a:avLst/>
          </a:prstGeom>
          <a:noFill/>
        </p:spPr>
        <p:txBody>
          <a:bodyPr wrap="square" rtlCol="0" anchor="ctr"/>
          <a:lstStyle/>
          <a:p>
            <a:pPr marL="0" indent="0" algn="just">
              <a:buNone/>
            </a:pPr>
            <a:r>
              <a:rPr lang="en-US" sz="1600" b="1" dirty="0">
                <a:solidFill>
                  <a:srgbClr val="0A7EA4"/>
                </a:solidFill>
                <a:latin typeface="Times New Roman" panose="02020603050405020304" charset="0"/>
                <a:ea typeface="Calibri" panose="020F0502020204030204" pitchFamily="34" charset="-122"/>
                <a:cs typeface="Times New Roman" panose="02020603050405020304" charset="0"/>
              </a:rPr>
              <a:t>User Story / Use Case</a:t>
            </a:r>
            <a:endParaRPr lang="en-US" sz="16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14" name="Text 12"/>
          <p:cNvSpPr/>
          <p:nvPr>
            <p:custDataLst>
              <p:tags r:id="rId9"/>
            </p:custDataLst>
          </p:nvPr>
        </p:nvSpPr>
        <p:spPr>
          <a:xfrm>
            <a:off x="457200" y="3444240"/>
            <a:ext cx="3749040" cy="350520"/>
          </a:xfrm>
          <a:prstGeom prst="rect">
            <a:avLst/>
          </a:prstGeom>
          <a:noFill/>
        </p:spPr>
        <p:txBody>
          <a:bodyPr wrap="square" rtlCol="0" anchor="ctr"/>
          <a:lstStyle/>
          <a:p>
            <a:pPr marL="0" indent="0" algn="just">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Định dạng phổ biến trong Agile</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5" name="Shape 13"/>
          <p:cNvSpPr/>
          <p:nvPr>
            <p:custDataLst>
              <p:tags r:id="rId10"/>
            </p:custDataLst>
          </p:nvPr>
        </p:nvSpPr>
        <p:spPr>
          <a:xfrm>
            <a:off x="320040" y="3940810"/>
            <a:ext cx="4023360" cy="758190"/>
          </a:xfrm>
          <a:prstGeom prst="roundRect">
            <a:avLst>
              <a:gd name="adj" fmla="val 9756"/>
            </a:avLst>
          </a:prstGeom>
          <a:solidFill>
            <a:srgbClr val="E8F6FC"/>
          </a:solidFill>
          <a:effectLst>
            <a:outerShdw blurRad="101600" dist="38100" dir="2700000" algn="bl" rotWithShape="0">
              <a:srgbClr val="000000">
                <a:alpha val="12000"/>
              </a:srgbClr>
            </a:outerShdw>
          </a:effectLst>
        </p:spPr>
      </p:sp>
      <p:sp>
        <p:nvSpPr>
          <p:cNvPr id="16" name="Text 14"/>
          <p:cNvSpPr/>
          <p:nvPr>
            <p:custDataLst>
              <p:tags r:id="rId11"/>
            </p:custDataLst>
          </p:nvPr>
        </p:nvSpPr>
        <p:spPr>
          <a:xfrm>
            <a:off x="457200" y="3994150"/>
            <a:ext cx="3749040" cy="277495"/>
          </a:xfrm>
          <a:prstGeom prst="rect">
            <a:avLst/>
          </a:prstGeom>
          <a:noFill/>
        </p:spPr>
        <p:txBody>
          <a:bodyPr wrap="square" rtlCol="0" anchor="ctr"/>
          <a:lstStyle/>
          <a:p>
            <a:pPr marL="0" indent="0" algn="just">
              <a:buNone/>
            </a:pPr>
            <a:r>
              <a:rPr lang="en-US" sz="1600" b="1" dirty="0">
                <a:solidFill>
                  <a:srgbClr val="0A7EA4"/>
                </a:solidFill>
                <a:latin typeface="Times New Roman" panose="02020603050405020304" charset="0"/>
                <a:ea typeface="Calibri" panose="020F0502020204030204" pitchFamily="34" charset="-122"/>
                <a:cs typeface="Times New Roman" panose="02020603050405020304" charset="0"/>
              </a:rPr>
              <a:t>Vấn đề thường gặp</a:t>
            </a:r>
            <a:endParaRPr lang="en-US" sz="16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17" name="Text 15"/>
          <p:cNvSpPr/>
          <p:nvPr>
            <p:custDataLst>
              <p:tags r:id="rId12"/>
            </p:custDataLst>
          </p:nvPr>
        </p:nvSpPr>
        <p:spPr>
          <a:xfrm>
            <a:off x="457200" y="4271645"/>
            <a:ext cx="3749040" cy="350520"/>
          </a:xfrm>
          <a:prstGeom prst="rect">
            <a:avLst/>
          </a:prstGeom>
          <a:noFill/>
        </p:spPr>
        <p:txBody>
          <a:bodyPr wrap="square" rtlCol="0" anchor="ctr"/>
          <a:lstStyle/>
          <a:p>
            <a:pPr marL="0" indent="0" algn="just">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Thiếu thông tin, mơ hồ, không nhất quán</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8" name="Text 16"/>
          <p:cNvSpPr/>
          <p:nvPr/>
        </p:nvSpPr>
        <p:spPr>
          <a:xfrm>
            <a:off x="4800600" y="786765"/>
            <a:ext cx="4023360" cy="347472"/>
          </a:xfrm>
          <a:prstGeom prst="rect">
            <a:avLst/>
          </a:prstGeom>
          <a:noFill/>
        </p:spPr>
        <p:txBody>
          <a:bodyPr wrap="square" rtlCol="0" anchor="ctr"/>
          <a:lstStyle/>
          <a:p>
            <a:pPr marL="0" indent="0">
              <a:buNone/>
            </a:pPr>
            <a:r>
              <a:rPr lang="en-US" sz="2000" b="1" dirty="0">
                <a:solidFill>
                  <a:srgbClr val="F5A623"/>
                </a:solidFill>
                <a:latin typeface="Times New Roman" panose="02020603050405020304" charset="0"/>
                <a:ea typeface="Calibri" panose="020F0502020204030204" pitchFamily="34" charset="-122"/>
                <a:cs typeface="Times New Roman" panose="02020603050405020304" charset="0"/>
              </a:rPr>
              <a:t>Ca kiểm thử (Test Case)</a:t>
            </a:r>
            <a:endParaRPr lang="en-US" sz="2000" b="1" dirty="0">
              <a:solidFill>
                <a:srgbClr val="F5A623"/>
              </a:solidFill>
              <a:latin typeface="Times New Roman" panose="02020603050405020304" charset="0"/>
              <a:ea typeface="Calibri" panose="020F0502020204030204" pitchFamily="34" charset="-122"/>
              <a:cs typeface="Times New Roman" panose="02020603050405020304" charset="0"/>
            </a:endParaRPr>
          </a:p>
        </p:txBody>
      </p:sp>
      <p:sp>
        <p:nvSpPr>
          <p:cNvPr id="19" name="Shape 17"/>
          <p:cNvSpPr/>
          <p:nvPr/>
        </p:nvSpPr>
        <p:spPr>
          <a:xfrm>
            <a:off x="4800600" y="1216533"/>
            <a:ext cx="4023360" cy="3657600"/>
          </a:xfrm>
          <a:prstGeom prst="roundRect">
            <a:avLst>
              <a:gd name="adj" fmla="val 2500"/>
            </a:avLst>
          </a:prstGeom>
          <a:solidFill>
            <a:srgbClr val="FFFFFF"/>
          </a:solidFill>
          <a:effectLst>
            <a:outerShdw blurRad="101600" dist="38100" dir="2700000" algn="bl" rotWithShape="0">
              <a:srgbClr val="000000">
                <a:alpha val="12000"/>
              </a:srgbClr>
            </a:outerShdw>
          </a:effectLst>
        </p:spPr>
      </p:sp>
      <p:sp>
        <p:nvSpPr>
          <p:cNvPr id="20" name="Shape 18"/>
          <p:cNvSpPr/>
          <p:nvPr/>
        </p:nvSpPr>
        <p:spPr>
          <a:xfrm>
            <a:off x="4800600" y="1216533"/>
            <a:ext cx="4023360" cy="384048"/>
          </a:xfrm>
          <a:prstGeom prst="rect">
            <a:avLst/>
          </a:prstGeom>
          <a:solidFill>
            <a:srgbClr val="F5A623"/>
          </a:solidFill>
          <a:ln w="12700">
            <a:solidFill>
              <a:srgbClr val="F5A623"/>
            </a:solidFill>
            <a:prstDash val="solid"/>
          </a:ln>
        </p:spPr>
      </p:sp>
      <p:sp>
        <p:nvSpPr>
          <p:cNvPr id="21" name="Text 19"/>
          <p:cNvSpPr/>
          <p:nvPr/>
        </p:nvSpPr>
        <p:spPr>
          <a:xfrm>
            <a:off x="4800600" y="1216533"/>
            <a:ext cx="4023360" cy="384048"/>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Thành phần cơ bản của Test Case</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2" name="Shape 20"/>
          <p:cNvSpPr/>
          <p:nvPr/>
        </p:nvSpPr>
        <p:spPr>
          <a:xfrm>
            <a:off x="4892040" y="1785493"/>
            <a:ext cx="182880" cy="182880"/>
          </a:xfrm>
          <a:prstGeom prst="ellipse">
            <a:avLst/>
          </a:prstGeom>
          <a:solidFill>
            <a:srgbClr val="F5A623"/>
          </a:solidFill>
        </p:spPr>
      </p:sp>
      <p:sp>
        <p:nvSpPr>
          <p:cNvPr id="23" name="Text 21"/>
          <p:cNvSpPr/>
          <p:nvPr/>
        </p:nvSpPr>
        <p:spPr>
          <a:xfrm>
            <a:off x="5166360" y="1682877"/>
            <a:ext cx="3474720" cy="365760"/>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Mã định danh (TC ID)</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4" name="Shape 22"/>
          <p:cNvSpPr/>
          <p:nvPr/>
        </p:nvSpPr>
        <p:spPr>
          <a:xfrm>
            <a:off x="4892040" y="2279269"/>
            <a:ext cx="182880" cy="182880"/>
          </a:xfrm>
          <a:prstGeom prst="ellipse">
            <a:avLst/>
          </a:prstGeom>
          <a:solidFill>
            <a:srgbClr val="F5A623"/>
          </a:solidFill>
        </p:spPr>
      </p:sp>
      <p:sp>
        <p:nvSpPr>
          <p:cNvPr id="25" name="Text 23"/>
          <p:cNvSpPr/>
          <p:nvPr/>
        </p:nvSpPr>
        <p:spPr>
          <a:xfrm>
            <a:off x="5166360" y="2176653"/>
            <a:ext cx="3474720" cy="365760"/>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Mục tiêu kiểm thử</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6" name="Shape 24"/>
          <p:cNvSpPr/>
          <p:nvPr/>
        </p:nvSpPr>
        <p:spPr>
          <a:xfrm>
            <a:off x="4892040" y="2773045"/>
            <a:ext cx="182880" cy="182880"/>
          </a:xfrm>
          <a:prstGeom prst="ellipse">
            <a:avLst/>
          </a:prstGeom>
          <a:solidFill>
            <a:srgbClr val="F5A623"/>
          </a:solidFill>
        </p:spPr>
      </p:sp>
      <p:sp>
        <p:nvSpPr>
          <p:cNvPr id="27" name="Text 25"/>
          <p:cNvSpPr/>
          <p:nvPr/>
        </p:nvSpPr>
        <p:spPr>
          <a:xfrm>
            <a:off x="5166360" y="2670429"/>
            <a:ext cx="3474720" cy="365760"/>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Điều kiện tiên quyết</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8" name="Shape 26"/>
          <p:cNvSpPr/>
          <p:nvPr/>
        </p:nvSpPr>
        <p:spPr>
          <a:xfrm>
            <a:off x="4892040" y="3266821"/>
            <a:ext cx="182880" cy="182880"/>
          </a:xfrm>
          <a:prstGeom prst="ellipse">
            <a:avLst/>
          </a:prstGeom>
          <a:solidFill>
            <a:srgbClr val="F5A623"/>
          </a:solidFill>
        </p:spPr>
      </p:sp>
      <p:sp>
        <p:nvSpPr>
          <p:cNvPr id="29" name="Text 27"/>
          <p:cNvSpPr/>
          <p:nvPr/>
        </p:nvSpPr>
        <p:spPr>
          <a:xfrm>
            <a:off x="5166360" y="3164205"/>
            <a:ext cx="3474720" cy="365760"/>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Dữ liệu đầu vào</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0" name="Shape 28"/>
          <p:cNvSpPr/>
          <p:nvPr/>
        </p:nvSpPr>
        <p:spPr>
          <a:xfrm>
            <a:off x="4892040" y="3760597"/>
            <a:ext cx="182880" cy="182880"/>
          </a:xfrm>
          <a:prstGeom prst="ellipse">
            <a:avLst/>
          </a:prstGeom>
          <a:solidFill>
            <a:srgbClr val="F5A623"/>
          </a:solidFill>
        </p:spPr>
      </p:sp>
      <p:sp>
        <p:nvSpPr>
          <p:cNvPr id="31" name="Text 29"/>
          <p:cNvSpPr/>
          <p:nvPr/>
        </p:nvSpPr>
        <p:spPr>
          <a:xfrm>
            <a:off x="5166360" y="3657981"/>
            <a:ext cx="3474720" cy="365760"/>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Các bước thực hiện</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2" name="Shape 30"/>
          <p:cNvSpPr/>
          <p:nvPr/>
        </p:nvSpPr>
        <p:spPr>
          <a:xfrm>
            <a:off x="4892040" y="4254373"/>
            <a:ext cx="182880" cy="182880"/>
          </a:xfrm>
          <a:prstGeom prst="ellipse">
            <a:avLst/>
          </a:prstGeom>
          <a:solidFill>
            <a:srgbClr val="F5A623"/>
          </a:solidFill>
        </p:spPr>
      </p:sp>
      <p:sp>
        <p:nvSpPr>
          <p:cNvPr id="33" name="Text 31"/>
          <p:cNvSpPr/>
          <p:nvPr/>
        </p:nvSpPr>
        <p:spPr>
          <a:xfrm>
            <a:off x="5166360" y="4151757"/>
            <a:ext cx="3474720" cy="365760"/>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Kết quả mong đợi</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295275" y="164465"/>
            <a:ext cx="8555990" cy="457200"/>
          </a:xfrm>
          <a:prstGeom prst="rect">
            <a:avLst/>
          </a:prstGeom>
          <a:noFill/>
        </p:spPr>
        <p:txBody>
          <a:bodyPr wrap="square" rtlCol="0" anchor="ctr"/>
          <a:lstStyle/>
          <a:p>
            <a:pPr marL="0" indent="0">
              <a:buNone/>
            </a:pPr>
            <a:r>
              <a:rPr lang="en-US" sz="2600" b="1" dirty="0">
                <a:solidFill>
                  <a:srgbClr val="0D2137"/>
                </a:solidFill>
                <a:latin typeface="Times New Roman" panose="02020603050405020304" charset="0"/>
                <a:ea typeface="Calibri" panose="020F0502020204030204" pitchFamily="34" charset="-122"/>
                <a:cs typeface="Times New Roman" panose="02020603050405020304" charset="0"/>
              </a:rPr>
              <a:t>PROMPT ENGINEERING </a:t>
            </a:r>
            <a:r>
              <a:rPr lang="vi-VN" altLang="en-US" sz="2600" b="1" dirty="0">
                <a:solidFill>
                  <a:srgbClr val="0D2137"/>
                </a:solidFill>
                <a:latin typeface="Times New Roman" panose="02020603050405020304" charset="0"/>
                <a:ea typeface="Calibri" panose="020F0502020204030204" pitchFamily="34" charset="-122"/>
                <a:cs typeface="Times New Roman" panose="02020603050405020304" charset="0"/>
              </a:rPr>
              <a:t>VÀ</a:t>
            </a:r>
            <a:r>
              <a:rPr lang="en-US" sz="2600" b="1" dirty="0">
                <a:solidFill>
                  <a:srgbClr val="0D2137"/>
                </a:solidFill>
                <a:latin typeface="Times New Roman" panose="02020603050405020304" charset="0"/>
                <a:ea typeface="Calibri" panose="020F0502020204030204" pitchFamily="34" charset="-122"/>
                <a:cs typeface="Times New Roman" panose="02020603050405020304" charset="0"/>
              </a:rPr>
              <a:t> RAG TRONG KIỂM THỬ</a:t>
            </a:r>
            <a:endParaRPr lang="en-US" sz="26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38785" y="584200"/>
            <a:ext cx="8229600" cy="36576"/>
          </a:xfrm>
          <a:prstGeom prst="rect">
            <a:avLst/>
          </a:prstGeom>
          <a:solidFill>
            <a:srgbClr val="0A7EA4"/>
          </a:solidFill>
          <a:ln w="12700">
            <a:solidFill>
              <a:srgbClr val="0A7EA4"/>
            </a:solidFill>
            <a:prstDash val="solid"/>
          </a:ln>
        </p:spPr>
      </p:sp>
      <p:sp>
        <p:nvSpPr>
          <p:cNvPr id="5" name="Text 3"/>
          <p:cNvSpPr/>
          <p:nvPr/>
        </p:nvSpPr>
        <p:spPr>
          <a:xfrm>
            <a:off x="320040" y="777240"/>
            <a:ext cx="4114800" cy="347472"/>
          </a:xfrm>
          <a:prstGeom prst="rect">
            <a:avLst/>
          </a:prstGeom>
          <a:noFill/>
        </p:spPr>
        <p:txBody>
          <a:bodyPr wrap="square" rtlCol="0" anchor="ctr"/>
          <a:lstStyle/>
          <a:p>
            <a:pPr marL="0" indent="0">
              <a:buNone/>
            </a:pPr>
            <a:r>
              <a:rPr lang="en-US" sz="2000" b="1" dirty="0">
                <a:solidFill>
                  <a:srgbClr val="0A7EA4"/>
                </a:solidFill>
                <a:latin typeface="Times New Roman" panose="02020603050405020304" charset="0"/>
                <a:ea typeface="Calibri" panose="020F0502020204030204" pitchFamily="34" charset="-122"/>
                <a:cs typeface="Times New Roman" panose="02020603050405020304" charset="0"/>
              </a:rPr>
              <a:t>Prompt Engineering</a:t>
            </a:r>
            <a:endParaRPr lang="en-US" sz="20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6" name="Shape 4"/>
          <p:cNvSpPr/>
          <p:nvPr/>
        </p:nvSpPr>
        <p:spPr>
          <a:xfrm>
            <a:off x="66675" y="1234440"/>
            <a:ext cx="4368165" cy="731520"/>
          </a:xfrm>
          <a:prstGeom prst="roundRect">
            <a:avLst>
              <a:gd name="adj" fmla="val 10000"/>
            </a:avLst>
          </a:prstGeom>
          <a:solidFill>
            <a:srgbClr val="FFFFFF"/>
          </a:solidFill>
          <a:effectLst>
            <a:outerShdw blurRad="101600" dist="38100" dir="2700000" algn="bl" rotWithShape="0">
              <a:srgbClr val="000000">
                <a:alpha val="12000"/>
              </a:srgbClr>
            </a:outerShdw>
          </a:effectLst>
        </p:spPr>
      </p:sp>
      <p:sp>
        <p:nvSpPr>
          <p:cNvPr id="7" name="Shape 5"/>
          <p:cNvSpPr/>
          <p:nvPr/>
        </p:nvSpPr>
        <p:spPr>
          <a:xfrm>
            <a:off x="46355" y="1234440"/>
            <a:ext cx="1279525" cy="731520"/>
          </a:xfrm>
          <a:prstGeom prst="roundRect">
            <a:avLst>
              <a:gd name="adj" fmla="val 10000"/>
            </a:avLst>
          </a:prstGeom>
          <a:solidFill>
            <a:srgbClr val="0A7EA4"/>
          </a:solidFill>
        </p:spPr>
      </p:sp>
      <p:sp>
        <p:nvSpPr>
          <p:cNvPr id="8" name="Text 6"/>
          <p:cNvSpPr/>
          <p:nvPr/>
        </p:nvSpPr>
        <p:spPr>
          <a:xfrm>
            <a:off x="18415" y="1234440"/>
            <a:ext cx="1307465" cy="73152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Zero-shot</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9" name="Text 7"/>
          <p:cNvSpPr/>
          <p:nvPr/>
        </p:nvSpPr>
        <p:spPr>
          <a:xfrm>
            <a:off x="1444752" y="1325880"/>
            <a:ext cx="2834640" cy="548640"/>
          </a:xfrm>
          <a:prstGeom prst="rect">
            <a:avLst/>
          </a:prstGeom>
          <a:noFill/>
        </p:spPr>
        <p:txBody>
          <a:bodyPr wrap="square" rtlCol="0" anchor="ctr"/>
          <a:lstStyle/>
          <a:p>
            <a:pPr marL="0" indent="0">
              <a:buNone/>
            </a:pPr>
            <a:r>
              <a:rPr lang="en-US" sz="1600" dirty="0">
                <a:solidFill>
                  <a:schemeClr val="tx1"/>
                </a:solidFill>
                <a:latin typeface="Times New Roman" panose="02020603050405020304" charset="0"/>
                <a:ea typeface="Calibri" panose="020F0502020204030204" pitchFamily="34" charset="-122"/>
                <a:cs typeface="Times New Roman" panose="02020603050405020304" charset="0"/>
              </a:rPr>
              <a:t>Không cung cấp ví dụ mẫu</a:t>
            </a:r>
            <a:r>
              <a:rPr lang="vi-VN" altLang="en-US" sz="16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0" name="Shape 8"/>
          <p:cNvSpPr/>
          <p:nvPr/>
        </p:nvSpPr>
        <p:spPr>
          <a:xfrm>
            <a:off x="320040" y="2093976"/>
            <a:ext cx="4114800" cy="731520"/>
          </a:xfrm>
          <a:prstGeom prst="roundRect">
            <a:avLst>
              <a:gd name="adj" fmla="val 10000"/>
            </a:avLst>
          </a:prstGeom>
          <a:solidFill>
            <a:srgbClr val="FFFFFF"/>
          </a:solidFill>
          <a:effectLst>
            <a:outerShdw blurRad="101600" dist="38100" dir="2700000" algn="bl" rotWithShape="0">
              <a:srgbClr val="000000">
                <a:alpha val="12000"/>
              </a:srgbClr>
            </a:outerShdw>
          </a:effectLst>
        </p:spPr>
      </p:sp>
      <p:sp>
        <p:nvSpPr>
          <p:cNvPr id="11" name="Shape 9"/>
          <p:cNvSpPr/>
          <p:nvPr/>
        </p:nvSpPr>
        <p:spPr>
          <a:xfrm>
            <a:off x="67310" y="2094230"/>
            <a:ext cx="1258570" cy="731520"/>
          </a:xfrm>
          <a:prstGeom prst="roundRect">
            <a:avLst>
              <a:gd name="adj" fmla="val 10000"/>
            </a:avLst>
          </a:prstGeom>
          <a:solidFill>
            <a:srgbClr val="0A7EA4"/>
          </a:solidFill>
        </p:spPr>
      </p:sp>
      <p:sp>
        <p:nvSpPr>
          <p:cNvPr id="12" name="Text 10"/>
          <p:cNvSpPr/>
          <p:nvPr/>
        </p:nvSpPr>
        <p:spPr>
          <a:xfrm>
            <a:off x="18415" y="2094230"/>
            <a:ext cx="1307465" cy="73152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Few-shot</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3" name="Text 11"/>
          <p:cNvSpPr/>
          <p:nvPr/>
        </p:nvSpPr>
        <p:spPr>
          <a:xfrm>
            <a:off x="1444752" y="2185416"/>
            <a:ext cx="2834640" cy="548640"/>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Cung cấp một số ví dụ hướng dẫn</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4" name="Shape 12"/>
          <p:cNvSpPr/>
          <p:nvPr/>
        </p:nvSpPr>
        <p:spPr>
          <a:xfrm>
            <a:off x="320040" y="2953512"/>
            <a:ext cx="4114800" cy="731520"/>
          </a:xfrm>
          <a:prstGeom prst="roundRect">
            <a:avLst>
              <a:gd name="adj" fmla="val 10000"/>
            </a:avLst>
          </a:prstGeom>
          <a:solidFill>
            <a:srgbClr val="FFFFFF"/>
          </a:solidFill>
          <a:effectLst>
            <a:outerShdw blurRad="101600" dist="38100" dir="2700000" algn="bl" rotWithShape="0">
              <a:srgbClr val="000000">
                <a:alpha val="12000"/>
              </a:srgbClr>
            </a:outerShdw>
          </a:effectLst>
        </p:spPr>
      </p:sp>
      <p:sp>
        <p:nvSpPr>
          <p:cNvPr id="15" name="Shape 13"/>
          <p:cNvSpPr/>
          <p:nvPr/>
        </p:nvSpPr>
        <p:spPr>
          <a:xfrm>
            <a:off x="67310" y="2953385"/>
            <a:ext cx="1258570" cy="731520"/>
          </a:xfrm>
          <a:prstGeom prst="roundRect">
            <a:avLst>
              <a:gd name="adj" fmla="val 10000"/>
            </a:avLst>
          </a:prstGeom>
          <a:solidFill>
            <a:srgbClr val="0A7EA4"/>
          </a:solidFill>
        </p:spPr>
      </p:sp>
      <p:sp>
        <p:nvSpPr>
          <p:cNvPr id="16" name="Text 14"/>
          <p:cNvSpPr/>
          <p:nvPr/>
        </p:nvSpPr>
        <p:spPr>
          <a:xfrm>
            <a:off x="18415" y="2953385"/>
            <a:ext cx="1307465" cy="73152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Chain</a:t>
            </a:r>
            <a:r>
              <a:rPr lang="vi-VN" altLang="en-US" sz="1600" b="1" dirty="0">
                <a:solidFill>
                  <a:srgbClr val="FFFFFF"/>
                </a:solidFill>
                <a:latin typeface="Times New Roman" panose="02020603050405020304" charset="0"/>
                <a:ea typeface="Calibri" panose="020F0502020204030204" pitchFamily="34" charset="-122"/>
                <a:cs typeface="Times New Roman" panose="02020603050405020304" charset="0"/>
              </a:rPr>
              <a:t>-</a:t>
            </a: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of-Thought</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7" name="Text 15"/>
          <p:cNvSpPr/>
          <p:nvPr/>
        </p:nvSpPr>
        <p:spPr>
          <a:xfrm>
            <a:off x="1444752" y="3044952"/>
            <a:ext cx="2834640" cy="548640"/>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Yêu cầu suy luận từng bước</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8" name="Shape 16"/>
          <p:cNvSpPr/>
          <p:nvPr/>
        </p:nvSpPr>
        <p:spPr>
          <a:xfrm>
            <a:off x="320040" y="3813048"/>
            <a:ext cx="4114800" cy="731520"/>
          </a:xfrm>
          <a:prstGeom prst="roundRect">
            <a:avLst>
              <a:gd name="adj" fmla="val 10000"/>
            </a:avLst>
          </a:prstGeom>
          <a:solidFill>
            <a:srgbClr val="FFFFFF"/>
          </a:solidFill>
          <a:effectLst>
            <a:outerShdw blurRad="101600" dist="38100" dir="2700000" algn="bl" rotWithShape="0">
              <a:srgbClr val="000000">
                <a:alpha val="12000"/>
              </a:srgbClr>
            </a:outerShdw>
          </a:effectLst>
        </p:spPr>
      </p:sp>
      <p:sp>
        <p:nvSpPr>
          <p:cNvPr id="19" name="Shape 17"/>
          <p:cNvSpPr/>
          <p:nvPr/>
        </p:nvSpPr>
        <p:spPr>
          <a:xfrm>
            <a:off x="67310" y="3813175"/>
            <a:ext cx="1258570" cy="731520"/>
          </a:xfrm>
          <a:prstGeom prst="roundRect">
            <a:avLst>
              <a:gd name="adj" fmla="val 10000"/>
            </a:avLst>
          </a:prstGeom>
          <a:solidFill>
            <a:srgbClr val="0A7EA4"/>
          </a:solidFill>
        </p:spPr>
      </p:sp>
      <p:sp>
        <p:nvSpPr>
          <p:cNvPr id="20" name="Text 18"/>
          <p:cNvSpPr/>
          <p:nvPr/>
        </p:nvSpPr>
        <p:spPr>
          <a:xfrm>
            <a:off x="18415" y="3813175"/>
            <a:ext cx="1307465" cy="73152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Role-based</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1" name="Text 19"/>
          <p:cNvSpPr/>
          <p:nvPr/>
        </p:nvSpPr>
        <p:spPr>
          <a:xfrm>
            <a:off x="1444752" y="3904488"/>
            <a:ext cx="2834640" cy="548640"/>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Gán vai QA Engineer cho mô hình</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2" name="Text 20"/>
          <p:cNvSpPr/>
          <p:nvPr/>
        </p:nvSpPr>
        <p:spPr>
          <a:xfrm>
            <a:off x="4434840" y="777240"/>
            <a:ext cx="4663440" cy="347345"/>
          </a:xfrm>
          <a:prstGeom prst="rect">
            <a:avLst/>
          </a:prstGeom>
          <a:noFill/>
        </p:spPr>
        <p:txBody>
          <a:bodyPr wrap="square" rtlCol="0" anchor="ctr"/>
          <a:lstStyle/>
          <a:p>
            <a:pPr marL="0" indent="0">
              <a:buNone/>
            </a:pPr>
            <a:r>
              <a:rPr lang="en-US" sz="2000" b="1" dirty="0">
                <a:solidFill>
                  <a:srgbClr val="7C3AED"/>
                </a:solidFill>
                <a:latin typeface="Times New Roman" panose="02020603050405020304" charset="0"/>
                <a:ea typeface="Calibri" panose="020F0502020204030204" pitchFamily="34" charset="-122"/>
                <a:cs typeface="Times New Roman" panose="02020603050405020304" charset="0"/>
              </a:rPr>
              <a:t>RAG - Retrieval-Augmented Generation</a:t>
            </a:r>
            <a:endParaRPr lang="en-US" sz="2000" b="1" dirty="0">
              <a:solidFill>
                <a:srgbClr val="7C3AED"/>
              </a:solidFill>
              <a:latin typeface="Times New Roman" panose="02020603050405020304" charset="0"/>
              <a:ea typeface="Calibri" panose="020F0502020204030204" pitchFamily="34" charset="-122"/>
              <a:cs typeface="Times New Roman" panose="02020603050405020304" charset="0"/>
            </a:endParaRPr>
          </a:p>
        </p:txBody>
      </p:sp>
      <p:sp>
        <p:nvSpPr>
          <p:cNvPr id="23" name="Shape 21"/>
          <p:cNvSpPr/>
          <p:nvPr/>
        </p:nvSpPr>
        <p:spPr>
          <a:xfrm>
            <a:off x="4709160" y="1207135"/>
            <a:ext cx="4114800" cy="3763010"/>
          </a:xfrm>
          <a:prstGeom prst="roundRect">
            <a:avLst>
              <a:gd name="adj" fmla="val 2500"/>
            </a:avLst>
          </a:prstGeom>
          <a:solidFill>
            <a:srgbClr val="FFFFFF"/>
          </a:solidFill>
          <a:effectLst>
            <a:outerShdw blurRad="101600" dist="38100" dir="2700000" algn="bl" rotWithShape="0">
              <a:srgbClr val="000000">
                <a:alpha val="12000"/>
              </a:srgbClr>
            </a:outerShdw>
          </a:effectLst>
        </p:spPr>
      </p:sp>
      <p:sp>
        <p:nvSpPr>
          <p:cNvPr id="24" name="Text 22"/>
          <p:cNvSpPr/>
          <p:nvPr/>
        </p:nvSpPr>
        <p:spPr>
          <a:xfrm>
            <a:off x="4846320" y="1298448"/>
            <a:ext cx="3794760" cy="640080"/>
          </a:xfrm>
          <a:prstGeom prst="rect">
            <a:avLst/>
          </a:prstGeom>
          <a:noFill/>
        </p:spPr>
        <p:txBody>
          <a:bodyPr wrap="square" rtlCol="0" anchor="ctr"/>
          <a:lstStyle/>
          <a:p>
            <a:pPr marL="0" indent="0" algn="just">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RAG kết hợp truy xuất tri thức ngoài với khả năng sinh ngôn ngữ của LLM, giúp mô hình tham chiếu tài liệu thực tế của dự án.</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5" name="Shape 23"/>
          <p:cNvSpPr/>
          <p:nvPr/>
        </p:nvSpPr>
        <p:spPr>
          <a:xfrm>
            <a:off x="4873625" y="2185543"/>
            <a:ext cx="201168" cy="201168"/>
          </a:xfrm>
          <a:prstGeom prst="ellipse">
            <a:avLst/>
          </a:prstGeom>
          <a:solidFill>
            <a:srgbClr val="7C3AED"/>
          </a:solidFill>
        </p:spPr>
      </p:sp>
      <p:sp>
        <p:nvSpPr>
          <p:cNvPr id="26" name="Text 24"/>
          <p:cNvSpPr/>
          <p:nvPr/>
        </p:nvSpPr>
        <p:spPr>
          <a:xfrm>
            <a:off x="5075047" y="2029968"/>
            <a:ext cx="3566160" cy="475488"/>
          </a:xfrm>
          <a:prstGeom prst="rect">
            <a:avLst/>
          </a:prstGeom>
          <a:noFill/>
        </p:spPr>
        <p:txBody>
          <a:bodyPr wrap="square" rtlCol="0" anchor="ctr"/>
          <a:lstStyle/>
          <a:p>
            <a:pPr marL="0" indent="0" algn="just">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Tăng độ chính xác của thông tin sinh ra</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7" name="Shape 25"/>
          <p:cNvSpPr/>
          <p:nvPr/>
        </p:nvSpPr>
        <p:spPr>
          <a:xfrm>
            <a:off x="4873625" y="2715768"/>
            <a:ext cx="201168" cy="201168"/>
          </a:xfrm>
          <a:prstGeom prst="ellipse">
            <a:avLst/>
          </a:prstGeom>
          <a:solidFill>
            <a:srgbClr val="7C3AED"/>
          </a:solidFill>
        </p:spPr>
      </p:sp>
      <p:sp>
        <p:nvSpPr>
          <p:cNvPr id="28" name="Text 26"/>
          <p:cNvSpPr/>
          <p:nvPr/>
        </p:nvSpPr>
        <p:spPr>
          <a:xfrm>
            <a:off x="5102352" y="2568448"/>
            <a:ext cx="3566160" cy="475488"/>
          </a:xfrm>
          <a:prstGeom prst="rect">
            <a:avLst/>
          </a:prstGeom>
          <a:noFill/>
        </p:spPr>
        <p:txBody>
          <a:bodyPr wrap="square" rtlCol="0" anchor="ctr"/>
          <a:lstStyle/>
          <a:p>
            <a:pPr marL="0" indent="0" algn="just">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Giảm hiện tượng Hallucination</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9" name="Shape 27"/>
          <p:cNvSpPr/>
          <p:nvPr/>
        </p:nvSpPr>
        <p:spPr>
          <a:xfrm>
            <a:off x="4873625" y="3269488"/>
            <a:ext cx="201168" cy="201168"/>
          </a:xfrm>
          <a:prstGeom prst="ellipse">
            <a:avLst/>
          </a:prstGeom>
          <a:solidFill>
            <a:srgbClr val="7C3AED"/>
          </a:solidFill>
        </p:spPr>
      </p:sp>
      <p:sp>
        <p:nvSpPr>
          <p:cNvPr id="30" name="Text 28"/>
          <p:cNvSpPr/>
          <p:nvPr/>
        </p:nvSpPr>
        <p:spPr>
          <a:xfrm>
            <a:off x="5102352" y="3106928"/>
            <a:ext cx="3566160" cy="475488"/>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Test case phù hợp với tài liệu thực tế</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1" name="Shape 29"/>
          <p:cNvSpPr/>
          <p:nvPr/>
        </p:nvSpPr>
        <p:spPr>
          <a:xfrm>
            <a:off x="4873625" y="3823208"/>
            <a:ext cx="201168" cy="201168"/>
          </a:xfrm>
          <a:prstGeom prst="ellipse">
            <a:avLst/>
          </a:prstGeom>
          <a:solidFill>
            <a:srgbClr val="7C3AED"/>
          </a:solidFill>
        </p:spPr>
      </p:sp>
      <p:sp>
        <p:nvSpPr>
          <p:cNvPr id="32" name="Text 30"/>
          <p:cNvSpPr/>
          <p:nvPr/>
        </p:nvSpPr>
        <p:spPr>
          <a:xfrm>
            <a:off x="5102225" y="3696335"/>
            <a:ext cx="3695700" cy="475615"/>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Cập nhật tri thức không cần huấn luyện lại</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3" name="Shape 31"/>
          <p:cNvSpPr/>
          <p:nvPr/>
        </p:nvSpPr>
        <p:spPr>
          <a:xfrm>
            <a:off x="4800600" y="4335780"/>
            <a:ext cx="3794760" cy="599440"/>
          </a:xfrm>
          <a:prstGeom prst="roundRect">
            <a:avLst>
              <a:gd name="adj" fmla="val 18182"/>
            </a:avLst>
          </a:prstGeom>
          <a:solidFill>
            <a:srgbClr val="7C3AED">
              <a:alpha val="15000"/>
            </a:srgbClr>
          </a:solidFill>
        </p:spPr>
      </p:sp>
      <p:sp>
        <p:nvSpPr>
          <p:cNvPr id="34" name="Text 32"/>
          <p:cNvSpPr/>
          <p:nvPr/>
        </p:nvSpPr>
        <p:spPr>
          <a:xfrm>
            <a:off x="4800600" y="4326890"/>
            <a:ext cx="3840480" cy="626745"/>
          </a:xfrm>
          <a:prstGeom prst="rect">
            <a:avLst/>
          </a:prstGeom>
          <a:noFill/>
        </p:spPr>
        <p:txBody>
          <a:bodyPr wrap="square" rtlCol="0" anchor="ctr"/>
          <a:lstStyle/>
          <a:p>
            <a:pPr marL="0" indent="0" algn="ctr">
              <a:buNone/>
            </a:pPr>
            <a:r>
              <a:rPr lang="en-US" sz="1600" b="1" dirty="0">
                <a:solidFill>
                  <a:schemeClr val="tx1"/>
                </a:solidFill>
                <a:latin typeface="Times New Roman" panose="02020603050405020304" charset="0"/>
                <a:ea typeface="Calibri" panose="020F0502020204030204" pitchFamily="34" charset="-122"/>
                <a:cs typeface="Times New Roman" panose="02020603050405020304" charset="0"/>
              </a:rPr>
              <a:t>→ Hướng tiếp cận hiệu quả nhất cho hệ thống kiểm thử thông minh</a:t>
            </a:r>
            <a:r>
              <a:rPr lang="vi-VN" altLang="en-US" sz="1600" b="1"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vi-VN" altLang="en-US" sz="1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319405" y="164465"/>
            <a:ext cx="8796655" cy="457200"/>
          </a:xfrm>
          <a:prstGeom prst="rect">
            <a:avLst/>
          </a:prstGeom>
          <a:noFill/>
        </p:spPr>
        <p:txBody>
          <a:bodyPr wrap="square" rtlCol="0" anchor="ctr"/>
          <a:lstStyle/>
          <a:p>
            <a:pPr marL="0" indent="0">
              <a:buNone/>
            </a:pPr>
            <a:r>
              <a:rPr lang="en-US" sz="2600" b="1" dirty="0">
                <a:solidFill>
                  <a:srgbClr val="0D2137"/>
                </a:solidFill>
                <a:latin typeface="Times New Roman" panose="02020603050405020304" charset="0"/>
                <a:ea typeface="Calibri" panose="020F0502020204030204" pitchFamily="34" charset="-122"/>
                <a:cs typeface="Times New Roman" panose="02020603050405020304" charset="0"/>
              </a:rPr>
              <a:t>SO SÁNH PHƯƠNG PHÁP TRUYỀN THỐNG </a:t>
            </a:r>
            <a:r>
              <a:rPr lang="vi-VN" altLang="en-US" sz="2600" b="1" dirty="0">
                <a:solidFill>
                  <a:srgbClr val="0D2137"/>
                </a:solidFill>
                <a:latin typeface="Times New Roman" panose="02020603050405020304" charset="0"/>
                <a:ea typeface="Calibri" panose="020F0502020204030204" pitchFamily="34" charset="-122"/>
                <a:cs typeface="Times New Roman" panose="02020603050405020304" charset="0"/>
              </a:rPr>
              <a:t>VỚI</a:t>
            </a:r>
            <a:r>
              <a:rPr lang="en-US" sz="2600" b="1" dirty="0">
                <a:solidFill>
                  <a:srgbClr val="0D2137"/>
                </a:solidFill>
                <a:latin typeface="Times New Roman" panose="02020603050405020304" charset="0"/>
                <a:ea typeface="Calibri" panose="020F0502020204030204" pitchFamily="34" charset="-122"/>
                <a:cs typeface="Times New Roman" panose="02020603050405020304" charset="0"/>
              </a:rPr>
              <a:t> LLM</a:t>
            </a:r>
            <a:endParaRPr lang="en-US" sz="26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640080"/>
            <a:ext cx="8229600" cy="36576"/>
          </a:xfrm>
          <a:prstGeom prst="rect">
            <a:avLst/>
          </a:prstGeom>
          <a:solidFill>
            <a:srgbClr val="0A7EA4"/>
          </a:solidFill>
          <a:ln w="12700">
            <a:solidFill>
              <a:srgbClr val="0A7EA4"/>
            </a:solidFill>
            <a:prstDash val="solid"/>
          </a:ln>
        </p:spPr>
      </p:sp>
      <p:sp>
        <p:nvSpPr>
          <p:cNvPr id="5" name="Shape 3"/>
          <p:cNvSpPr/>
          <p:nvPr/>
        </p:nvSpPr>
        <p:spPr>
          <a:xfrm>
            <a:off x="320040" y="777240"/>
            <a:ext cx="2286000" cy="411480"/>
          </a:xfrm>
          <a:prstGeom prst="rect">
            <a:avLst/>
          </a:prstGeom>
          <a:solidFill>
            <a:srgbClr val="0D2137"/>
          </a:solidFill>
          <a:ln w="12700">
            <a:solidFill>
              <a:srgbClr val="0D2137"/>
            </a:solidFill>
            <a:prstDash val="solid"/>
          </a:ln>
        </p:spPr>
      </p:sp>
      <p:sp>
        <p:nvSpPr>
          <p:cNvPr id="6" name="Text 4"/>
          <p:cNvSpPr/>
          <p:nvPr/>
        </p:nvSpPr>
        <p:spPr>
          <a:xfrm>
            <a:off x="320040" y="777240"/>
            <a:ext cx="2286000" cy="41148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Tiêu chí</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7" name="Shape 5"/>
          <p:cNvSpPr/>
          <p:nvPr/>
        </p:nvSpPr>
        <p:spPr>
          <a:xfrm>
            <a:off x="2606040" y="777240"/>
            <a:ext cx="2926080" cy="411480"/>
          </a:xfrm>
          <a:prstGeom prst="rect">
            <a:avLst/>
          </a:prstGeom>
          <a:solidFill>
            <a:srgbClr val="EF4444"/>
          </a:solidFill>
          <a:ln w="12700">
            <a:solidFill>
              <a:srgbClr val="EF4444"/>
            </a:solidFill>
            <a:prstDash val="solid"/>
          </a:ln>
        </p:spPr>
      </p:sp>
      <p:sp>
        <p:nvSpPr>
          <p:cNvPr id="8" name="Text 6"/>
          <p:cNvSpPr/>
          <p:nvPr/>
        </p:nvSpPr>
        <p:spPr>
          <a:xfrm>
            <a:off x="2606040" y="777240"/>
            <a:ext cx="2926080" cy="41148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Phương pháp truyền thống</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9" name="Shape 7"/>
          <p:cNvSpPr/>
          <p:nvPr/>
        </p:nvSpPr>
        <p:spPr>
          <a:xfrm>
            <a:off x="5532120" y="777240"/>
            <a:ext cx="2926080" cy="411480"/>
          </a:xfrm>
          <a:prstGeom prst="rect">
            <a:avLst/>
          </a:prstGeom>
          <a:solidFill>
            <a:srgbClr val="0A7EA4"/>
          </a:solidFill>
          <a:ln w="12700">
            <a:solidFill>
              <a:srgbClr val="0A7EA4"/>
            </a:solidFill>
            <a:prstDash val="solid"/>
          </a:ln>
        </p:spPr>
      </p:sp>
      <p:sp>
        <p:nvSpPr>
          <p:cNvPr id="10" name="Text 8"/>
          <p:cNvSpPr/>
          <p:nvPr/>
        </p:nvSpPr>
        <p:spPr>
          <a:xfrm>
            <a:off x="5532120" y="777240"/>
            <a:ext cx="2926080" cy="41148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Sử dụng LLM</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1" name="Shape 9"/>
          <p:cNvSpPr/>
          <p:nvPr/>
        </p:nvSpPr>
        <p:spPr>
          <a:xfrm>
            <a:off x="320040" y="1188720"/>
            <a:ext cx="2286000" cy="502920"/>
          </a:xfrm>
          <a:prstGeom prst="rect">
            <a:avLst/>
          </a:prstGeom>
          <a:solidFill>
            <a:srgbClr val="F1F5F9"/>
          </a:solidFill>
          <a:ln w="6350">
            <a:solidFill>
              <a:srgbClr val="D1D5DB"/>
            </a:solidFill>
            <a:prstDash val="solid"/>
          </a:ln>
        </p:spPr>
      </p:sp>
      <p:sp>
        <p:nvSpPr>
          <p:cNvPr id="12" name="Text 10"/>
          <p:cNvSpPr/>
          <p:nvPr/>
        </p:nvSpPr>
        <p:spPr>
          <a:xfrm>
            <a:off x="393192" y="1188720"/>
            <a:ext cx="2139696" cy="502920"/>
          </a:xfrm>
          <a:prstGeom prst="rect">
            <a:avLst/>
          </a:prstGeom>
          <a:noFill/>
        </p:spPr>
        <p:txBody>
          <a:bodyPr wrap="square" rtlCol="0" anchor="ctr"/>
          <a:lstStyle/>
          <a:p>
            <a:pPr marL="0" indent="0" algn="l">
              <a:buNone/>
            </a:pPr>
            <a:r>
              <a:rPr lang="en-US" sz="1600" b="1" dirty="0">
                <a:solidFill>
                  <a:srgbClr val="0D2137"/>
                </a:solidFill>
                <a:latin typeface="Times New Roman" panose="02020603050405020304" charset="0"/>
                <a:ea typeface="Calibri" panose="020F0502020204030204" pitchFamily="34" charset="-122"/>
                <a:cs typeface="Times New Roman" panose="02020603050405020304" charset="0"/>
              </a:rPr>
              <a:t>Phân tích yêu cầu</a:t>
            </a:r>
            <a:endParaRPr lang="en-US" sz="16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13" name="Shape 11"/>
          <p:cNvSpPr/>
          <p:nvPr/>
        </p:nvSpPr>
        <p:spPr>
          <a:xfrm>
            <a:off x="2606040" y="1188720"/>
            <a:ext cx="2926080" cy="502920"/>
          </a:xfrm>
          <a:prstGeom prst="rect">
            <a:avLst/>
          </a:prstGeom>
          <a:solidFill>
            <a:srgbClr val="F1F5F9"/>
          </a:solidFill>
          <a:ln w="6350">
            <a:solidFill>
              <a:srgbClr val="D1D5DB"/>
            </a:solidFill>
            <a:prstDash val="solid"/>
          </a:ln>
        </p:spPr>
      </p:sp>
      <p:sp>
        <p:nvSpPr>
          <p:cNvPr id="14" name="Text 12"/>
          <p:cNvSpPr/>
          <p:nvPr/>
        </p:nvSpPr>
        <p:spPr>
          <a:xfrm>
            <a:off x="2679192" y="118872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Thực hiện thủ công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5" name="Shape 13"/>
          <p:cNvSpPr/>
          <p:nvPr/>
        </p:nvSpPr>
        <p:spPr>
          <a:xfrm>
            <a:off x="5532120" y="1188720"/>
            <a:ext cx="2926080" cy="502920"/>
          </a:xfrm>
          <a:prstGeom prst="rect">
            <a:avLst/>
          </a:prstGeom>
          <a:solidFill>
            <a:srgbClr val="E8F6FC"/>
          </a:solidFill>
          <a:ln w="6350">
            <a:solidFill>
              <a:srgbClr val="D1D5DB"/>
            </a:solidFill>
            <a:prstDash val="solid"/>
          </a:ln>
        </p:spPr>
      </p:sp>
      <p:sp>
        <p:nvSpPr>
          <p:cNvPr id="16" name="Text 14"/>
          <p:cNvSpPr/>
          <p:nvPr/>
        </p:nvSpPr>
        <p:spPr>
          <a:xfrm>
            <a:off x="5605272" y="118872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Hỗ trợ tự động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7" name="Shape 15"/>
          <p:cNvSpPr/>
          <p:nvPr/>
        </p:nvSpPr>
        <p:spPr>
          <a:xfrm>
            <a:off x="320040" y="1691640"/>
            <a:ext cx="2286000" cy="502920"/>
          </a:xfrm>
          <a:prstGeom prst="rect">
            <a:avLst/>
          </a:prstGeom>
          <a:solidFill>
            <a:srgbClr val="FFFFFF"/>
          </a:solidFill>
          <a:ln w="6350">
            <a:solidFill>
              <a:srgbClr val="D1D5DB"/>
            </a:solidFill>
            <a:prstDash val="solid"/>
          </a:ln>
        </p:spPr>
      </p:sp>
      <p:sp>
        <p:nvSpPr>
          <p:cNvPr id="18" name="Text 16"/>
          <p:cNvSpPr/>
          <p:nvPr/>
        </p:nvSpPr>
        <p:spPr>
          <a:xfrm>
            <a:off x="393192" y="1691640"/>
            <a:ext cx="2139696" cy="502920"/>
          </a:xfrm>
          <a:prstGeom prst="rect">
            <a:avLst/>
          </a:prstGeom>
          <a:noFill/>
        </p:spPr>
        <p:txBody>
          <a:bodyPr wrap="square" rtlCol="0" anchor="ctr"/>
          <a:lstStyle/>
          <a:p>
            <a:pPr marL="0" indent="0" algn="l">
              <a:buNone/>
            </a:pPr>
            <a:r>
              <a:rPr lang="en-US" sz="1600" b="1" dirty="0">
                <a:solidFill>
                  <a:srgbClr val="0D2137"/>
                </a:solidFill>
                <a:latin typeface="Times New Roman" panose="02020603050405020304" charset="0"/>
                <a:ea typeface="Calibri" panose="020F0502020204030204" pitchFamily="34" charset="-122"/>
                <a:cs typeface="Times New Roman" panose="02020603050405020304" charset="0"/>
              </a:rPr>
              <a:t>Sinh Test Case</a:t>
            </a:r>
            <a:endParaRPr lang="en-US" sz="16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19" name="Shape 17"/>
          <p:cNvSpPr/>
          <p:nvPr/>
        </p:nvSpPr>
        <p:spPr>
          <a:xfrm>
            <a:off x="2606040" y="1691640"/>
            <a:ext cx="2926080" cy="502920"/>
          </a:xfrm>
          <a:prstGeom prst="rect">
            <a:avLst/>
          </a:prstGeom>
          <a:solidFill>
            <a:srgbClr val="FFFFFF"/>
          </a:solidFill>
          <a:ln w="6350">
            <a:solidFill>
              <a:srgbClr val="D1D5DB"/>
            </a:solidFill>
            <a:prstDash val="solid"/>
          </a:ln>
        </p:spPr>
      </p:sp>
      <p:sp>
        <p:nvSpPr>
          <p:cNvPr id="20" name="Text 18"/>
          <p:cNvSpPr/>
          <p:nvPr/>
        </p:nvSpPr>
        <p:spPr>
          <a:xfrm>
            <a:off x="2679192" y="169164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Tester xây dựng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1" name="Shape 19"/>
          <p:cNvSpPr/>
          <p:nvPr/>
        </p:nvSpPr>
        <p:spPr>
          <a:xfrm>
            <a:off x="5532120" y="1691640"/>
            <a:ext cx="2926080" cy="502920"/>
          </a:xfrm>
          <a:prstGeom prst="rect">
            <a:avLst/>
          </a:prstGeom>
          <a:solidFill>
            <a:srgbClr val="E8F6FC"/>
          </a:solidFill>
          <a:ln w="6350">
            <a:solidFill>
              <a:srgbClr val="D1D5DB"/>
            </a:solidFill>
            <a:prstDash val="solid"/>
          </a:ln>
        </p:spPr>
      </p:sp>
      <p:sp>
        <p:nvSpPr>
          <p:cNvPr id="22" name="Text 20"/>
          <p:cNvSpPr/>
          <p:nvPr/>
        </p:nvSpPr>
        <p:spPr>
          <a:xfrm>
            <a:off x="5605272" y="169164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Sinh tự động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3" name="Shape 21"/>
          <p:cNvSpPr/>
          <p:nvPr/>
        </p:nvSpPr>
        <p:spPr>
          <a:xfrm>
            <a:off x="320040" y="2194560"/>
            <a:ext cx="2286000" cy="502920"/>
          </a:xfrm>
          <a:prstGeom prst="rect">
            <a:avLst/>
          </a:prstGeom>
          <a:solidFill>
            <a:srgbClr val="F1F5F9"/>
          </a:solidFill>
          <a:ln w="6350">
            <a:solidFill>
              <a:srgbClr val="D1D5DB"/>
            </a:solidFill>
            <a:prstDash val="solid"/>
          </a:ln>
        </p:spPr>
      </p:sp>
      <p:sp>
        <p:nvSpPr>
          <p:cNvPr id="24" name="Text 22"/>
          <p:cNvSpPr/>
          <p:nvPr/>
        </p:nvSpPr>
        <p:spPr>
          <a:xfrm>
            <a:off x="393192" y="2194560"/>
            <a:ext cx="2139696" cy="502920"/>
          </a:xfrm>
          <a:prstGeom prst="rect">
            <a:avLst/>
          </a:prstGeom>
          <a:noFill/>
        </p:spPr>
        <p:txBody>
          <a:bodyPr wrap="square" rtlCol="0" anchor="ctr"/>
          <a:lstStyle/>
          <a:p>
            <a:pPr marL="0" indent="0" algn="l">
              <a:buNone/>
            </a:pPr>
            <a:r>
              <a:rPr lang="en-US" sz="1600" b="1" dirty="0">
                <a:solidFill>
                  <a:srgbClr val="0D2137"/>
                </a:solidFill>
                <a:latin typeface="Times New Roman" panose="02020603050405020304" charset="0"/>
                <a:ea typeface="Calibri" panose="020F0502020204030204" pitchFamily="34" charset="-122"/>
                <a:cs typeface="Times New Roman" panose="02020603050405020304" charset="0"/>
              </a:rPr>
              <a:t>Tốc độ xử lý</a:t>
            </a:r>
            <a:endParaRPr lang="en-US" sz="16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25" name="Shape 23"/>
          <p:cNvSpPr/>
          <p:nvPr/>
        </p:nvSpPr>
        <p:spPr>
          <a:xfrm>
            <a:off x="2606040" y="2194560"/>
            <a:ext cx="2926080" cy="502920"/>
          </a:xfrm>
          <a:prstGeom prst="rect">
            <a:avLst/>
          </a:prstGeom>
          <a:solidFill>
            <a:srgbClr val="F1F5F9"/>
          </a:solidFill>
          <a:ln w="6350">
            <a:solidFill>
              <a:srgbClr val="D1D5DB"/>
            </a:solidFill>
            <a:prstDash val="solid"/>
          </a:ln>
        </p:spPr>
      </p:sp>
      <p:sp>
        <p:nvSpPr>
          <p:cNvPr id="26" name="Text 24"/>
          <p:cNvSpPr/>
          <p:nvPr/>
        </p:nvSpPr>
        <p:spPr>
          <a:xfrm>
            <a:off x="2679192" y="219456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Chậm</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7" name="Shape 25"/>
          <p:cNvSpPr/>
          <p:nvPr/>
        </p:nvSpPr>
        <p:spPr>
          <a:xfrm>
            <a:off x="5532120" y="2194560"/>
            <a:ext cx="2926080" cy="502920"/>
          </a:xfrm>
          <a:prstGeom prst="rect">
            <a:avLst/>
          </a:prstGeom>
          <a:solidFill>
            <a:srgbClr val="E8F6FC"/>
          </a:solidFill>
          <a:ln w="6350">
            <a:solidFill>
              <a:srgbClr val="D1D5DB"/>
            </a:solidFill>
            <a:prstDash val="solid"/>
          </a:ln>
        </p:spPr>
      </p:sp>
      <p:sp>
        <p:nvSpPr>
          <p:cNvPr id="28" name="Text 26"/>
          <p:cNvSpPr/>
          <p:nvPr/>
        </p:nvSpPr>
        <p:spPr>
          <a:xfrm>
            <a:off x="5605272" y="219456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Nhanh</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9" name="Shape 27"/>
          <p:cNvSpPr/>
          <p:nvPr/>
        </p:nvSpPr>
        <p:spPr>
          <a:xfrm>
            <a:off x="320040" y="2697480"/>
            <a:ext cx="2286000" cy="502920"/>
          </a:xfrm>
          <a:prstGeom prst="rect">
            <a:avLst/>
          </a:prstGeom>
          <a:solidFill>
            <a:srgbClr val="FFFFFF"/>
          </a:solidFill>
          <a:ln w="6350">
            <a:solidFill>
              <a:srgbClr val="D1D5DB"/>
            </a:solidFill>
            <a:prstDash val="solid"/>
          </a:ln>
        </p:spPr>
      </p:sp>
      <p:sp>
        <p:nvSpPr>
          <p:cNvPr id="30" name="Text 28"/>
          <p:cNvSpPr/>
          <p:nvPr/>
        </p:nvSpPr>
        <p:spPr>
          <a:xfrm>
            <a:off x="393192" y="2697480"/>
            <a:ext cx="2139696" cy="502920"/>
          </a:xfrm>
          <a:prstGeom prst="rect">
            <a:avLst/>
          </a:prstGeom>
          <a:noFill/>
        </p:spPr>
        <p:txBody>
          <a:bodyPr wrap="square" rtlCol="0" anchor="ctr"/>
          <a:lstStyle/>
          <a:p>
            <a:pPr marL="0" indent="0" algn="l">
              <a:buNone/>
            </a:pPr>
            <a:r>
              <a:rPr lang="en-US" sz="1600" b="1" dirty="0">
                <a:solidFill>
                  <a:srgbClr val="0D2137"/>
                </a:solidFill>
                <a:latin typeface="Times New Roman" panose="02020603050405020304" charset="0"/>
                <a:ea typeface="Calibri" panose="020F0502020204030204" pitchFamily="34" charset="-122"/>
                <a:cs typeface="Times New Roman" panose="02020603050405020304" charset="0"/>
              </a:rPr>
              <a:t>Độ bao phủ</a:t>
            </a:r>
            <a:endParaRPr lang="en-US" sz="16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31" name="Shape 29"/>
          <p:cNvSpPr/>
          <p:nvPr/>
        </p:nvSpPr>
        <p:spPr>
          <a:xfrm>
            <a:off x="2606040" y="2697480"/>
            <a:ext cx="2926080" cy="502920"/>
          </a:xfrm>
          <a:prstGeom prst="rect">
            <a:avLst/>
          </a:prstGeom>
          <a:solidFill>
            <a:srgbClr val="FFFFFF"/>
          </a:solidFill>
          <a:ln w="6350">
            <a:solidFill>
              <a:srgbClr val="D1D5DB"/>
            </a:solidFill>
            <a:prstDash val="solid"/>
          </a:ln>
        </p:spPr>
      </p:sp>
      <p:sp>
        <p:nvSpPr>
          <p:cNvPr id="32" name="Text 30"/>
          <p:cNvSpPr/>
          <p:nvPr/>
        </p:nvSpPr>
        <p:spPr>
          <a:xfrm>
            <a:off x="2679192" y="269748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Phụ thuộc kinh nghiệm</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3" name="Shape 31"/>
          <p:cNvSpPr/>
          <p:nvPr/>
        </p:nvSpPr>
        <p:spPr>
          <a:xfrm>
            <a:off x="5532120" y="2697480"/>
            <a:ext cx="2926080" cy="502920"/>
          </a:xfrm>
          <a:prstGeom prst="rect">
            <a:avLst/>
          </a:prstGeom>
          <a:solidFill>
            <a:srgbClr val="E8F6FC"/>
          </a:solidFill>
          <a:ln w="6350">
            <a:solidFill>
              <a:srgbClr val="D1D5DB"/>
            </a:solidFill>
            <a:prstDash val="solid"/>
          </a:ln>
        </p:spPr>
      </p:sp>
      <p:sp>
        <p:nvSpPr>
          <p:cNvPr id="34" name="Text 32"/>
          <p:cNvSpPr/>
          <p:nvPr/>
        </p:nvSpPr>
        <p:spPr>
          <a:xfrm>
            <a:off x="5605272" y="269748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Cao hơn</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5" name="Shape 33"/>
          <p:cNvSpPr/>
          <p:nvPr/>
        </p:nvSpPr>
        <p:spPr>
          <a:xfrm>
            <a:off x="320040" y="3200400"/>
            <a:ext cx="2286000" cy="502920"/>
          </a:xfrm>
          <a:prstGeom prst="rect">
            <a:avLst/>
          </a:prstGeom>
          <a:solidFill>
            <a:srgbClr val="F1F5F9"/>
          </a:solidFill>
          <a:ln w="6350">
            <a:solidFill>
              <a:srgbClr val="D1D5DB"/>
            </a:solidFill>
            <a:prstDash val="solid"/>
          </a:ln>
        </p:spPr>
      </p:sp>
      <p:sp>
        <p:nvSpPr>
          <p:cNvPr id="36" name="Text 34"/>
          <p:cNvSpPr/>
          <p:nvPr/>
        </p:nvSpPr>
        <p:spPr>
          <a:xfrm>
            <a:off x="393192" y="3200400"/>
            <a:ext cx="2139696" cy="502920"/>
          </a:xfrm>
          <a:prstGeom prst="rect">
            <a:avLst/>
          </a:prstGeom>
          <a:noFill/>
        </p:spPr>
        <p:txBody>
          <a:bodyPr wrap="square" rtlCol="0" anchor="ctr"/>
          <a:lstStyle/>
          <a:p>
            <a:pPr marL="0" indent="0" algn="l">
              <a:buNone/>
            </a:pPr>
            <a:r>
              <a:rPr lang="en-US" sz="1600" b="1" dirty="0">
                <a:solidFill>
                  <a:srgbClr val="0D2137"/>
                </a:solidFill>
                <a:latin typeface="Times New Roman" panose="02020603050405020304" charset="0"/>
                <a:ea typeface="Calibri" panose="020F0502020204030204" pitchFamily="34" charset="-122"/>
                <a:cs typeface="Times New Roman" panose="02020603050405020304" charset="0"/>
              </a:rPr>
              <a:t>Chi phí nhân lực</a:t>
            </a:r>
            <a:endParaRPr lang="en-US" sz="16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37" name="Shape 35"/>
          <p:cNvSpPr/>
          <p:nvPr/>
        </p:nvSpPr>
        <p:spPr>
          <a:xfrm>
            <a:off x="2606040" y="3200400"/>
            <a:ext cx="2926080" cy="502920"/>
          </a:xfrm>
          <a:prstGeom prst="rect">
            <a:avLst/>
          </a:prstGeom>
          <a:solidFill>
            <a:srgbClr val="F1F5F9"/>
          </a:solidFill>
          <a:ln w="6350">
            <a:solidFill>
              <a:srgbClr val="D1D5DB"/>
            </a:solidFill>
            <a:prstDash val="solid"/>
          </a:ln>
        </p:spPr>
      </p:sp>
      <p:sp>
        <p:nvSpPr>
          <p:cNvPr id="38" name="Text 36"/>
          <p:cNvSpPr/>
          <p:nvPr/>
        </p:nvSpPr>
        <p:spPr>
          <a:xfrm>
            <a:off x="2679192" y="320040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Cao</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9" name="Shape 37"/>
          <p:cNvSpPr/>
          <p:nvPr/>
        </p:nvSpPr>
        <p:spPr>
          <a:xfrm>
            <a:off x="5532120" y="3200400"/>
            <a:ext cx="2926080" cy="502920"/>
          </a:xfrm>
          <a:prstGeom prst="rect">
            <a:avLst/>
          </a:prstGeom>
          <a:solidFill>
            <a:srgbClr val="E8F6FC"/>
          </a:solidFill>
          <a:ln w="6350">
            <a:solidFill>
              <a:srgbClr val="D1D5DB"/>
            </a:solidFill>
            <a:prstDash val="solid"/>
          </a:ln>
        </p:spPr>
      </p:sp>
      <p:sp>
        <p:nvSpPr>
          <p:cNvPr id="40" name="Text 38"/>
          <p:cNvSpPr/>
          <p:nvPr/>
        </p:nvSpPr>
        <p:spPr>
          <a:xfrm>
            <a:off x="5605272" y="320040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Thấp hơn</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1" name="Shape 39"/>
          <p:cNvSpPr/>
          <p:nvPr/>
        </p:nvSpPr>
        <p:spPr>
          <a:xfrm>
            <a:off x="320040" y="3703320"/>
            <a:ext cx="2286000" cy="502920"/>
          </a:xfrm>
          <a:prstGeom prst="rect">
            <a:avLst/>
          </a:prstGeom>
          <a:solidFill>
            <a:srgbClr val="FFFFFF"/>
          </a:solidFill>
          <a:ln w="6350">
            <a:solidFill>
              <a:srgbClr val="D1D5DB"/>
            </a:solidFill>
            <a:prstDash val="solid"/>
          </a:ln>
        </p:spPr>
      </p:sp>
      <p:sp>
        <p:nvSpPr>
          <p:cNvPr id="42" name="Text 40"/>
          <p:cNvSpPr/>
          <p:nvPr/>
        </p:nvSpPr>
        <p:spPr>
          <a:xfrm>
            <a:off x="393192" y="3703320"/>
            <a:ext cx="2139696" cy="502920"/>
          </a:xfrm>
          <a:prstGeom prst="rect">
            <a:avLst/>
          </a:prstGeom>
          <a:noFill/>
        </p:spPr>
        <p:txBody>
          <a:bodyPr wrap="square" rtlCol="0" anchor="ctr"/>
          <a:lstStyle/>
          <a:p>
            <a:pPr marL="0" indent="0" algn="l">
              <a:buNone/>
            </a:pPr>
            <a:r>
              <a:rPr lang="en-US" sz="1600" b="1" dirty="0">
                <a:solidFill>
                  <a:srgbClr val="0D2137"/>
                </a:solidFill>
                <a:latin typeface="Times New Roman" panose="02020603050405020304" charset="0"/>
                <a:ea typeface="Calibri" panose="020F0502020204030204" pitchFamily="34" charset="-122"/>
                <a:cs typeface="Times New Roman" panose="02020603050405020304" charset="0"/>
              </a:rPr>
              <a:t>Khả năng mở rộng</a:t>
            </a:r>
            <a:endParaRPr lang="en-US" sz="16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43" name="Shape 41"/>
          <p:cNvSpPr/>
          <p:nvPr/>
        </p:nvSpPr>
        <p:spPr>
          <a:xfrm>
            <a:off x="2606040" y="3703320"/>
            <a:ext cx="2926080" cy="502920"/>
          </a:xfrm>
          <a:prstGeom prst="rect">
            <a:avLst/>
          </a:prstGeom>
          <a:solidFill>
            <a:srgbClr val="FFFFFF"/>
          </a:solidFill>
          <a:ln w="6350">
            <a:solidFill>
              <a:srgbClr val="D1D5DB"/>
            </a:solidFill>
            <a:prstDash val="solid"/>
          </a:ln>
        </p:spPr>
      </p:sp>
      <p:sp>
        <p:nvSpPr>
          <p:cNvPr id="44" name="Text 42"/>
          <p:cNvSpPr/>
          <p:nvPr/>
        </p:nvSpPr>
        <p:spPr>
          <a:xfrm>
            <a:off x="2679192" y="370332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Hạn chế</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5" name="Shape 43"/>
          <p:cNvSpPr/>
          <p:nvPr/>
        </p:nvSpPr>
        <p:spPr>
          <a:xfrm>
            <a:off x="5532120" y="3703320"/>
            <a:ext cx="2926080" cy="502920"/>
          </a:xfrm>
          <a:prstGeom prst="rect">
            <a:avLst/>
          </a:prstGeom>
          <a:solidFill>
            <a:srgbClr val="E8F6FC"/>
          </a:solidFill>
          <a:ln w="6350">
            <a:solidFill>
              <a:srgbClr val="D1D5DB"/>
            </a:solidFill>
            <a:prstDash val="solid"/>
          </a:ln>
        </p:spPr>
      </p:sp>
      <p:sp>
        <p:nvSpPr>
          <p:cNvPr id="46" name="Text 44"/>
          <p:cNvSpPr/>
          <p:nvPr/>
        </p:nvSpPr>
        <p:spPr>
          <a:xfrm>
            <a:off x="5605272" y="370332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Tốt</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7" name="Shape 45"/>
          <p:cNvSpPr/>
          <p:nvPr/>
        </p:nvSpPr>
        <p:spPr>
          <a:xfrm>
            <a:off x="320040" y="4206240"/>
            <a:ext cx="2286000" cy="502920"/>
          </a:xfrm>
          <a:prstGeom prst="rect">
            <a:avLst/>
          </a:prstGeom>
          <a:solidFill>
            <a:srgbClr val="F1F5F9"/>
          </a:solidFill>
          <a:ln w="6350">
            <a:solidFill>
              <a:srgbClr val="D1D5DB"/>
            </a:solidFill>
            <a:prstDash val="solid"/>
          </a:ln>
        </p:spPr>
      </p:sp>
      <p:sp>
        <p:nvSpPr>
          <p:cNvPr id="48" name="Text 46"/>
          <p:cNvSpPr/>
          <p:nvPr/>
        </p:nvSpPr>
        <p:spPr>
          <a:xfrm>
            <a:off x="393192" y="4206240"/>
            <a:ext cx="2139696" cy="502920"/>
          </a:xfrm>
          <a:prstGeom prst="rect">
            <a:avLst/>
          </a:prstGeom>
          <a:noFill/>
        </p:spPr>
        <p:txBody>
          <a:bodyPr wrap="square" rtlCol="0" anchor="ctr"/>
          <a:lstStyle/>
          <a:p>
            <a:pPr marL="0" indent="0" algn="l">
              <a:buNone/>
            </a:pPr>
            <a:r>
              <a:rPr lang="en-US" sz="1600" b="1" dirty="0">
                <a:solidFill>
                  <a:srgbClr val="0D2137"/>
                </a:solidFill>
                <a:latin typeface="Times New Roman" panose="02020603050405020304" charset="0"/>
                <a:ea typeface="Calibri" panose="020F0502020204030204" pitchFamily="34" charset="-122"/>
                <a:cs typeface="Times New Roman" panose="02020603050405020304" charset="0"/>
              </a:rPr>
              <a:t>Rủi ro</a:t>
            </a:r>
            <a:endParaRPr lang="en-US" sz="16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49" name="Shape 47"/>
          <p:cNvSpPr/>
          <p:nvPr/>
        </p:nvSpPr>
        <p:spPr>
          <a:xfrm>
            <a:off x="2606040" y="4206240"/>
            <a:ext cx="2926080" cy="502920"/>
          </a:xfrm>
          <a:prstGeom prst="rect">
            <a:avLst/>
          </a:prstGeom>
          <a:solidFill>
            <a:srgbClr val="F1F5F9"/>
          </a:solidFill>
          <a:ln w="6350">
            <a:solidFill>
              <a:srgbClr val="D1D5DB"/>
            </a:solidFill>
            <a:prstDash val="solid"/>
          </a:ln>
        </p:spPr>
      </p:sp>
      <p:sp>
        <p:nvSpPr>
          <p:cNvPr id="50" name="Text 48"/>
          <p:cNvSpPr/>
          <p:nvPr/>
        </p:nvSpPr>
        <p:spPr>
          <a:xfrm>
            <a:off x="2679192" y="420624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Sai sót thủ công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51" name="Shape 49"/>
          <p:cNvSpPr/>
          <p:nvPr/>
        </p:nvSpPr>
        <p:spPr>
          <a:xfrm>
            <a:off x="5532120" y="4206240"/>
            <a:ext cx="2926080" cy="502920"/>
          </a:xfrm>
          <a:prstGeom prst="rect">
            <a:avLst/>
          </a:prstGeom>
          <a:solidFill>
            <a:srgbClr val="F1F5F9"/>
          </a:solidFill>
          <a:ln w="6350">
            <a:solidFill>
              <a:srgbClr val="D1D5DB"/>
            </a:solidFill>
            <a:prstDash val="solid"/>
          </a:ln>
        </p:spPr>
      </p:sp>
      <p:sp>
        <p:nvSpPr>
          <p:cNvPr id="52" name="Text 50"/>
          <p:cNvSpPr/>
          <p:nvPr/>
        </p:nvSpPr>
        <p:spPr>
          <a:xfrm>
            <a:off x="5605272" y="4206240"/>
            <a:ext cx="2779776" cy="502920"/>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Hallucination</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53" name="Shape 51"/>
          <p:cNvSpPr/>
          <p:nvPr/>
        </p:nvSpPr>
        <p:spPr>
          <a:xfrm>
            <a:off x="320040" y="4736592"/>
            <a:ext cx="8503920" cy="292608"/>
          </a:xfrm>
          <a:prstGeom prst="roundRect">
            <a:avLst>
              <a:gd name="adj" fmla="val 15625"/>
            </a:avLst>
          </a:prstGeom>
          <a:solidFill>
            <a:srgbClr val="E8F6FC"/>
          </a:solidFill>
        </p:spPr>
      </p:sp>
      <p:sp>
        <p:nvSpPr>
          <p:cNvPr id="54" name="Text 52"/>
          <p:cNvSpPr/>
          <p:nvPr/>
        </p:nvSpPr>
        <p:spPr>
          <a:xfrm>
            <a:off x="385445" y="4736465"/>
            <a:ext cx="8438515" cy="292735"/>
          </a:xfrm>
          <a:prstGeom prst="rect">
            <a:avLst/>
          </a:prstGeom>
          <a:noFill/>
        </p:spPr>
        <p:txBody>
          <a:bodyPr wrap="square" rtlCol="0" anchor="ctr"/>
          <a:lstStyle/>
          <a:p>
            <a:pPr marL="0" indent="0" algn="ctr">
              <a:buNone/>
            </a:pPr>
            <a:r>
              <a:rPr lang="en-US" sz="1600" b="1" dirty="0">
                <a:solidFill>
                  <a:srgbClr val="0A7EA4"/>
                </a:solidFill>
                <a:latin typeface="Times New Roman" panose="02020603050405020304" charset="0"/>
                <a:ea typeface="Calibri" panose="020F0502020204030204" pitchFamily="34" charset="-122"/>
                <a:cs typeface="Times New Roman" panose="02020603050405020304" charset="0"/>
              </a:rPr>
              <a:t>⚠ LLM chỉ đóng vai trò công cụ hỗ trợ – kết quả sinh ra vẫn cần được xác thực bởi chuyên gia</a:t>
            </a:r>
            <a:endParaRPr lang="en-US" sz="16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79" name="Shape 0"/>
          <p:cNvSpPr/>
          <p:nvPr/>
        </p:nvSpPr>
        <p:spPr>
          <a:xfrm>
            <a:off x="0" y="0"/>
            <a:ext cx="9144000" cy="73152"/>
          </a:xfrm>
          <a:prstGeom prst="rect">
            <a:avLst/>
          </a:prstGeom>
          <a:solidFill>
            <a:srgbClr val="0A7EA4"/>
          </a:solidFill>
          <a:ln w="12700">
            <a:solidFill>
              <a:srgbClr val="0A7EA4"/>
            </a:solidFill>
            <a:prstDash val="solid"/>
          </a:ln>
        </p:spPr>
      </p:sp>
      <p:sp>
        <p:nvSpPr>
          <p:cNvPr id="80" name="Text 1"/>
          <p:cNvSpPr/>
          <p:nvPr/>
        </p:nvSpPr>
        <p:spPr>
          <a:xfrm>
            <a:off x="37465" y="164465"/>
            <a:ext cx="9143365" cy="457200"/>
          </a:xfrm>
          <a:prstGeom prst="rect">
            <a:avLst/>
          </a:prstGeom>
          <a:noFill/>
        </p:spPr>
        <p:txBody>
          <a:bodyPr wrap="square" rtlCol="0" anchor="ctr"/>
          <a:lstStyle/>
          <a:p>
            <a:pPr marL="0" indent="0">
              <a:buNone/>
            </a:pPr>
            <a:r>
              <a:rPr lang="en-US" sz="2400" b="1" dirty="0">
                <a:solidFill>
                  <a:srgbClr val="0D2137"/>
                </a:solidFill>
                <a:latin typeface="Times New Roman" panose="02020603050405020304" charset="0"/>
                <a:ea typeface="Calibri" panose="020F0502020204030204" pitchFamily="34" charset="-122"/>
                <a:cs typeface="Times New Roman" panose="02020603050405020304" charset="0"/>
              </a:rPr>
              <a:t>CHƯƠNG 3: </a:t>
            </a:r>
            <a:r>
              <a:rPr lang="vi-VN" altLang="en-US" sz="2400" b="1" dirty="0">
                <a:solidFill>
                  <a:srgbClr val="0D2137"/>
                </a:solidFill>
                <a:latin typeface="Times New Roman" panose="02020603050405020304" charset="0"/>
                <a:ea typeface="Calibri" panose="020F0502020204030204" pitchFamily="34" charset="-122"/>
                <a:cs typeface="Times New Roman" panose="02020603050405020304" charset="0"/>
              </a:rPr>
              <a:t>VẬN DỤNG </a:t>
            </a:r>
            <a:r>
              <a:rPr lang="vi-VN" altLang="en-US" sz="2400" b="1" dirty="0">
                <a:solidFill>
                  <a:srgbClr val="0D2137"/>
                </a:solidFill>
                <a:latin typeface="Times New Roman" panose="02020603050405020304" charset="0"/>
                <a:ea typeface="Calibri" panose="020F0502020204030204" pitchFamily="34" charset="-122"/>
                <a:cs typeface="Times New Roman" panose="02020603050405020304" charset="0"/>
              </a:rPr>
              <a:t>VÀ THỰC HÀNH (MÔ TẢ BÀI TOÁN)</a:t>
            </a:r>
            <a:endParaRPr lang="vi-VN" altLang="en-US" sz="24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81" name="Shape 2"/>
          <p:cNvSpPr/>
          <p:nvPr/>
        </p:nvSpPr>
        <p:spPr>
          <a:xfrm>
            <a:off x="457200" y="640080"/>
            <a:ext cx="8229600" cy="36576"/>
          </a:xfrm>
          <a:prstGeom prst="rect">
            <a:avLst/>
          </a:prstGeom>
          <a:solidFill>
            <a:srgbClr val="0A7EA4"/>
          </a:solidFill>
          <a:ln w="12700">
            <a:solidFill>
              <a:srgbClr val="0A7EA4"/>
            </a:solidFill>
            <a:prstDash val="solid"/>
          </a:ln>
        </p:spPr>
      </p:sp>
      <p:sp>
        <p:nvSpPr>
          <p:cNvPr id="82" name="Shape 3"/>
          <p:cNvSpPr/>
          <p:nvPr/>
        </p:nvSpPr>
        <p:spPr>
          <a:xfrm>
            <a:off x="320040" y="777240"/>
            <a:ext cx="8503920" cy="766445"/>
          </a:xfrm>
          <a:prstGeom prst="roundRect">
            <a:avLst>
              <a:gd name="adj" fmla="val 13333"/>
            </a:avLst>
          </a:prstGeom>
          <a:solidFill>
            <a:srgbClr val="FFFFFF"/>
          </a:solidFill>
          <a:effectLst>
            <a:outerShdw blurRad="101600" dist="38100" dir="2700000" algn="bl" rotWithShape="0">
              <a:srgbClr val="000000">
                <a:alpha val="12000"/>
              </a:srgbClr>
            </a:outerShdw>
          </a:effectLst>
        </p:spPr>
      </p:sp>
      <p:sp>
        <p:nvSpPr>
          <p:cNvPr id="83" name="Text 4"/>
          <p:cNvSpPr/>
          <p:nvPr/>
        </p:nvSpPr>
        <p:spPr>
          <a:xfrm>
            <a:off x="502920" y="772160"/>
            <a:ext cx="8138160" cy="769620"/>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Chức năng Đăng nhập (Login) là cổng kiểm soát truy cập đầu tiên trong hệ thống phần mềm. Lỗi xác thực có thể dẫn đến rò rỉ dữ liệu và nguy cơ tấn công nghiêm trọng. Đề tài xây dựng hệ thống đăng nhập dùng Flask API để minh họa ứng dụng LLM.</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84" name="Text 5"/>
          <p:cNvSpPr/>
          <p:nvPr/>
        </p:nvSpPr>
        <p:spPr>
          <a:xfrm>
            <a:off x="320040" y="1572768"/>
            <a:ext cx="4846320" cy="347472"/>
          </a:xfrm>
          <a:prstGeom prst="rect">
            <a:avLst/>
          </a:prstGeom>
          <a:noFill/>
        </p:spPr>
        <p:txBody>
          <a:bodyPr wrap="square" rtlCol="0" anchor="ctr"/>
          <a:lstStyle/>
          <a:p>
            <a:pPr marL="0" indent="0">
              <a:buNone/>
            </a:pPr>
            <a:r>
              <a:rPr lang="en-US" sz="1600" b="1" dirty="0">
                <a:solidFill>
                  <a:srgbClr val="0A7EA4"/>
                </a:solidFill>
                <a:latin typeface="Times New Roman" panose="02020603050405020304" charset="0"/>
                <a:ea typeface="Calibri" panose="020F0502020204030204" pitchFamily="34" charset="-122"/>
                <a:cs typeface="Times New Roman" panose="02020603050405020304" charset="0"/>
              </a:rPr>
              <a:t>Đặc tả yêu cầu hệ thống (requirement.txt)</a:t>
            </a:r>
            <a:endParaRPr lang="en-US" sz="16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85" name="Shape 6"/>
          <p:cNvSpPr/>
          <p:nvPr/>
        </p:nvSpPr>
        <p:spPr>
          <a:xfrm>
            <a:off x="320040" y="1993392"/>
            <a:ext cx="4023360" cy="594360"/>
          </a:xfrm>
          <a:prstGeom prst="roundRect">
            <a:avLst>
              <a:gd name="adj" fmla="val 12308"/>
            </a:avLst>
          </a:prstGeom>
        </p:spPr>
        <p:style>
          <a:lnRef idx="2">
            <a:schemeClr val="accent1"/>
          </a:lnRef>
          <a:fillRef idx="0">
            <a:srgbClr val="FFFFFF"/>
          </a:fillRef>
          <a:effectRef idx="0">
            <a:srgbClr val="FFFFFF"/>
          </a:effectRef>
          <a:fontRef idx="minor">
            <a:schemeClr val="tx1"/>
          </a:fontRef>
        </p:style>
      </p:sp>
      <p:sp>
        <p:nvSpPr>
          <p:cNvPr id="86" name="Text 7"/>
          <p:cNvSpPr/>
          <p:nvPr/>
        </p:nvSpPr>
        <p:spPr>
          <a:xfrm>
            <a:off x="502920" y="2029968"/>
            <a:ext cx="3657600" cy="521208"/>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R1: Email không được để trống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87" name="Shape 8"/>
          <p:cNvSpPr/>
          <p:nvPr/>
        </p:nvSpPr>
        <p:spPr>
          <a:xfrm>
            <a:off x="320040" y="2706624"/>
            <a:ext cx="4023360" cy="594360"/>
          </a:xfrm>
          <a:prstGeom prst="roundRect">
            <a:avLst>
              <a:gd name="adj" fmla="val 12308"/>
            </a:avLst>
          </a:prstGeom>
        </p:spPr>
        <p:style>
          <a:lnRef idx="2">
            <a:schemeClr val="accent1"/>
          </a:lnRef>
          <a:fillRef idx="0">
            <a:srgbClr val="FFFFFF"/>
          </a:fillRef>
          <a:effectRef idx="0">
            <a:srgbClr val="FFFFFF"/>
          </a:effectRef>
          <a:fontRef idx="minor">
            <a:schemeClr val="tx1"/>
          </a:fontRef>
        </p:style>
      </p:sp>
      <p:sp>
        <p:nvSpPr>
          <p:cNvPr id="88" name="Text 9"/>
          <p:cNvSpPr/>
          <p:nvPr/>
        </p:nvSpPr>
        <p:spPr>
          <a:xfrm>
            <a:off x="502920" y="2743200"/>
            <a:ext cx="3657600" cy="521208"/>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R2: Password không được để trống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89" name="Shape 10"/>
          <p:cNvSpPr/>
          <p:nvPr/>
        </p:nvSpPr>
        <p:spPr>
          <a:xfrm>
            <a:off x="320040" y="3419856"/>
            <a:ext cx="4023360" cy="594360"/>
          </a:xfrm>
          <a:prstGeom prst="roundRect">
            <a:avLst>
              <a:gd name="adj" fmla="val 12308"/>
            </a:avLst>
          </a:prstGeom>
        </p:spPr>
        <p:style>
          <a:lnRef idx="2">
            <a:schemeClr val="accent1"/>
          </a:lnRef>
          <a:fillRef idx="0">
            <a:srgbClr val="FFFFFF"/>
          </a:fillRef>
          <a:effectRef idx="0">
            <a:srgbClr val="FFFFFF"/>
          </a:effectRef>
          <a:fontRef idx="minor">
            <a:schemeClr val="tx1"/>
          </a:fontRef>
        </p:style>
      </p:sp>
      <p:sp>
        <p:nvSpPr>
          <p:cNvPr id="90" name="Text 11"/>
          <p:cNvSpPr/>
          <p:nvPr/>
        </p:nvSpPr>
        <p:spPr>
          <a:xfrm>
            <a:off x="502920" y="3456432"/>
            <a:ext cx="3657600" cy="521208"/>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R3: Email phải đúng định dạng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91" name="Shape 12"/>
          <p:cNvSpPr/>
          <p:nvPr/>
        </p:nvSpPr>
        <p:spPr>
          <a:xfrm>
            <a:off x="320040" y="4133088"/>
            <a:ext cx="4023360" cy="594360"/>
          </a:xfrm>
          <a:prstGeom prst="roundRect">
            <a:avLst>
              <a:gd name="adj" fmla="val 12308"/>
            </a:avLst>
          </a:prstGeom>
        </p:spPr>
        <p:style>
          <a:lnRef idx="2">
            <a:schemeClr val="accent1"/>
          </a:lnRef>
          <a:fillRef idx="0">
            <a:srgbClr val="FFFFFF"/>
          </a:fillRef>
          <a:effectRef idx="0">
            <a:srgbClr val="FFFFFF"/>
          </a:effectRef>
          <a:fontRef idx="minor">
            <a:schemeClr val="tx1"/>
          </a:fontRef>
        </p:style>
      </p:sp>
      <p:sp>
        <p:nvSpPr>
          <p:cNvPr id="92" name="Text 13"/>
          <p:cNvSpPr/>
          <p:nvPr/>
        </p:nvSpPr>
        <p:spPr>
          <a:xfrm>
            <a:off x="502920" y="4169664"/>
            <a:ext cx="3657600" cy="521208"/>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R4: Email tối đa 100 ký tự</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93" name="Shape 14"/>
          <p:cNvSpPr/>
          <p:nvPr/>
        </p:nvSpPr>
        <p:spPr>
          <a:xfrm>
            <a:off x="4572000" y="1993392"/>
            <a:ext cx="4023360" cy="594360"/>
          </a:xfrm>
          <a:prstGeom prst="roundRect">
            <a:avLst>
              <a:gd name="adj" fmla="val 12308"/>
            </a:avLst>
          </a:prstGeom>
        </p:spPr>
        <p:style>
          <a:lnRef idx="2">
            <a:schemeClr val="accent1"/>
          </a:lnRef>
          <a:fillRef idx="0">
            <a:srgbClr val="FFFFFF"/>
          </a:fillRef>
          <a:effectRef idx="0">
            <a:srgbClr val="FFFFFF"/>
          </a:effectRef>
          <a:fontRef idx="minor">
            <a:schemeClr val="tx1"/>
          </a:fontRef>
        </p:style>
      </p:sp>
      <p:sp>
        <p:nvSpPr>
          <p:cNvPr id="94" name="Text 15"/>
          <p:cNvSpPr/>
          <p:nvPr/>
        </p:nvSpPr>
        <p:spPr>
          <a:xfrm>
            <a:off x="4754880" y="2029968"/>
            <a:ext cx="3657600" cy="521208"/>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R5: Đăng nhập thành công khi thông tin hợp lệ</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95" name="Shape 16"/>
          <p:cNvSpPr/>
          <p:nvPr/>
        </p:nvSpPr>
        <p:spPr>
          <a:xfrm>
            <a:off x="4572000" y="2706624"/>
            <a:ext cx="4023360" cy="594360"/>
          </a:xfrm>
          <a:prstGeom prst="roundRect">
            <a:avLst>
              <a:gd name="adj" fmla="val 12308"/>
            </a:avLst>
          </a:prstGeom>
        </p:spPr>
        <p:style>
          <a:lnRef idx="2">
            <a:schemeClr val="accent1"/>
          </a:lnRef>
          <a:fillRef idx="0">
            <a:srgbClr val="FFFFFF"/>
          </a:fillRef>
          <a:effectRef idx="0">
            <a:srgbClr val="FFFFFF"/>
          </a:effectRef>
          <a:fontRef idx="minor">
            <a:schemeClr val="tx1"/>
          </a:fontRef>
        </p:style>
      </p:sp>
      <p:sp>
        <p:nvSpPr>
          <p:cNvPr id="96" name="Text 17"/>
          <p:cNvSpPr/>
          <p:nvPr/>
        </p:nvSpPr>
        <p:spPr>
          <a:xfrm>
            <a:off x="4754880" y="2743200"/>
            <a:ext cx="3657600" cy="521208"/>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R6: Tài khoản bị khóa sau 5 lần đăng nhập sai</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97" name="Shape 18"/>
          <p:cNvSpPr/>
          <p:nvPr/>
        </p:nvSpPr>
        <p:spPr>
          <a:xfrm>
            <a:off x="4572000" y="3419856"/>
            <a:ext cx="4023360" cy="594360"/>
          </a:xfrm>
          <a:prstGeom prst="roundRect">
            <a:avLst>
              <a:gd name="adj" fmla="val 12308"/>
            </a:avLst>
          </a:prstGeom>
        </p:spPr>
        <p:style>
          <a:lnRef idx="2">
            <a:schemeClr val="accent1"/>
          </a:lnRef>
          <a:fillRef idx="0">
            <a:srgbClr val="FFFFFF"/>
          </a:fillRef>
          <a:effectRef idx="0">
            <a:srgbClr val="FFFFFF"/>
          </a:effectRef>
          <a:fontRef idx="minor">
            <a:schemeClr val="tx1"/>
          </a:fontRef>
        </p:style>
      </p:sp>
      <p:sp>
        <p:nvSpPr>
          <p:cNvPr id="98" name="Text 19"/>
          <p:cNvSpPr/>
          <p:nvPr/>
        </p:nvSpPr>
        <p:spPr>
          <a:xfrm>
            <a:off x="4754880" y="3456432"/>
            <a:ext cx="3657600" cy="521208"/>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R7: Thời gian khóa là 15 phút</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99" name="Shape 20"/>
          <p:cNvSpPr/>
          <p:nvPr/>
        </p:nvSpPr>
        <p:spPr>
          <a:xfrm>
            <a:off x="4572000" y="4133088"/>
            <a:ext cx="4023360" cy="594360"/>
          </a:xfrm>
          <a:prstGeom prst="roundRect">
            <a:avLst>
              <a:gd name="adj" fmla="val 12308"/>
            </a:avLst>
          </a:prstGeom>
        </p:spPr>
        <p:style>
          <a:lnRef idx="2">
            <a:schemeClr val="accent1"/>
          </a:lnRef>
          <a:fillRef idx="0">
            <a:srgbClr val="FFFFFF"/>
          </a:fillRef>
          <a:effectRef idx="0">
            <a:srgbClr val="FFFFFF"/>
          </a:effectRef>
          <a:fontRef idx="minor">
            <a:schemeClr val="tx1"/>
          </a:fontRef>
        </p:style>
      </p:sp>
      <p:sp>
        <p:nvSpPr>
          <p:cNvPr id="100" name="Text 21"/>
          <p:cNvSpPr/>
          <p:nvPr/>
        </p:nvSpPr>
        <p:spPr>
          <a:xfrm>
            <a:off x="4754880" y="4169664"/>
            <a:ext cx="3657600" cy="521208"/>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R8: Không được đăng nhập khi tài khoản đang bị khóa</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320675" y="164465"/>
            <a:ext cx="8537575" cy="457200"/>
          </a:xfrm>
          <a:prstGeom prst="rect">
            <a:avLst/>
          </a:prstGeom>
          <a:noFill/>
        </p:spPr>
        <p:txBody>
          <a:bodyPr wrap="square" rtlCol="0" anchor="ctr"/>
          <a:lstStyle/>
          <a:p>
            <a:pPr marL="0" indent="0">
              <a:buNone/>
            </a:pPr>
            <a:r>
              <a:rPr lang="en-US" sz="2700" b="1" dirty="0">
                <a:solidFill>
                  <a:srgbClr val="0D2137"/>
                </a:solidFill>
                <a:latin typeface="Times New Roman" panose="02020603050405020304" charset="0"/>
                <a:ea typeface="Calibri" panose="020F0502020204030204" pitchFamily="34" charset="-122"/>
                <a:cs typeface="Times New Roman" panose="02020603050405020304" charset="0"/>
              </a:rPr>
              <a:t>QUY TRÌNH ÁP DỤNG LLM </a:t>
            </a:r>
            <a:r>
              <a:rPr lang="vi-VN" altLang="en-US" sz="2700" b="1" dirty="0">
                <a:solidFill>
                  <a:srgbClr val="0D2137"/>
                </a:solidFill>
                <a:latin typeface="Times New Roman" panose="02020603050405020304" charset="0"/>
                <a:ea typeface="Calibri" panose="020F0502020204030204" pitchFamily="34" charset="-122"/>
                <a:cs typeface="Times New Roman" panose="02020603050405020304" charset="0"/>
              </a:rPr>
              <a:t>VÀ</a:t>
            </a:r>
            <a:r>
              <a:rPr lang="en-US" sz="2700" b="1" dirty="0">
                <a:solidFill>
                  <a:srgbClr val="0D2137"/>
                </a:solidFill>
                <a:latin typeface="Times New Roman" panose="02020603050405020304" charset="0"/>
                <a:ea typeface="Calibri" panose="020F0502020204030204" pitchFamily="34" charset="-122"/>
                <a:cs typeface="Times New Roman" panose="02020603050405020304" charset="0"/>
              </a:rPr>
              <a:t> THIẾT KẾ PROMPT</a:t>
            </a:r>
            <a:endParaRPr lang="en-US" sz="2700" dirty="0">
              <a:latin typeface="Times New Roman" panose="02020603050405020304" charset="0"/>
              <a:cs typeface="Times New Roman" panose="02020603050405020304" charset="0"/>
            </a:endParaRPr>
          </a:p>
        </p:txBody>
      </p:sp>
      <p:sp>
        <p:nvSpPr>
          <p:cNvPr id="4" name="Shape 2"/>
          <p:cNvSpPr/>
          <p:nvPr/>
        </p:nvSpPr>
        <p:spPr>
          <a:xfrm>
            <a:off x="457200" y="640080"/>
            <a:ext cx="8229600" cy="36576"/>
          </a:xfrm>
          <a:prstGeom prst="rect">
            <a:avLst/>
          </a:prstGeom>
          <a:solidFill>
            <a:srgbClr val="0A7EA4"/>
          </a:solidFill>
          <a:ln w="12700">
            <a:solidFill>
              <a:srgbClr val="0A7EA4"/>
            </a:solidFill>
            <a:prstDash val="solid"/>
          </a:ln>
        </p:spPr>
      </p:sp>
      <p:sp>
        <p:nvSpPr>
          <p:cNvPr id="5" name="Shape 3"/>
          <p:cNvSpPr/>
          <p:nvPr/>
        </p:nvSpPr>
        <p:spPr>
          <a:xfrm>
            <a:off x="320040" y="777240"/>
            <a:ext cx="2011680" cy="1371600"/>
          </a:xfrm>
          <a:prstGeom prst="roundRect">
            <a:avLst>
              <a:gd name="adj" fmla="val 6667"/>
            </a:avLst>
          </a:prstGeom>
          <a:solidFill>
            <a:srgbClr val="E8F6FC"/>
          </a:solidFill>
          <a:effectLst>
            <a:outerShdw blurRad="101600" dist="38100" dir="2700000" algn="bl" rotWithShape="0">
              <a:srgbClr val="000000">
                <a:alpha val="12000"/>
              </a:srgbClr>
            </a:outerShdw>
          </a:effectLst>
        </p:spPr>
      </p:sp>
      <p:sp>
        <p:nvSpPr>
          <p:cNvPr id="6" name="Shape 4"/>
          <p:cNvSpPr/>
          <p:nvPr/>
        </p:nvSpPr>
        <p:spPr>
          <a:xfrm>
            <a:off x="1033272" y="868680"/>
            <a:ext cx="548640" cy="548640"/>
          </a:xfrm>
          <a:prstGeom prst="ellipse">
            <a:avLst/>
          </a:prstGeom>
          <a:solidFill>
            <a:srgbClr val="0A7EA4"/>
          </a:solidFill>
        </p:spPr>
      </p:sp>
      <p:sp>
        <p:nvSpPr>
          <p:cNvPr id="7" name="Text 5"/>
          <p:cNvSpPr/>
          <p:nvPr/>
        </p:nvSpPr>
        <p:spPr>
          <a:xfrm>
            <a:off x="1033272" y="868680"/>
            <a:ext cx="548640" cy="54864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1</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8" name="Text 6"/>
          <p:cNvSpPr/>
          <p:nvPr/>
        </p:nvSpPr>
        <p:spPr>
          <a:xfrm>
            <a:off x="411480" y="1490472"/>
            <a:ext cx="1828800" cy="566928"/>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Thu thập tài liệu yêu cầu</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9" name="Shape 7"/>
          <p:cNvSpPr/>
          <p:nvPr/>
        </p:nvSpPr>
        <p:spPr>
          <a:xfrm>
            <a:off x="2331720" y="1463040"/>
            <a:ext cx="137160" cy="0"/>
          </a:xfrm>
          <a:prstGeom prst="line">
            <a:avLst/>
          </a:prstGeom>
          <a:noFill/>
          <a:ln w="25400">
            <a:solidFill>
              <a:srgbClr val="0A7EA4"/>
            </a:solidFill>
            <a:prstDash val="solid"/>
          </a:ln>
        </p:spPr>
      </p:sp>
      <p:sp>
        <p:nvSpPr>
          <p:cNvPr id="10" name="Shape 8"/>
          <p:cNvSpPr/>
          <p:nvPr/>
        </p:nvSpPr>
        <p:spPr>
          <a:xfrm>
            <a:off x="2468880" y="777240"/>
            <a:ext cx="2011680" cy="1371600"/>
          </a:xfrm>
          <a:prstGeom prst="roundRect">
            <a:avLst>
              <a:gd name="adj" fmla="val 6667"/>
            </a:avLst>
          </a:prstGeom>
          <a:solidFill>
            <a:srgbClr val="FFFFFF"/>
          </a:solidFill>
          <a:effectLst>
            <a:outerShdw blurRad="101600" dist="38100" dir="2700000" algn="bl" rotWithShape="0">
              <a:srgbClr val="000000">
                <a:alpha val="12000"/>
              </a:srgbClr>
            </a:outerShdw>
          </a:effectLst>
        </p:spPr>
      </p:sp>
      <p:sp>
        <p:nvSpPr>
          <p:cNvPr id="11" name="Shape 9"/>
          <p:cNvSpPr/>
          <p:nvPr/>
        </p:nvSpPr>
        <p:spPr>
          <a:xfrm>
            <a:off x="3182112" y="868680"/>
            <a:ext cx="548640" cy="548640"/>
          </a:xfrm>
          <a:prstGeom prst="ellipse">
            <a:avLst/>
          </a:prstGeom>
          <a:solidFill>
            <a:srgbClr val="0A7EA4"/>
          </a:solidFill>
        </p:spPr>
      </p:sp>
      <p:sp>
        <p:nvSpPr>
          <p:cNvPr id="12" name="Text 10"/>
          <p:cNvSpPr/>
          <p:nvPr/>
        </p:nvSpPr>
        <p:spPr>
          <a:xfrm>
            <a:off x="3182112" y="868680"/>
            <a:ext cx="548640" cy="54864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2</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3" name="Text 11"/>
          <p:cNvSpPr/>
          <p:nvPr/>
        </p:nvSpPr>
        <p:spPr>
          <a:xfrm>
            <a:off x="2560320" y="1490472"/>
            <a:ext cx="1828800" cy="566928"/>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Thiết kế Prompt cho LLM</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4" name="Shape 12"/>
          <p:cNvSpPr/>
          <p:nvPr/>
        </p:nvSpPr>
        <p:spPr>
          <a:xfrm>
            <a:off x="4480560" y="1463040"/>
            <a:ext cx="137160" cy="0"/>
          </a:xfrm>
          <a:prstGeom prst="line">
            <a:avLst/>
          </a:prstGeom>
          <a:noFill/>
          <a:ln w="25400">
            <a:solidFill>
              <a:srgbClr val="0A7EA4"/>
            </a:solidFill>
            <a:prstDash val="solid"/>
          </a:ln>
        </p:spPr>
      </p:sp>
      <p:sp>
        <p:nvSpPr>
          <p:cNvPr id="15" name="Shape 13"/>
          <p:cNvSpPr/>
          <p:nvPr/>
        </p:nvSpPr>
        <p:spPr>
          <a:xfrm>
            <a:off x="4617720" y="777240"/>
            <a:ext cx="2011680" cy="1371600"/>
          </a:xfrm>
          <a:prstGeom prst="roundRect">
            <a:avLst>
              <a:gd name="adj" fmla="val 6667"/>
            </a:avLst>
          </a:prstGeom>
          <a:solidFill>
            <a:srgbClr val="E8F6FC"/>
          </a:solidFill>
          <a:effectLst>
            <a:outerShdw blurRad="101600" dist="38100" dir="2700000" algn="bl" rotWithShape="0">
              <a:srgbClr val="000000">
                <a:alpha val="12000"/>
              </a:srgbClr>
            </a:outerShdw>
          </a:effectLst>
        </p:spPr>
      </p:sp>
      <p:sp>
        <p:nvSpPr>
          <p:cNvPr id="16" name="Shape 14"/>
          <p:cNvSpPr/>
          <p:nvPr/>
        </p:nvSpPr>
        <p:spPr>
          <a:xfrm>
            <a:off x="5330952" y="868680"/>
            <a:ext cx="548640" cy="548640"/>
          </a:xfrm>
          <a:prstGeom prst="ellipse">
            <a:avLst/>
          </a:prstGeom>
          <a:solidFill>
            <a:srgbClr val="0A7EA4"/>
          </a:solidFill>
        </p:spPr>
      </p:sp>
      <p:sp>
        <p:nvSpPr>
          <p:cNvPr id="17" name="Text 15"/>
          <p:cNvSpPr/>
          <p:nvPr/>
        </p:nvSpPr>
        <p:spPr>
          <a:xfrm>
            <a:off x="5330952" y="868680"/>
            <a:ext cx="548640" cy="54864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3</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8" name="Text 16"/>
          <p:cNvSpPr/>
          <p:nvPr/>
        </p:nvSpPr>
        <p:spPr>
          <a:xfrm>
            <a:off x="4709160" y="1490472"/>
            <a:ext cx="1828800" cy="566928"/>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Phân tích yêu cầu bằng LLM</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9" name="Shape 17"/>
          <p:cNvSpPr/>
          <p:nvPr/>
        </p:nvSpPr>
        <p:spPr>
          <a:xfrm>
            <a:off x="6629400" y="1463040"/>
            <a:ext cx="137160" cy="0"/>
          </a:xfrm>
          <a:prstGeom prst="line">
            <a:avLst/>
          </a:prstGeom>
          <a:noFill/>
          <a:ln w="25400">
            <a:solidFill>
              <a:srgbClr val="0A7EA4"/>
            </a:solidFill>
            <a:prstDash val="solid"/>
          </a:ln>
        </p:spPr>
      </p:sp>
      <p:sp>
        <p:nvSpPr>
          <p:cNvPr id="20" name="Shape 18"/>
          <p:cNvSpPr/>
          <p:nvPr/>
        </p:nvSpPr>
        <p:spPr>
          <a:xfrm>
            <a:off x="6766560" y="777240"/>
            <a:ext cx="2011680" cy="1371600"/>
          </a:xfrm>
          <a:prstGeom prst="roundRect">
            <a:avLst>
              <a:gd name="adj" fmla="val 6667"/>
            </a:avLst>
          </a:prstGeom>
          <a:solidFill>
            <a:srgbClr val="FFFFFF"/>
          </a:solidFill>
          <a:effectLst>
            <a:outerShdw blurRad="101600" dist="38100" dir="2700000" algn="bl" rotWithShape="0">
              <a:srgbClr val="000000">
                <a:alpha val="12000"/>
              </a:srgbClr>
            </a:outerShdw>
          </a:effectLst>
        </p:spPr>
      </p:sp>
      <p:sp>
        <p:nvSpPr>
          <p:cNvPr id="21" name="Shape 19"/>
          <p:cNvSpPr/>
          <p:nvPr/>
        </p:nvSpPr>
        <p:spPr>
          <a:xfrm>
            <a:off x="7479792" y="868680"/>
            <a:ext cx="548640" cy="548640"/>
          </a:xfrm>
          <a:prstGeom prst="ellipse">
            <a:avLst/>
          </a:prstGeom>
          <a:solidFill>
            <a:srgbClr val="0A7EA4"/>
          </a:solidFill>
        </p:spPr>
      </p:sp>
      <p:sp>
        <p:nvSpPr>
          <p:cNvPr id="22" name="Text 20"/>
          <p:cNvSpPr/>
          <p:nvPr/>
        </p:nvSpPr>
        <p:spPr>
          <a:xfrm>
            <a:off x="7479792" y="868680"/>
            <a:ext cx="548640" cy="54864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4</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3" name="Text 21"/>
          <p:cNvSpPr/>
          <p:nvPr/>
        </p:nvSpPr>
        <p:spPr>
          <a:xfrm>
            <a:off x="6858000" y="1490472"/>
            <a:ext cx="1828800" cy="566928"/>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Trích xuất quy tắc nghiệp vụ</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4" name="Shape 22"/>
          <p:cNvSpPr/>
          <p:nvPr/>
        </p:nvSpPr>
        <p:spPr>
          <a:xfrm>
            <a:off x="320040" y="2377440"/>
            <a:ext cx="2011680" cy="1371600"/>
          </a:xfrm>
          <a:prstGeom prst="roundRect">
            <a:avLst>
              <a:gd name="adj" fmla="val 6667"/>
            </a:avLst>
          </a:prstGeom>
          <a:solidFill>
            <a:srgbClr val="E8F6FC"/>
          </a:solidFill>
          <a:effectLst>
            <a:outerShdw blurRad="101600" dist="38100" dir="2700000" algn="bl" rotWithShape="0">
              <a:srgbClr val="000000">
                <a:alpha val="12000"/>
              </a:srgbClr>
            </a:outerShdw>
          </a:effectLst>
        </p:spPr>
      </p:sp>
      <p:sp>
        <p:nvSpPr>
          <p:cNvPr id="25" name="Shape 23"/>
          <p:cNvSpPr/>
          <p:nvPr/>
        </p:nvSpPr>
        <p:spPr>
          <a:xfrm>
            <a:off x="1033272" y="2468880"/>
            <a:ext cx="548640" cy="548640"/>
          </a:xfrm>
          <a:prstGeom prst="ellipse">
            <a:avLst/>
          </a:prstGeom>
          <a:solidFill>
            <a:srgbClr val="0A7EA4"/>
          </a:solidFill>
        </p:spPr>
      </p:sp>
      <p:sp>
        <p:nvSpPr>
          <p:cNvPr id="26" name="Text 24"/>
          <p:cNvSpPr/>
          <p:nvPr/>
        </p:nvSpPr>
        <p:spPr>
          <a:xfrm>
            <a:off x="1033272" y="2468880"/>
            <a:ext cx="548640" cy="54864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5</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7" name="Text 25"/>
          <p:cNvSpPr/>
          <p:nvPr/>
        </p:nvSpPr>
        <p:spPr>
          <a:xfrm>
            <a:off x="411480" y="3090672"/>
            <a:ext cx="1828800" cy="566928"/>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Sinh danh sách Test Case</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8" name="Shape 26"/>
          <p:cNvSpPr/>
          <p:nvPr/>
        </p:nvSpPr>
        <p:spPr>
          <a:xfrm>
            <a:off x="2331720" y="3063240"/>
            <a:ext cx="137160" cy="0"/>
          </a:xfrm>
          <a:prstGeom prst="line">
            <a:avLst/>
          </a:prstGeom>
          <a:noFill/>
          <a:ln w="25400">
            <a:solidFill>
              <a:srgbClr val="0A7EA4"/>
            </a:solidFill>
            <a:prstDash val="solid"/>
          </a:ln>
        </p:spPr>
      </p:sp>
      <p:sp>
        <p:nvSpPr>
          <p:cNvPr id="29" name="Shape 27"/>
          <p:cNvSpPr/>
          <p:nvPr/>
        </p:nvSpPr>
        <p:spPr>
          <a:xfrm>
            <a:off x="2468880" y="2377440"/>
            <a:ext cx="2011680" cy="1371600"/>
          </a:xfrm>
          <a:prstGeom prst="roundRect">
            <a:avLst>
              <a:gd name="adj" fmla="val 6667"/>
            </a:avLst>
          </a:prstGeom>
          <a:solidFill>
            <a:srgbClr val="FFFFFF"/>
          </a:solidFill>
          <a:effectLst>
            <a:outerShdw blurRad="101600" dist="38100" dir="2700000" algn="bl" rotWithShape="0">
              <a:srgbClr val="000000">
                <a:alpha val="12000"/>
              </a:srgbClr>
            </a:outerShdw>
          </a:effectLst>
        </p:spPr>
      </p:sp>
      <p:sp>
        <p:nvSpPr>
          <p:cNvPr id="30" name="Shape 28"/>
          <p:cNvSpPr/>
          <p:nvPr/>
        </p:nvSpPr>
        <p:spPr>
          <a:xfrm>
            <a:off x="3182112" y="2468880"/>
            <a:ext cx="548640" cy="548640"/>
          </a:xfrm>
          <a:prstGeom prst="ellipse">
            <a:avLst/>
          </a:prstGeom>
          <a:solidFill>
            <a:srgbClr val="0A7EA4"/>
          </a:solidFill>
        </p:spPr>
      </p:sp>
      <p:sp>
        <p:nvSpPr>
          <p:cNvPr id="31" name="Text 29"/>
          <p:cNvSpPr/>
          <p:nvPr/>
        </p:nvSpPr>
        <p:spPr>
          <a:xfrm>
            <a:off x="3182112" y="2468880"/>
            <a:ext cx="548640" cy="54864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6</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32" name="Text 30"/>
          <p:cNvSpPr/>
          <p:nvPr/>
        </p:nvSpPr>
        <p:spPr>
          <a:xfrm>
            <a:off x="2560320" y="3090672"/>
            <a:ext cx="1828800" cy="566928"/>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Xây dựng kịch bản kiểm thử</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3" name="Shape 31"/>
          <p:cNvSpPr/>
          <p:nvPr/>
        </p:nvSpPr>
        <p:spPr>
          <a:xfrm>
            <a:off x="4480560" y="3063240"/>
            <a:ext cx="137160" cy="0"/>
          </a:xfrm>
          <a:prstGeom prst="line">
            <a:avLst/>
          </a:prstGeom>
          <a:noFill/>
          <a:ln w="25400">
            <a:solidFill>
              <a:srgbClr val="0A7EA4"/>
            </a:solidFill>
            <a:prstDash val="solid"/>
          </a:ln>
        </p:spPr>
      </p:sp>
      <p:sp>
        <p:nvSpPr>
          <p:cNvPr id="34" name="Shape 32"/>
          <p:cNvSpPr/>
          <p:nvPr/>
        </p:nvSpPr>
        <p:spPr>
          <a:xfrm>
            <a:off x="4617720" y="2377440"/>
            <a:ext cx="2011680" cy="1371600"/>
          </a:xfrm>
          <a:prstGeom prst="roundRect">
            <a:avLst>
              <a:gd name="adj" fmla="val 6667"/>
            </a:avLst>
          </a:prstGeom>
          <a:solidFill>
            <a:srgbClr val="E8F6FC"/>
          </a:solidFill>
          <a:effectLst>
            <a:outerShdw blurRad="101600" dist="38100" dir="2700000" algn="bl" rotWithShape="0">
              <a:srgbClr val="000000">
                <a:alpha val="12000"/>
              </a:srgbClr>
            </a:outerShdw>
          </a:effectLst>
        </p:spPr>
      </p:sp>
      <p:sp>
        <p:nvSpPr>
          <p:cNvPr id="35" name="Shape 33"/>
          <p:cNvSpPr/>
          <p:nvPr/>
        </p:nvSpPr>
        <p:spPr>
          <a:xfrm>
            <a:off x="5330952" y="2468880"/>
            <a:ext cx="548640" cy="548640"/>
          </a:xfrm>
          <a:prstGeom prst="ellipse">
            <a:avLst/>
          </a:prstGeom>
          <a:solidFill>
            <a:srgbClr val="0A7EA4"/>
          </a:solidFill>
        </p:spPr>
      </p:sp>
      <p:sp>
        <p:nvSpPr>
          <p:cNvPr id="36" name="Text 34"/>
          <p:cNvSpPr/>
          <p:nvPr/>
        </p:nvSpPr>
        <p:spPr>
          <a:xfrm>
            <a:off x="5330952" y="2468880"/>
            <a:ext cx="548640" cy="54864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7</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37" name="Text 35"/>
          <p:cNvSpPr/>
          <p:nvPr/>
        </p:nvSpPr>
        <p:spPr>
          <a:xfrm>
            <a:off x="4709160" y="3090672"/>
            <a:ext cx="1828800" cy="566928"/>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Thực thi kiểm thử</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8" name="Shape 36"/>
          <p:cNvSpPr/>
          <p:nvPr/>
        </p:nvSpPr>
        <p:spPr>
          <a:xfrm>
            <a:off x="6629400" y="3063240"/>
            <a:ext cx="137160" cy="0"/>
          </a:xfrm>
          <a:prstGeom prst="line">
            <a:avLst/>
          </a:prstGeom>
          <a:noFill/>
          <a:ln w="25400">
            <a:solidFill>
              <a:srgbClr val="0A7EA4"/>
            </a:solidFill>
            <a:prstDash val="solid"/>
          </a:ln>
        </p:spPr>
      </p:sp>
      <p:sp>
        <p:nvSpPr>
          <p:cNvPr id="39" name="Shape 37"/>
          <p:cNvSpPr/>
          <p:nvPr/>
        </p:nvSpPr>
        <p:spPr>
          <a:xfrm>
            <a:off x="6766560" y="2377440"/>
            <a:ext cx="2011680" cy="1371600"/>
          </a:xfrm>
          <a:prstGeom prst="roundRect">
            <a:avLst>
              <a:gd name="adj" fmla="val 6667"/>
            </a:avLst>
          </a:prstGeom>
          <a:solidFill>
            <a:srgbClr val="FFFFFF"/>
          </a:solidFill>
          <a:effectLst>
            <a:outerShdw blurRad="101600" dist="38100" dir="2700000" algn="bl" rotWithShape="0">
              <a:srgbClr val="000000">
                <a:alpha val="12000"/>
              </a:srgbClr>
            </a:outerShdw>
          </a:effectLst>
        </p:spPr>
      </p:sp>
      <p:sp>
        <p:nvSpPr>
          <p:cNvPr id="40" name="Shape 38"/>
          <p:cNvSpPr/>
          <p:nvPr/>
        </p:nvSpPr>
        <p:spPr>
          <a:xfrm>
            <a:off x="7479792" y="2468880"/>
            <a:ext cx="548640" cy="548640"/>
          </a:xfrm>
          <a:prstGeom prst="ellipse">
            <a:avLst/>
          </a:prstGeom>
          <a:solidFill>
            <a:srgbClr val="0A7EA4"/>
          </a:solidFill>
        </p:spPr>
      </p:sp>
      <p:sp>
        <p:nvSpPr>
          <p:cNvPr id="41" name="Text 39"/>
          <p:cNvSpPr/>
          <p:nvPr/>
        </p:nvSpPr>
        <p:spPr>
          <a:xfrm>
            <a:off x="7479792" y="2468880"/>
            <a:ext cx="548640" cy="54864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8</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42" name="Text 40"/>
          <p:cNvSpPr/>
          <p:nvPr/>
        </p:nvSpPr>
        <p:spPr>
          <a:xfrm>
            <a:off x="6858000" y="3090672"/>
            <a:ext cx="1828800" cy="566928"/>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Đánh giá kết quả</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3" name="Shape 41"/>
          <p:cNvSpPr/>
          <p:nvPr/>
        </p:nvSpPr>
        <p:spPr>
          <a:xfrm>
            <a:off x="320040" y="4096512"/>
            <a:ext cx="8503920" cy="914400"/>
          </a:xfrm>
          <a:prstGeom prst="roundRect">
            <a:avLst>
              <a:gd name="adj" fmla="val 8000"/>
            </a:avLst>
          </a:prstGeom>
        </p:spPr>
        <p:style>
          <a:lnRef idx="2">
            <a:schemeClr val="accent1"/>
          </a:lnRef>
          <a:fillRef idx="2">
            <a:schemeClr val="accent1"/>
          </a:fillRef>
          <a:effectRef idx="0">
            <a:srgbClr val="FFFFFF"/>
          </a:effectRef>
          <a:fontRef idx="minor">
            <a:schemeClr val="dk1"/>
          </a:fontRef>
        </p:style>
      </p:sp>
      <p:sp>
        <p:nvSpPr>
          <p:cNvPr id="44" name="Text 42"/>
          <p:cNvSpPr/>
          <p:nvPr/>
        </p:nvSpPr>
        <p:spPr>
          <a:xfrm>
            <a:off x="502920" y="4151376"/>
            <a:ext cx="8138160" cy="777240"/>
          </a:xfrm>
          <a:prstGeom prst="rect">
            <a:avLst/>
          </a:prstGeom>
          <a:noFill/>
        </p:spPr>
        <p:txBody>
          <a:bodyPr wrap="square" rtlCol="0" anchor="ctr"/>
          <a:lstStyle/>
          <a:p>
            <a:pPr marL="0" indent="0" algn="just">
              <a:buNone/>
            </a:pPr>
            <a:r>
              <a:rPr lang="en-US" sz="1600" i="1" dirty="0">
                <a:solidFill>
                  <a:schemeClr val="tx1"/>
                </a:solidFill>
                <a:latin typeface="Times New Roman" panose="02020603050405020304" charset="0"/>
                <a:ea typeface="Calibri" panose="020F0502020204030204" pitchFamily="34" charset="-122"/>
                <a:cs typeface="Times New Roman" panose="02020603050405020304" charset="0"/>
              </a:rPr>
              <a:t>Prompt mẫu (Role-based): "Bạn là một QA Engineer có kinh nghiệm. Hãy đọc tài liệu yêu cầu → Xác định quy tắc nghiệp vụ → Xác định trường hợp kiểm thử → Xác định dữ liệu đầu vào, kết quả mong đợi → Sinh danh sách Test Case dưới dạng bảng."</a:t>
            </a:r>
            <a:endParaRPr lang="en-US" sz="1600" i="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457200" y="164592"/>
            <a:ext cx="8229600" cy="457200"/>
          </a:xfrm>
          <a:prstGeom prst="rect">
            <a:avLst/>
          </a:prstGeom>
          <a:noFill/>
        </p:spPr>
        <p:txBody>
          <a:bodyPr wrap="square" rtlCol="0" anchor="ctr"/>
          <a:lstStyle/>
          <a:p>
            <a:pPr marL="0" indent="0">
              <a:buNone/>
            </a:pPr>
            <a:r>
              <a:rPr lang="en-US" sz="2700" b="1" dirty="0">
                <a:solidFill>
                  <a:srgbClr val="0D2137"/>
                </a:solidFill>
                <a:latin typeface="Times New Roman" panose="02020603050405020304" charset="0"/>
                <a:ea typeface="Calibri" panose="020F0502020204030204" pitchFamily="34" charset="-122"/>
                <a:cs typeface="Times New Roman" panose="02020603050405020304" charset="0"/>
              </a:rPr>
              <a:t>PHÂN TÍCH YÊU CẦU </a:t>
            </a:r>
            <a:r>
              <a:rPr lang="vi-VN" altLang="en-US" sz="2700" b="1" dirty="0">
                <a:solidFill>
                  <a:srgbClr val="0D2137"/>
                </a:solidFill>
                <a:latin typeface="Times New Roman" panose="02020603050405020304" charset="0"/>
                <a:ea typeface="Calibri" panose="020F0502020204030204" pitchFamily="34" charset="-122"/>
                <a:cs typeface="Times New Roman" panose="02020603050405020304" charset="0"/>
              </a:rPr>
              <a:t>VÀ</a:t>
            </a:r>
            <a:r>
              <a:rPr lang="en-US" sz="2700" b="1" dirty="0">
                <a:solidFill>
                  <a:srgbClr val="0D2137"/>
                </a:solidFill>
                <a:latin typeface="Times New Roman" panose="02020603050405020304" charset="0"/>
                <a:ea typeface="Calibri" panose="020F0502020204030204" pitchFamily="34" charset="-122"/>
                <a:cs typeface="Times New Roman" panose="02020603050405020304" charset="0"/>
              </a:rPr>
              <a:t> XÂY DỰNG TEST CASE</a:t>
            </a:r>
            <a:endParaRPr lang="en-US" sz="27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640080"/>
            <a:ext cx="8229600" cy="36576"/>
          </a:xfrm>
          <a:prstGeom prst="rect">
            <a:avLst/>
          </a:prstGeom>
          <a:solidFill>
            <a:srgbClr val="0A7EA4"/>
          </a:solidFill>
          <a:ln w="12700">
            <a:solidFill>
              <a:srgbClr val="0A7EA4"/>
            </a:solidFill>
            <a:prstDash val="solid"/>
          </a:ln>
        </p:spPr>
      </p:sp>
      <p:sp>
        <p:nvSpPr>
          <p:cNvPr id="5" name="Text 3"/>
          <p:cNvSpPr/>
          <p:nvPr/>
        </p:nvSpPr>
        <p:spPr>
          <a:xfrm>
            <a:off x="262255" y="777240"/>
            <a:ext cx="4172585" cy="347345"/>
          </a:xfrm>
          <a:prstGeom prst="rect">
            <a:avLst/>
          </a:prstGeom>
          <a:noFill/>
        </p:spPr>
        <p:txBody>
          <a:bodyPr wrap="square" rtlCol="0" anchor="ctr"/>
          <a:lstStyle/>
          <a:p>
            <a:pPr marL="0" indent="0">
              <a:buNone/>
            </a:pPr>
            <a:r>
              <a:rPr lang="en-US" b="1" dirty="0">
                <a:solidFill>
                  <a:srgbClr val="0A7EA4"/>
                </a:solidFill>
                <a:latin typeface="Times New Roman" panose="02020603050405020304" charset="0"/>
                <a:ea typeface="Calibri" panose="020F0502020204030204" pitchFamily="34" charset="-122"/>
                <a:cs typeface="Times New Roman" panose="02020603050405020304" charset="0"/>
              </a:rPr>
              <a:t>Quy tắc nghiệp vụ LLM nhận diện được</a:t>
            </a:r>
            <a:endParaRPr lang="en-US"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6" name="Shape 4"/>
          <p:cNvSpPr/>
          <p:nvPr/>
        </p:nvSpPr>
        <p:spPr>
          <a:xfrm>
            <a:off x="320040" y="1207008"/>
            <a:ext cx="4023360" cy="402336"/>
          </a:xfrm>
          <a:prstGeom prst="roundRect">
            <a:avLst>
              <a:gd name="adj" fmla="val 13636"/>
            </a:avLst>
          </a:prstGeom>
          <a:solidFill>
            <a:srgbClr val="FFFFFF"/>
          </a:solidFill>
          <a:effectLst>
            <a:outerShdw blurRad="101600" dist="38100" dir="2700000" algn="bl" rotWithShape="0">
              <a:srgbClr val="000000">
                <a:alpha val="12000"/>
              </a:srgbClr>
            </a:outerShdw>
          </a:effectLst>
        </p:spPr>
      </p:sp>
      <p:sp>
        <p:nvSpPr>
          <p:cNvPr id="7" name="Shape 5"/>
          <p:cNvSpPr/>
          <p:nvPr/>
        </p:nvSpPr>
        <p:spPr>
          <a:xfrm>
            <a:off x="384048" y="1261872"/>
            <a:ext cx="256032" cy="256032"/>
          </a:xfrm>
          <a:prstGeom prst="ellipse">
            <a:avLst/>
          </a:prstGeom>
          <a:solidFill>
            <a:srgbClr val="0A7EA4"/>
          </a:solidFill>
        </p:spPr>
      </p:sp>
      <p:sp>
        <p:nvSpPr>
          <p:cNvPr id="8" name="Text 6"/>
          <p:cNvSpPr/>
          <p:nvPr/>
        </p:nvSpPr>
        <p:spPr>
          <a:xfrm>
            <a:off x="384048" y="1261872"/>
            <a:ext cx="256032" cy="256032"/>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1</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9" name="Text 7"/>
          <p:cNvSpPr/>
          <p:nvPr/>
        </p:nvSpPr>
        <p:spPr>
          <a:xfrm>
            <a:off x="749808" y="1225296"/>
            <a:ext cx="3474720" cy="402336"/>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R1: Email không được để trống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0" name="Shape 8"/>
          <p:cNvSpPr/>
          <p:nvPr/>
        </p:nvSpPr>
        <p:spPr>
          <a:xfrm>
            <a:off x="320040" y="1664208"/>
            <a:ext cx="4023360" cy="402336"/>
          </a:xfrm>
          <a:prstGeom prst="roundRect">
            <a:avLst>
              <a:gd name="adj" fmla="val 13636"/>
            </a:avLst>
          </a:prstGeom>
          <a:solidFill>
            <a:srgbClr val="FFFFFF"/>
          </a:solidFill>
          <a:effectLst>
            <a:outerShdw blurRad="101600" dist="38100" dir="2700000" algn="bl" rotWithShape="0">
              <a:srgbClr val="000000">
                <a:alpha val="12000"/>
              </a:srgbClr>
            </a:outerShdw>
          </a:effectLst>
        </p:spPr>
      </p:sp>
      <p:sp>
        <p:nvSpPr>
          <p:cNvPr id="11" name="Shape 9"/>
          <p:cNvSpPr/>
          <p:nvPr/>
        </p:nvSpPr>
        <p:spPr>
          <a:xfrm>
            <a:off x="384048" y="1719072"/>
            <a:ext cx="256032" cy="256032"/>
          </a:xfrm>
          <a:prstGeom prst="ellipse">
            <a:avLst/>
          </a:prstGeom>
          <a:solidFill>
            <a:srgbClr val="0A7EA4"/>
          </a:solidFill>
        </p:spPr>
      </p:sp>
      <p:sp>
        <p:nvSpPr>
          <p:cNvPr id="12" name="Text 10"/>
          <p:cNvSpPr/>
          <p:nvPr/>
        </p:nvSpPr>
        <p:spPr>
          <a:xfrm>
            <a:off x="384048" y="1719072"/>
            <a:ext cx="256032" cy="256032"/>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2</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3" name="Text 11"/>
          <p:cNvSpPr/>
          <p:nvPr/>
        </p:nvSpPr>
        <p:spPr>
          <a:xfrm>
            <a:off x="749808" y="1682496"/>
            <a:ext cx="3474720" cy="402336"/>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R2: Password không được để trống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4" name="Shape 12"/>
          <p:cNvSpPr/>
          <p:nvPr/>
        </p:nvSpPr>
        <p:spPr>
          <a:xfrm>
            <a:off x="320040" y="2121408"/>
            <a:ext cx="4023360" cy="402336"/>
          </a:xfrm>
          <a:prstGeom prst="roundRect">
            <a:avLst>
              <a:gd name="adj" fmla="val 13636"/>
            </a:avLst>
          </a:prstGeom>
          <a:solidFill>
            <a:srgbClr val="FFFFFF"/>
          </a:solidFill>
          <a:effectLst>
            <a:outerShdw blurRad="101600" dist="38100" dir="2700000" algn="bl" rotWithShape="0">
              <a:srgbClr val="000000">
                <a:alpha val="12000"/>
              </a:srgbClr>
            </a:outerShdw>
          </a:effectLst>
        </p:spPr>
      </p:sp>
      <p:sp>
        <p:nvSpPr>
          <p:cNvPr id="15" name="Shape 13"/>
          <p:cNvSpPr/>
          <p:nvPr/>
        </p:nvSpPr>
        <p:spPr>
          <a:xfrm>
            <a:off x="384048" y="2176272"/>
            <a:ext cx="256032" cy="256032"/>
          </a:xfrm>
          <a:prstGeom prst="ellipse">
            <a:avLst/>
          </a:prstGeom>
          <a:solidFill>
            <a:srgbClr val="0A7EA4"/>
          </a:solidFill>
        </p:spPr>
      </p:sp>
      <p:sp>
        <p:nvSpPr>
          <p:cNvPr id="16" name="Text 14"/>
          <p:cNvSpPr/>
          <p:nvPr/>
        </p:nvSpPr>
        <p:spPr>
          <a:xfrm>
            <a:off x="384048" y="2176272"/>
            <a:ext cx="256032" cy="256032"/>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3</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7" name="Text 15"/>
          <p:cNvSpPr/>
          <p:nvPr/>
        </p:nvSpPr>
        <p:spPr>
          <a:xfrm>
            <a:off x="749808" y="2139696"/>
            <a:ext cx="3474720" cy="402336"/>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R3: Email đúng định dạng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8" name="Shape 16"/>
          <p:cNvSpPr/>
          <p:nvPr/>
        </p:nvSpPr>
        <p:spPr>
          <a:xfrm>
            <a:off x="320040" y="2578608"/>
            <a:ext cx="4023360" cy="402336"/>
          </a:xfrm>
          <a:prstGeom prst="roundRect">
            <a:avLst>
              <a:gd name="adj" fmla="val 13636"/>
            </a:avLst>
          </a:prstGeom>
          <a:solidFill>
            <a:srgbClr val="FFFFFF"/>
          </a:solidFill>
          <a:effectLst>
            <a:outerShdw blurRad="101600" dist="38100" dir="2700000" algn="bl" rotWithShape="0">
              <a:srgbClr val="000000">
                <a:alpha val="12000"/>
              </a:srgbClr>
            </a:outerShdw>
          </a:effectLst>
        </p:spPr>
      </p:sp>
      <p:sp>
        <p:nvSpPr>
          <p:cNvPr id="19" name="Shape 17"/>
          <p:cNvSpPr/>
          <p:nvPr/>
        </p:nvSpPr>
        <p:spPr>
          <a:xfrm>
            <a:off x="384048" y="2633472"/>
            <a:ext cx="256032" cy="256032"/>
          </a:xfrm>
          <a:prstGeom prst="ellipse">
            <a:avLst/>
          </a:prstGeom>
          <a:solidFill>
            <a:srgbClr val="0A7EA4"/>
          </a:solidFill>
        </p:spPr>
      </p:sp>
      <p:sp>
        <p:nvSpPr>
          <p:cNvPr id="20" name="Text 18"/>
          <p:cNvSpPr/>
          <p:nvPr/>
        </p:nvSpPr>
        <p:spPr>
          <a:xfrm>
            <a:off x="384048" y="2633472"/>
            <a:ext cx="256032" cy="256032"/>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4</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1" name="Text 19"/>
          <p:cNvSpPr/>
          <p:nvPr/>
        </p:nvSpPr>
        <p:spPr>
          <a:xfrm>
            <a:off x="749808" y="2596896"/>
            <a:ext cx="3474720" cy="402336"/>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R4: Email tối đa 100 ký tự</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2" name="Shape 20"/>
          <p:cNvSpPr/>
          <p:nvPr/>
        </p:nvSpPr>
        <p:spPr>
          <a:xfrm>
            <a:off x="320040" y="3035808"/>
            <a:ext cx="4023360" cy="402336"/>
          </a:xfrm>
          <a:prstGeom prst="roundRect">
            <a:avLst>
              <a:gd name="adj" fmla="val 13636"/>
            </a:avLst>
          </a:prstGeom>
          <a:solidFill>
            <a:srgbClr val="FFFFFF"/>
          </a:solidFill>
          <a:effectLst>
            <a:outerShdw blurRad="101600" dist="38100" dir="2700000" algn="bl" rotWithShape="0">
              <a:srgbClr val="000000">
                <a:alpha val="12000"/>
              </a:srgbClr>
            </a:outerShdw>
          </a:effectLst>
        </p:spPr>
      </p:sp>
      <p:sp>
        <p:nvSpPr>
          <p:cNvPr id="23" name="Shape 21"/>
          <p:cNvSpPr/>
          <p:nvPr/>
        </p:nvSpPr>
        <p:spPr>
          <a:xfrm>
            <a:off x="384048" y="3090672"/>
            <a:ext cx="256032" cy="256032"/>
          </a:xfrm>
          <a:prstGeom prst="ellipse">
            <a:avLst/>
          </a:prstGeom>
          <a:solidFill>
            <a:srgbClr val="0A7EA4"/>
          </a:solidFill>
        </p:spPr>
      </p:sp>
      <p:sp>
        <p:nvSpPr>
          <p:cNvPr id="24" name="Text 22"/>
          <p:cNvSpPr/>
          <p:nvPr/>
        </p:nvSpPr>
        <p:spPr>
          <a:xfrm>
            <a:off x="384048" y="3090672"/>
            <a:ext cx="256032" cy="256032"/>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5</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5" name="Text 23"/>
          <p:cNvSpPr/>
          <p:nvPr/>
        </p:nvSpPr>
        <p:spPr>
          <a:xfrm>
            <a:off x="749808" y="3054096"/>
            <a:ext cx="3474720" cy="402336"/>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R5: Đăng nhập thành công khi hợp lệ</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6" name="Shape 24"/>
          <p:cNvSpPr/>
          <p:nvPr/>
        </p:nvSpPr>
        <p:spPr>
          <a:xfrm>
            <a:off x="320040" y="3493008"/>
            <a:ext cx="4023360" cy="402336"/>
          </a:xfrm>
          <a:prstGeom prst="roundRect">
            <a:avLst>
              <a:gd name="adj" fmla="val 13636"/>
            </a:avLst>
          </a:prstGeom>
          <a:solidFill>
            <a:srgbClr val="FFFFFF"/>
          </a:solidFill>
          <a:effectLst>
            <a:outerShdw blurRad="101600" dist="38100" dir="2700000" algn="bl" rotWithShape="0">
              <a:srgbClr val="000000">
                <a:alpha val="12000"/>
              </a:srgbClr>
            </a:outerShdw>
          </a:effectLst>
        </p:spPr>
      </p:sp>
      <p:sp>
        <p:nvSpPr>
          <p:cNvPr id="27" name="Shape 25"/>
          <p:cNvSpPr/>
          <p:nvPr/>
        </p:nvSpPr>
        <p:spPr>
          <a:xfrm>
            <a:off x="384048" y="3547872"/>
            <a:ext cx="256032" cy="256032"/>
          </a:xfrm>
          <a:prstGeom prst="ellipse">
            <a:avLst/>
          </a:prstGeom>
          <a:solidFill>
            <a:srgbClr val="0A7EA4"/>
          </a:solidFill>
        </p:spPr>
      </p:sp>
      <p:sp>
        <p:nvSpPr>
          <p:cNvPr id="28" name="Text 26"/>
          <p:cNvSpPr/>
          <p:nvPr/>
        </p:nvSpPr>
        <p:spPr>
          <a:xfrm>
            <a:off x="384048" y="3547872"/>
            <a:ext cx="256032" cy="256032"/>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6</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9" name="Text 27"/>
          <p:cNvSpPr/>
          <p:nvPr/>
        </p:nvSpPr>
        <p:spPr>
          <a:xfrm>
            <a:off x="749808" y="3511296"/>
            <a:ext cx="3474720" cy="402336"/>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R6: Khóa sau 5 lần sai</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0" name="Shape 28"/>
          <p:cNvSpPr/>
          <p:nvPr/>
        </p:nvSpPr>
        <p:spPr>
          <a:xfrm>
            <a:off x="320040" y="3950208"/>
            <a:ext cx="4023360" cy="402336"/>
          </a:xfrm>
          <a:prstGeom prst="roundRect">
            <a:avLst>
              <a:gd name="adj" fmla="val 13636"/>
            </a:avLst>
          </a:prstGeom>
          <a:solidFill>
            <a:srgbClr val="FFFFFF"/>
          </a:solidFill>
          <a:effectLst>
            <a:outerShdw blurRad="101600" dist="38100" dir="2700000" algn="bl" rotWithShape="0">
              <a:srgbClr val="000000">
                <a:alpha val="12000"/>
              </a:srgbClr>
            </a:outerShdw>
          </a:effectLst>
        </p:spPr>
      </p:sp>
      <p:sp>
        <p:nvSpPr>
          <p:cNvPr id="31" name="Shape 29"/>
          <p:cNvSpPr/>
          <p:nvPr/>
        </p:nvSpPr>
        <p:spPr>
          <a:xfrm>
            <a:off x="384048" y="4005072"/>
            <a:ext cx="256032" cy="256032"/>
          </a:xfrm>
          <a:prstGeom prst="ellipse">
            <a:avLst/>
          </a:prstGeom>
          <a:solidFill>
            <a:srgbClr val="0A7EA4"/>
          </a:solidFill>
        </p:spPr>
      </p:sp>
      <p:sp>
        <p:nvSpPr>
          <p:cNvPr id="32" name="Text 30"/>
          <p:cNvSpPr/>
          <p:nvPr/>
        </p:nvSpPr>
        <p:spPr>
          <a:xfrm>
            <a:off x="384048" y="4005072"/>
            <a:ext cx="256032" cy="256032"/>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7</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33" name="Text 31"/>
          <p:cNvSpPr/>
          <p:nvPr/>
        </p:nvSpPr>
        <p:spPr>
          <a:xfrm>
            <a:off x="749808" y="3968496"/>
            <a:ext cx="3474720" cy="402336"/>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R7: Thời gian khóa 15 phút</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4" name="Shape 32"/>
          <p:cNvSpPr/>
          <p:nvPr/>
        </p:nvSpPr>
        <p:spPr>
          <a:xfrm>
            <a:off x="320040" y="4407408"/>
            <a:ext cx="4023360" cy="402336"/>
          </a:xfrm>
          <a:prstGeom prst="roundRect">
            <a:avLst>
              <a:gd name="adj" fmla="val 13636"/>
            </a:avLst>
          </a:prstGeom>
          <a:solidFill>
            <a:srgbClr val="FFFFFF"/>
          </a:solidFill>
          <a:effectLst>
            <a:outerShdw blurRad="101600" dist="38100" dir="2700000" algn="bl" rotWithShape="0">
              <a:srgbClr val="000000">
                <a:alpha val="12000"/>
              </a:srgbClr>
            </a:outerShdw>
          </a:effectLst>
        </p:spPr>
      </p:sp>
      <p:sp>
        <p:nvSpPr>
          <p:cNvPr id="35" name="Shape 33"/>
          <p:cNvSpPr/>
          <p:nvPr/>
        </p:nvSpPr>
        <p:spPr>
          <a:xfrm>
            <a:off x="384048" y="4462272"/>
            <a:ext cx="256032" cy="256032"/>
          </a:xfrm>
          <a:prstGeom prst="ellipse">
            <a:avLst/>
          </a:prstGeom>
          <a:solidFill>
            <a:srgbClr val="0A7EA4"/>
          </a:solidFill>
        </p:spPr>
      </p:sp>
      <p:sp>
        <p:nvSpPr>
          <p:cNvPr id="36" name="Text 34"/>
          <p:cNvSpPr/>
          <p:nvPr/>
        </p:nvSpPr>
        <p:spPr>
          <a:xfrm>
            <a:off x="384048" y="4462272"/>
            <a:ext cx="256032" cy="256032"/>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8</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37" name="Text 35"/>
          <p:cNvSpPr/>
          <p:nvPr/>
        </p:nvSpPr>
        <p:spPr>
          <a:xfrm>
            <a:off x="749808" y="4425696"/>
            <a:ext cx="3474720" cy="402336"/>
          </a:xfrm>
          <a:prstGeom prst="rect">
            <a:avLst/>
          </a:prstGeom>
          <a:noFill/>
        </p:spPr>
        <p:txBody>
          <a:bodyPr wrap="square" rtlCol="0" anchor="ctr"/>
          <a:lstStyle/>
          <a:p>
            <a:pPr marL="0" indent="0">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R8: Không đăng nhập khi bị khóa</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8" name="Text 36"/>
          <p:cNvSpPr/>
          <p:nvPr/>
        </p:nvSpPr>
        <p:spPr>
          <a:xfrm>
            <a:off x="4663440" y="777240"/>
            <a:ext cx="4160520" cy="347472"/>
          </a:xfrm>
          <a:prstGeom prst="rect">
            <a:avLst/>
          </a:prstGeom>
          <a:noFill/>
        </p:spPr>
        <p:txBody>
          <a:bodyPr wrap="square" rtlCol="0" anchor="ctr"/>
          <a:lstStyle/>
          <a:p>
            <a:pPr marL="0" indent="0">
              <a:buNone/>
            </a:pPr>
            <a:r>
              <a:rPr lang="en-US" b="1" dirty="0">
                <a:solidFill>
                  <a:srgbClr val="F5A623"/>
                </a:solidFill>
                <a:latin typeface="Times New Roman" panose="02020603050405020304" charset="0"/>
                <a:ea typeface="Calibri" panose="020F0502020204030204" pitchFamily="34" charset="-122"/>
                <a:cs typeface="Times New Roman" panose="02020603050405020304" charset="0"/>
              </a:rPr>
              <a:t>Ma trận truy vết (Traceability Matrix)</a:t>
            </a:r>
            <a:endParaRPr lang="en-US" b="1" dirty="0">
              <a:solidFill>
                <a:srgbClr val="F5A623"/>
              </a:solidFill>
              <a:latin typeface="Times New Roman" panose="02020603050405020304" charset="0"/>
              <a:ea typeface="Calibri" panose="020F0502020204030204" pitchFamily="34" charset="-122"/>
              <a:cs typeface="Times New Roman" panose="02020603050405020304" charset="0"/>
            </a:endParaRPr>
          </a:p>
        </p:txBody>
      </p:sp>
      <p:sp>
        <p:nvSpPr>
          <p:cNvPr id="39" name="Shape 37"/>
          <p:cNvSpPr/>
          <p:nvPr/>
        </p:nvSpPr>
        <p:spPr>
          <a:xfrm>
            <a:off x="4663440" y="1207008"/>
            <a:ext cx="1097280" cy="384048"/>
          </a:xfrm>
          <a:prstGeom prst="rect">
            <a:avLst/>
          </a:prstGeom>
          <a:solidFill>
            <a:srgbClr val="F5A623"/>
          </a:solidFill>
          <a:ln w="12700">
            <a:solidFill>
              <a:srgbClr val="F5A623"/>
            </a:solidFill>
            <a:prstDash val="solid"/>
          </a:ln>
        </p:spPr>
      </p:sp>
      <p:sp>
        <p:nvSpPr>
          <p:cNvPr id="40" name="Text 38"/>
          <p:cNvSpPr/>
          <p:nvPr/>
        </p:nvSpPr>
        <p:spPr>
          <a:xfrm>
            <a:off x="4663440" y="1207008"/>
            <a:ext cx="1097280" cy="384048"/>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Mã YC</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41" name="Shape 39"/>
          <p:cNvSpPr/>
          <p:nvPr/>
        </p:nvSpPr>
        <p:spPr>
          <a:xfrm>
            <a:off x="5760720" y="1207135"/>
            <a:ext cx="3345815" cy="384175"/>
          </a:xfrm>
          <a:prstGeom prst="rect">
            <a:avLst/>
          </a:prstGeom>
          <a:solidFill>
            <a:srgbClr val="F5A623"/>
          </a:solidFill>
          <a:ln w="12700">
            <a:solidFill>
              <a:srgbClr val="F5A623"/>
            </a:solidFill>
            <a:prstDash val="solid"/>
          </a:ln>
        </p:spPr>
      </p:sp>
      <p:sp>
        <p:nvSpPr>
          <p:cNvPr id="42" name="Text 40"/>
          <p:cNvSpPr/>
          <p:nvPr/>
        </p:nvSpPr>
        <p:spPr>
          <a:xfrm>
            <a:off x="5760720" y="1207135"/>
            <a:ext cx="3345815" cy="384175"/>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Test Case</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43" name="Shape 41"/>
          <p:cNvSpPr/>
          <p:nvPr/>
        </p:nvSpPr>
        <p:spPr>
          <a:xfrm>
            <a:off x="4663440" y="1591056"/>
            <a:ext cx="1097280" cy="438912"/>
          </a:xfrm>
          <a:prstGeom prst="rect">
            <a:avLst/>
          </a:prstGeom>
          <a:solidFill>
            <a:srgbClr val="E8F6FC"/>
          </a:solidFill>
          <a:ln w="6350">
            <a:solidFill>
              <a:srgbClr val="D1D5DB"/>
            </a:solidFill>
            <a:prstDash val="solid"/>
          </a:ln>
        </p:spPr>
      </p:sp>
      <p:sp>
        <p:nvSpPr>
          <p:cNvPr id="44" name="Text 42"/>
          <p:cNvSpPr/>
          <p:nvPr/>
        </p:nvSpPr>
        <p:spPr>
          <a:xfrm>
            <a:off x="4718304" y="1591056"/>
            <a:ext cx="987552" cy="438912"/>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R1</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5" name="Shape 43"/>
          <p:cNvSpPr/>
          <p:nvPr/>
        </p:nvSpPr>
        <p:spPr>
          <a:xfrm>
            <a:off x="5760720" y="1591310"/>
            <a:ext cx="3345815" cy="438785"/>
          </a:xfrm>
          <a:prstGeom prst="rect">
            <a:avLst/>
          </a:prstGeom>
          <a:solidFill>
            <a:srgbClr val="E8F6FC"/>
          </a:solidFill>
          <a:ln w="6350">
            <a:solidFill>
              <a:srgbClr val="D1D5DB"/>
            </a:solidFill>
            <a:prstDash val="solid"/>
          </a:ln>
        </p:spPr>
      </p:sp>
      <p:sp>
        <p:nvSpPr>
          <p:cNvPr id="46" name="Text 44"/>
          <p:cNvSpPr/>
          <p:nvPr/>
        </p:nvSpPr>
        <p:spPr>
          <a:xfrm>
            <a:off x="5815330" y="1591310"/>
            <a:ext cx="3211830" cy="438785"/>
          </a:xfrm>
          <a:prstGeom prst="rect">
            <a:avLst/>
          </a:prstGeom>
          <a:noFill/>
        </p:spPr>
        <p:txBody>
          <a:bodyPr wrap="square" rtlCol="0" anchor="ctr"/>
          <a:lstStyle/>
          <a:p>
            <a:pPr marL="0" indent="0" algn="l">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TC002 - Email rỗng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7" name="Shape 45"/>
          <p:cNvSpPr/>
          <p:nvPr/>
        </p:nvSpPr>
        <p:spPr>
          <a:xfrm>
            <a:off x="4663440" y="2029968"/>
            <a:ext cx="1097280" cy="438912"/>
          </a:xfrm>
          <a:prstGeom prst="rect">
            <a:avLst/>
          </a:prstGeom>
          <a:solidFill>
            <a:srgbClr val="FFFFFF"/>
          </a:solidFill>
          <a:ln w="6350">
            <a:solidFill>
              <a:srgbClr val="D1D5DB"/>
            </a:solidFill>
            <a:prstDash val="solid"/>
          </a:ln>
        </p:spPr>
      </p:sp>
      <p:sp>
        <p:nvSpPr>
          <p:cNvPr id="48" name="Text 46"/>
          <p:cNvSpPr/>
          <p:nvPr/>
        </p:nvSpPr>
        <p:spPr>
          <a:xfrm>
            <a:off x="4718304" y="2029968"/>
            <a:ext cx="987552" cy="438912"/>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R2</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9" name="Shape 47"/>
          <p:cNvSpPr/>
          <p:nvPr/>
        </p:nvSpPr>
        <p:spPr>
          <a:xfrm>
            <a:off x="5760720" y="2030095"/>
            <a:ext cx="3345815" cy="438785"/>
          </a:xfrm>
          <a:prstGeom prst="rect">
            <a:avLst/>
          </a:prstGeom>
          <a:solidFill>
            <a:srgbClr val="FFFFFF"/>
          </a:solidFill>
          <a:ln w="6350">
            <a:solidFill>
              <a:srgbClr val="D1D5DB"/>
            </a:solidFill>
            <a:prstDash val="solid"/>
          </a:ln>
        </p:spPr>
      </p:sp>
      <p:sp>
        <p:nvSpPr>
          <p:cNvPr id="50" name="Text 48"/>
          <p:cNvSpPr/>
          <p:nvPr/>
        </p:nvSpPr>
        <p:spPr>
          <a:xfrm>
            <a:off x="5815330" y="2030095"/>
            <a:ext cx="3211830" cy="438785"/>
          </a:xfrm>
          <a:prstGeom prst="rect">
            <a:avLst/>
          </a:prstGeom>
          <a:noFill/>
        </p:spPr>
        <p:txBody>
          <a:bodyPr wrap="square" rtlCol="0" anchor="ctr"/>
          <a:lstStyle/>
          <a:p>
            <a:pPr marL="0" indent="0" algn="l">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TC003 - Password rỗng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51" name="Shape 49"/>
          <p:cNvSpPr/>
          <p:nvPr/>
        </p:nvSpPr>
        <p:spPr>
          <a:xfrm>
            <a:off x="4663440" y="2468880"/>
            <a:ext cx="1097280" cy="438912"/>
          </a:xfrm>
          <a:prstGeom prst="rect">
            <a:avLst/>
          </a:prstGeom>
          <a:solidFill>
            <a:srgbClr val="E8F6FC"/>
          </a:solidFill>
          <a:ln w="6350">
            <a:solidFill>
              <a:srgbClr val="D1D5DB"/>
            </a:solidFill>
            <a:prstDash val="solid"/>
          </a:ln>
        </p:spPr>
      </p:sp>
      <p:sp>
        <p:nvSpPr>
          <p:cNvPr id="52" name="Text 50"/>
          <p:cNvSpPr/>
          <p:nvPr/>
        </p:nvSpPr>
        <p:spPr>
          <a:xfrm>
            <a:off x="4718304" y="2468880"/>
            <a:ext cx="987552" cy="438912"/>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R3</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53" name="Shape 51"/>
          <p:cNvSpPr/>
          <p:nvPr/>
        </p:nvSpPr>
        <p:spPr>
          <a:xfrm>
            <a:off x="5760720" y="2468880"/>
            <a:ext cx="3345815" cy="438785"/>
          </a:xfrm>
          <a:prstGeom prst="rect">
            <a:avLst/>
          </a:prstGeom>
          <a:solidFill>
            <a:srgbClr val="E8F6FC"/>
          </a:solidFill>
          <a:ln w="6350">
            <a:solidFill>
              <a:srgbClr val="D1D5DB"/>
            </a:solidFill>
            <a:prstDash val="solid"/>
          </a:ln>
        </p:spPr>
      </p:sp>
      <p:sp>
        <p:nvSpPr>
          <p:cNvPr id="54" name="Text 52"/>
          <p:cNvSpPr/>
          <p:nvPr/>
        </p:nvSpPr>
        <p:spPr>
          <a:xfrm>
            <a:off x="5815330" y="2468880"/>
            <a:ext cx="3211830" cy="438785"/>
          </a:xfrm>
          <a:prstGeom prst="rect">
            <a:avLst/>
          </a:prstGeom>
          <a:noFill/>
        </p:spPr>
        <p:txBody>
          <a:bodyPr wrap="square" rtlCol="0" anchor="ctr"/>
          <a:lstStyle/>
          <a:p>
            <a:pPr marL="0" indent="0" algn="l">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TC004 - Email sai định dạng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55" name="Shape 53"/>
          <p:cNvSpPr/>
          <p:nvPr/>
        </p:nvSpPr>
        <p:spPr>
          <a:xfrm>
            <a:off x="4663440" y="2907792"/>
            <a:ext cx="1097280" cy="438912"/>
          </a:xfrm>
          <a:prstGeom prst="rect">
            <a:avLst/>
          </a:prstGeom>
          <a:solidFill>
            <a:srgbClr val="FFFFFF"/>
          </a:solidFill>
          <a:ln w="6350">
            <a:solidFill>
              <a:srgbClr val="D1D5DB"/>
            </a:solidFill>
            <a:prstDash val="solid"/>
          </a:ln>
        </p:spPr>
      </p:sp>
      <p:sp>
        <p:nvSpPr>
          <p:cNvPr id="56" name="Text 54"/>
          <p:cNvSpPr/>
          <p:nvPr/>
        </p:nvSpPr>
        <p:spPr>
          <a:xfrm>
            <a:off x="4718304" y="2907792"/>
            <a:ext cx="987552" cy="438912"/>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R4</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57" name="Shape 55"/>
          <p:cNvSpPr/>
          <p:nvPr/>
        </p:nvSpPr>
        <p:spPr>
          <a:xfrm>
            <a:off x="5760720" y="2907665"/>
            <a:ext cx="3345815" cy="438785"/>
          </a:xfrm>
          <a:prstGeom prst="rect">
            <a:avLst/>
          </a:prstGeom>
          <a:solidFill>
            <a:srgbClr val="FFFFFF"/>
          </a:solidFill>
          <a:ln w="6350">
            <a:solidFill>
              <a:srgbClr val="D1D5DB"/>
            </a:solidFill>
            <a:prstDash val="solid"/>
          </a:ln>
        </p:spPr>
      </p:sp>
      <p:sp>
        <p:nvSpPr>
          <p:cNvPr id="58" name="Text 56"/>
          <p:cNvSpPr/>
          <p:nvPr/>
        </p:nvSpPr>
        <p:spPr>
          <a:xfrm>
            <a:off x="5815330" y="2907665"/>
            <a:ext cx="3211830" cy="438785"/>
          </a:xfrm>
          <a:prstGeom prst="rect">
            <a:avLst/>
          </a:prstGeom>
          <a:noFill/>
        </p:spPr>
        <p:txBody>
          <a:bodyPr wrap="square" rtlCol="0" anchor="ctr"/>
          <a:lstStyle/>
          <a:p>
            <a:pPr marL="0" indent="0" algn="l">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TC005 - Email vượt 100 ký tự</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59" name="Shape 57"/>
          <p:cNvSpPr/>
          <p:nvPr/>
        </p:nvSpPr>
        <p:spPr>
          <a:xfrm>
            <a:off x="4663440" y="3346704"/>
            <a:ext cx="1097280" cy="438912"/>
          </a:xfrm>
          <a:prstGeom prst="rect">
            <a:avLst/>
          </a:prstGeom>
          <a:solidFill>
            <a:srgbClr val="E8F6FC"/>
          </a:solidFill>
          <a:ln w="6350">
            <a:solidFill>
              <a:srgbClr val="D1D5DB"/>
            </a:solidFill>
            <a:prstDash val="solid"/>
          </a:ln>
        </p:spPr>
      </p:sp>
      <p:sp>
        <p:nvSpPr>
          <p:cNvPr id="60" name="Text 58"/>
          <p:cNvSpPr/>
          <p:nvPr/>
        </p:nvSpPr>
        <p:spPr>
          <a:xfrm>
            <a:off x="4718304" y="3346704"/>
            <a:ext cx="987552" cy="438912"/>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R5</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61" name="Shape 59"/>
          <p:cNvSpPr/>
          <p:nvPr/>
        </p:nvSpPr>
        <p:spPr>
          <a:xfrm>
            <a:off x="5760720" y="3346450"/>
            <a:ext cx="3345815" cy="438785"/>
          </a:xfrm>
          <a:prstGeom prst="rect">
            <a:avLst/>
          </a:prstGeom>
          <a:solidFill>
            <a:srgbClr val="E8F6FC"/>
          </a:solidFill>
          <a:ln w="6350">
            <a:solidFill>
              <a:srgbClr val="D1D5DB"/>
            </a:solidFill>
            <a:prstDash val="solid"/>
          </a:ln>
        </p:spPr>
      </p:sp>
      <p:sp>
        <p:nvSpPr>
          <p:cNvPr id="62" name="Text 60"/>
          <p:cNvSpPr/>
          <p:nvPr/>
        </p:nvSpPr>
        <p:spPr>
          <a:xfrm>
            <a:off x="5815330" y="3346450"/>
            <a:ext cx="3211830" cy="438785"/>
          </a:xfrm>
          <a:prstGeom prst="rect">
            <a:avLst/>
          </a:prstGeom>
          <a:noFill/>
        </p:spPr>
        <p:txBody>
          <a:bodyPr wrap="square" rtlCol="0" anchor="ctr"/>
          <a:lstStyle/>
          <a:p>
            <a:pPr marL="0" indent="0" algn="l">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TC008 - Đăng nhập thành công</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63" name="Shape 61"/>
          <p:cNvSpPr/>
          <p:nvPr/>
        </p:nvSpPr>
        <p:spPr>
          <a:xfrm>
            <a:off x="4663440" y="3785616"/>
            <a:ext cx="1097280" cy="438912"/>
          </a:xfrm>
          <a:prstGeom prst="rect">
            <a:avLst/>
          </a:prstGeom>
          <a:solidFill>
            <a:srgbClr val="FFFFFF"/>
          </a:solidFill>
          <a:ln w="6350">
            <a:solidFill>
              <a:srgbClr val="D1D5DB"/>
            </a:solidFill>
            <a:prstDash val="solid"/>
          </a:ln>
        </p:spPr>
      </p:sp>
      <p:sp>
        <p:nvSpPr>
          <p:cNvPr id="64" name="Text 62"/>
          <p:cNvSpPr/>
          <p:nvPr/>
        </p:nvSpPr>
        <p:spPr>
          <a:xfrm>
            <a:off x="4718304" y="3785616"/>
            <a:ext cx="987552" cy="438912"/>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R6</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65" name="Shape 63"/>
          <p:cNvSpPr/>
          <p:nvPr/>
        </p:nvSpPr>
        <p:spPr>
          <a:xfrm>
            <a:off x="5760720" y="3785870"/>
            <a:ext cx="3345815" cy="438785"/>
          </a:xfrm>
          <a:prstGeom prst="rect">
            <a:avLst/>
          </a:prstGeom>
          <a:solidFill>
            <a:srgbClr val="FFFFFF"/>
          </a:solidFill>
          <a:ln w="6350">
            <a:solidFill>
              <a:srgbClr val="D1D5DB"/>
            </a:solidFill>
            <a:prstDash val="solid"/>
          </a:ln>
        </p:spPr>
      </p:sp>
      <p:sp>
        <p:nvSpPr>
          <p:cNvPr id="66" name="Text 64"/>
          <p:cNvSpPr/>
          <p:nvPr/>
        </p:nvSpPr>
        <p:spPr>
          <a:xfrm>
            <a:off x="5815330" y="3785870"/>
            <a:ext cx="3211830" cy="438785"/>
          </a:xfrm>
          <a:prstGeom prst="rect">
            <a:avLst/>
          </a:prstGeom>
          <a:noFill/>
        </p:spPr>
        <p:txBody>
          <a:bodyPr wrap="square" rtlCol="0" anchor="ctr"/>
          <a:lstStyle/>
          <a:p>
            <a:pPr marL="0" indent="0" algn="l">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TC009 - Khóa sau 5 lần sai</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67" name="Shape 65"/>
          <p:cNvSpPr/>
          <p:nvPr/>
        </p:nvSpPr>
        <p:spPr>
          <a:xfrm>
            <a:off x="4663440" y="4224528"/>
            <a:ext cx="1097280" cy="438912"/>
          </a:xfrm>
          <a:prstGeom prst="rect">
            <a:avLst/>
          </a:prstGeom>
          <a:solidFill>
            <a:srgbClr val="E8F6FC"/>
          </a:solidFill>
          <a:ln w="6350">
            <a:solidFill>
              <a:srgbClr val="D1D5DB"/>
            </a:solidFill>
            <a:prstDash val="solid"/>
          </a:ln>
        </p:spPr>
      </p:sp>
      <p:sp>
        <p:nvSpPr>
          <p:cNvPr id="68" name="Text 66"/>
          <p:cNvSpPr/>
          <p:nvPr/>
        </p:nvSpPr>
        <p:spPr>
          <a:xfrm>
            <a:off x="4718304" y="4224528"/>
            <a:ext cx="987552" cy="438912"/>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R7</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69" name="Shape 67"/>
          <p:cNvSpPr/>
          <p:nvPr/>
        </p:nvSpPr>
        <p:spPr>
          <a:xfrm>
            <a:off x="5760720" y="4224655"/>
            <a:ext cx="3345815" cy="438785"/>
          </a:xfrm>
          <a:prstGeom prst="rect">
            <a:avLst/>
          </a:prstGeom>
          <a:solidFill>
            <a:srgbClr val="E8F6FC"/>
          </a:solidFill>
          <a:ln w="6350">
            <a:solidFill>
              <a:srgbClr val="D1D5DB"/>
            </a:solidFill>
            <a:prstDash val="solid"/>
          </a:ln>
        </p:spPr>
      </p:sp>
      <p:sp>
        <p:nvSpPr>
          <p:cNvPr id="70" name="Text 68"/>
          <p:cNvSpPr/>
          <p:nvPr/>
        </p:nvSpPr>
        <p:spPr>
          <a:xfrm>
            <a:off x="5815330" y="4224655"/>
            <a:ext cx="3211830" cy="438785"/>
          </a:xfrm>
          <a:prstGeom prst="rect">
            <a:avLst/>
          </a:prstGeom>
          <a:noFill/>
        </p:spPr>
        <p:txBody>
          <a:bodyPr wrap="square" rtlCol="0" anchor="ctr"/>
          <a:lstStyle/>
          <a:p>
            <a:pPr marL="0" indent="0" algn="l">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TC010 - Kiểm tra thời gian khóa</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71" name="Shape 69"/>
          <p:cNvSpPr/>
          <p:nvPr/>
        </p:nvSpPr>
        <p:spPr>
          <a:xfrm>
            <a:off x="4663440" y="4663440"/>
            <a:ext cx="1097280" cy="438912"/>
          </a:xfrm>
          <a:prstGeom prst="rect">
            <a:avLst/>
          </a:prstGeom>
          <a:solidFill>
            <a:srgbClr val="FFFFFF"/>
          </a:solidFill>
          <a:ln w="6350">
            <a:solidFill>
              <a:srgbClr val="D1D5DB"/>
            </a:solidFill>
            <a:prstDash val="solid"/>
          </a:ln>
        </p:spPr>
      </p:sp>
      <p:sp>
        <p:nvSpPr>
          <p:cNvPr id="72" name="Text 70"/>
          <p:cNvSpPr/>
          <p:nvPr/>
        </p:nvSpPr>
        <p:spPr>
          <a:xfrm>
            <a:off x="4718304" y="4663440"/>
            <a:ext cx="987552" cy="438912"/>
          </a:xfrm>
          <a:prstGeom prst="rect">
            <a:avLst/>
          </a:prstGeom>
          <a:noFill/>
        </p:spPr>
        <p:txBody>
          <a:bodyPr wrap="square" rtlCol="0" anchor="ctr"/>
          <a:lstStyle/>
          <a:p>
            <a:pPr marL="0" indent="0" algn="ctr">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R8</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74" name="Text 72"/>
          <p:cNvSpPr/>
          <p:nvPr/>
        </p:nvSpPr>
        <p:spPr>
          <a:xfrm>
            <a:off x="5815330" y="4663440"/>
            <a:ext cx="3211830" cy="438785"/>
          </a:xfrm>
          <a:prstGeom prst="rect">
            <a:avLst/>
          </a:prstGeom>
          <a:noFill/>
        </p:spPr>
        <p:txBody>
          <a:bodyPr wrap="square" rtlCol="0" anchor="ctr"/>
          <a:lstStyle/>
          <a:p>
            <a:pPr marL="0" indent="0" algn="l">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TC011 - Không đăng nhập khi khóa</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457200" y="164592"/>
            <a:ext cx="8229600" cy="457200"/>
          </a:xfrm>
          <a:prstGeom prst="rect">
            <a:avLst/>
          </a:prstGeom>
          <a:noFill/>
        </p:spPr>
        <p:txBody>
          <a:bodyPr wrap="square" rtlCol="0" anchor="ctr"/>
          <a:lstStyle/>
          <a:p>
            <a:pPr marL="0" indent="0">
              <a:buNone/>
            </a:pPr>
            <a:r>
              <a:rPr lang="en-US" sz="2800" b="1" dirty="0">
                <a:solidFill>
                  <a:srgbClr val="0D2137"/>
                </a:solidFill>
                <a:latin typeface="Times New Roman" panose="02020603050405020304" charset="0"/>
                <a:ea typeface="Calibri" panose="020F0502020204030204" pitchFamily="34" charset="-122"/>
                <a:cs typeface="Times New Roman" panose="02020603050405020304" charset="0"/>
              </a:rPr>
              <a:t>SINH TEST CASE TỰ ĐỘNG BẰNG LLM</a:t>
            </a:r>
            <a:endParaRPr lang="en-US" sz="28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640080"/>
            <a:ext cx="8229600" cy="36576"/>
          </a:xfrm>
          <a:prstGeom prst="rect">
            <a:avLst/>
          </a:prstGeom>
          <a:solidFill>
            <a:srgbClr val="0A7EA4"/>
          </a:solidFill>
          <a:ln w="12700">
            <a:solidFill>
              <a:srgbClr val="0A7EA4"/>
            </a:solidFill>
            <a:prstDash val="solid"/>
          </a:ln>
        </p:spPr>
      </p:sp>
      <p:sp>
        <p:nvSpPr>
          <p:cNvPr id="5" name="Shape 3"/>
          <p:cNvSpPr/>
          <p:nvPr/>
        </p:nvSpPr>
        <p:spPr>
          <a:xfrm>
            <a:off x="320040" y="777240"/>
            <a:ext cx="914400" cy="384048"/>
          </a:xfrm>
          <a:prstGeom prst="rect">
            <a:avLst/>
          </a:prstGeom>
          <a:solidFill>
            <a:srgbClr val="0A7EA4"/>
          </a:solidFill>
          <a:ln w="12700">
            <a:solidFill>
              <a:srgbClr val="0A7EA4"/>
            </a:solidFill>
            <a:prstDash val="solid"/>
          </a:ln>
        </p:spPr>
      </p:sp>
      <p:sp>
        <p:nvSpPr>
          <p:cNvPr id="6" name="Text 4"/>
          <p:cNvSpPr/>
          <p:nvPr/>
        </p:nvSpPr>
        <p:spPr>
          <a:xfrm>
            <a:off x="320040" y="777240"/>
            <a:ext cx="914400" cy="384048"/>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Mã TC</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7" name="Shape 5"/>
          <p:cNvSpPr/>
          <p:nvPr/>
        </p:nvSpPr>
        <p:spPr>
          <a:xfrm>
            <a:off x="1234440" y="777240"/>
            <a:ext cx="2286000" cy="384048"/>
          </a:xfrm>
          <a:prstGeom prst="rect">
            <a:avLst/>
          </a:prstGeom>
          <a:solidFill>
            <a:srgbClr val="0A7EA4"/>
          </a:solidFill>
          <a:ln w="12700">
            <a:solidFill>
              <a:srgbClr val="0A7EA4"/>
            </a:solidFill>
            <a:prstDash val="solid"/>
          </a:ln>
        </p:spPr>
      </p:sp>
      <p:sp>
        <p:nvSpPr>
          <p:cNvPr id="8" name="Text 6"/>
          <p:cNvSpPr/>
          <p:nvPr/>
        </p:nvSpPr>
        <p:spPr>
          <a:xfrm>
            <a:off x="1234440" y="777240"/>
            <a:ext cx="2286000" cy="384048"/>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Mục tiêu kiểm thử</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9" name="Shape 7"/>
          <p:cNvSpPr/>
          <p:nvPr/>
        </p:nvSpPr>
        <p:spPr>
          <a:xfrm>
            <a:off x="3520440" y="777240"/>
            <a:ext cx="1097280" cy="384048"/>
          </a:xfrm>
          <a:prstGeom prst="rect">
            <a:avLst/>
          </a:prstGeom>
          <a:solidFill>
            <a:srgbClr val="0A7EA4"/>
          </a:solidFill>
          <a:ln w="12700">
            <a:solidFill>
              <a:srgbClr val="0A7EA4"/>
            </a:solidFill>
            <a:prstDash val="solid"/>
          </a:ln>
        </p:spPr>
      </p:sp>
      <p:sp>
        <p:nvSpPr>
          <p:cNvPr id="10" name="Text 8"/>
          <p:cNvSpPr/>
          <p:nvPr/>
        </p:nvSpPr>
        <p:spPr>
          <a:xfrm>
            <a:off x="3520440" y="777240"/>
            <a:ext cx="1097280" cy="384048"/>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Loại</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1" name="Shape 9"/>
          <p:cNvSpPr/>
          <p:nvPr/>
        </p:nvSpPr>
        <p:spPr>
          <a:xfrm>
            <a:off x="4617720" y="777240"/>
            <a:ext cx="3931920" cy="384048"/>
          </a:xfrm>
          <a:prstGeom prst="rect">
            <a:avLst/>
          </a:prstGeom>
          <a:solidFill>
            <a:srgbClr val="0A7EA4"/>
          </a:solidFill>
          <a:ln w="12700">
            <a:solidFill>
              <a:srgbClr val="0A7EA4"/>
            </a:solidFill>
            <a:prstDash val="solid"/>
          </a:ln>
        </p:spPr>
      </p:sp>
      <p:sp>
        <p:nvSpPr>
          <p:cNvPr id="12" name="Text 10"/>
          <p:cNvSpPr/>
          <p:nvPr/>
        </p:nvSpPr>
        <p:spPr>
          <a:xfrm>
            <a:off x="4617720" y="777240"/>
            <a:ext cx="3931920" cy="384048"/>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Mô tả ngắn</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3" name="Shape 11"/>
          <p:cNvSpPr/>
          <p:nvPr/>
        </p:nvSpPr>
        <p:spPr>
          <a:xfrm>
            <a:off x="320040" y="1161288"/>
            <a:ext cx="914400" cy="420624"/>
          </a:xfrm>
          <a:prstGeom prst="rect">
            <a:avLst/>
          </a:prstGeom>
          <a:solidFill>
            <a:srgbClr val="F1F5F9"/>
          </a:solidFill>
          <a:ln w="6350">
            <a:solidFill>
              <a:srgbClr val="D1D5DB"/>
            </a:solidFill>
            <a:prstDash val="solid"/>
          </a:ln>
        </p:spPr>
      </p:sp>
      <p:sp>
        <p:nvSpPr>
          <p:cNvPr id="14" name="Text 12"/>
          <p:cNvSpPr/>
          <p:nvPr/>
        </p:nvSpPr>
        <p:spPr>
          <a:xfrm>
            <a:off x="374904" y="1161288"/>
            <a:ext cx="804672" cy="420624"/>
          </a:xfrm>
          <a:prstGeom prst="rect">
            <a:avLst/>
          </a:prstGeom>
          <a:noFill/>
        </p:spPr>
        <p:txBody>
          <a:bodyPr wrap="square" rtlCol="0" anchor="ctr"/>
          <a:lstStyle/>
          <a:p>
            <a:pPr marL="0" indent="0" algn="ctr">
              <a:buNone/>
            </a:pPr>
            <a:r>
              <a:rPr lang="en-US" sz="1400" b="1" dirty="0">
                <a:solidFill>
                  <a:srgbClr val="0A7EA4"/>
                </a:solidFill>
                <a:latin typeface="Times New Roman" panose="02020603050405020304" charset="0"/>
                <a:ea typeface="Calibri" panose="020F0502020204030204" pitchFamily="34" charset="-122"/>
                <a:cs typeface="Times New Roman" panose="02020603050405020304" charset="0"/>
              </a:rPr>
              <a:t>TC001</a:t>
            </a:r>
            <a:endParaRPr lang="en-US" sz="14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15" name="Shape 13"/>
          <p:cNvSpPr/>
          <p:nvPr/>
        </p:nvSpPr>
        <p:spPr>
          <a:xfrm>
            <a:off x="1234440" y="1161288"/>
            <a:ext cx="2286000" cy="420624"/>
          </a:xfrm>
          <a:prstGeom prst="rect">
            <a:avLst/>
          </a:prstGeom>
          <a:solidFill>
            <a:srgbClr val="F1F5F9"/>
          </a:solidFill>
          <a:ln w="6350">
            <a:solidFill>
              <a:srgbClr val="D1D5DB"/>
            </a:solidFill>
            <a:prstDash val="solid"/>
          </a:ln>
        </p:spPr>
      </p:sp>
      <p:sp>
        <p:nvSpPr>
          <p:cNvPr id="16" name="Text 14"/>
          <p:cNvSpPr/>
          <p:nvPr/>
        </p:nvSpPr>
        <p:spPr>
          <a:xfrm>
            <a:off x="1289304" y="1161288"/>
            <a:ext cx="217627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Truy cập trang chủ</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7" name="Shape 15"/>
          <p:cNvSpPr/>
          <p:nvPr/>
        </p:nvSpPr>
        <p:spPr>
          <a:xfrm>
            <a:off x="3520440" y="1161288"/>
            <a:ext cx="1097280" cy="420624"/>
          </a:xfrm>
          <a:prstGeom prst="rect">
            <a:avLst/>
          </a:prstGeom>
          <a:solidFill>
            <a:srgbClr val="FFFFFF"/>
          </a:solidFill>
          <a:ln w="6350">
            <a:solidFill>
              <a:srgbClr val="D1D5DB"/>
            </a:solidFill>
            <a:prstDash val="solid"/>
          </a:ln>
        </p:spPr>
      </p:sp>
      <p:sp>
        <p:nvSpPr>
          <p:cNvPr id="18" name="Shape 16"/>
          <p:cNvSpPr/>
          <p:nvPr/>
        </p:nvSpPr>
        <p:spPr>
          <a:xfrm>
            <a:off x="3575304" y="1207008"/>
            <a:ext cx="987552" cy="310896"/>
          </a:xfrm>
          <a:prstGeom prst="roundRect">
            <a:avLst>
              <a:gd name="adj" fmla="val 11765"/>
            </a:avLst>
          </a:prstGeom>
          <a:solidFill>
            <a:srgbClr val="16A34A"/>
          </a:solidFill>
        </p:spPr>
      </p:sp>
      <p:sp>
        <p:nvSpPr>
          <p:cNvPr id="19" name="Text 17"/>
          <p:cNvSpPr/>
          <p:nvPr/>
        </p:nvSpPr>
        <p:spPr>
          <a:xfrm>
            <a:off x="3575304" y="1207008"/>
            <a:ext cx="987552" cy="310896"/>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ea typeface="Calibri" panose="020F0502020204030204" pitchFamily="34" charset="-122"/>
                <a:cs typeface="Times New Roman" panose="02020603050405020304" charset="0"/>
              </a:rPr>
              <a:t>Positive</a:t>
            </a:r>
            <a:endParaRPr lang="en-US" sz="14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0" name="Shape 18"/>
          <p:cNvSpPr/>
          <p:nvPr/>
        </p:nvSpPr>
        <p:spPr>
          <a:xfrm>
            <a:off x="4617720" y="1161288"/>
            <a:ext cx="3931920" cy="420624"/>
          </a:xfrm>
          <a:prstGeom prst="rect">
            <a:avLst/>
          </a:prstGeom>
          <a:solidFill>
            <a:srgbClr val="F1F5F9"/>
          </a:solidFill>
          <a:ln w="6350">
            <a:solidFill>
              <a:srgbClr val="D1D5DB"/>
            </a:solidFill>
            <a:prstDash val="solid"/>
          </a:ln>
        </p:spPr>
      </p:sp>
      <p:sp>
        <p:nvSpPr>
          <p:cNvPr id="21" name="Text 19"/>
          <p:cNvSpPr/>
          <p:nvPr/>
        </p:nvSpPr>
        <p:spPr>
          <a:xfrm>
            <a:off x="4672584" y="1161288"/>
            <a:ext cx="382219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GET / → HTTP 200</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2" name="Shape 20"/>
          <p:cNvSpPr/>
          <p:nvPr/>
        </p:nvSpPr>
        <p:spPr>
          <a:xfrm>
            <a:off x="320040" y="1581912"/>
            <a:ext cx="914400" cy="420624"/>
          </a:xfrm>
          <a:prstGeom prst="rect">
            <a:avLst/>
          </a:prstGeom>
          <a:solidFill>
            <a:srgbClr val="FFFFFF"/>
          </a:solidFill>
          <a:ln w="6350">
            <a:solidFill>
              <a:srgbClr val="D1D5DB"/>
            </a:solidFill>
            <a:prstDash val="solid"/>
          </a:ln>
        </p:spPr>
      </p:sp>
      <p:sp>
        <p:nvSpPr>
          <p:cNvPr id="23" name="Text 21"/>
          <p:cNvSpPr/>
          <p:nvPr/>
        </p:nvSpPr>
        <p:spPr>
          <a:xfrm>
            <a:off x="374904" y="1581912"/>
            <a:ext cx="804672" cy="420624"/>
          </a:xfrm>
          <a:prstGeom prst="rect">
            <a:avLst/>
          </a:prstGeom>
          <a:noFill/>
        </p:spPr>
        <p:txBody>
          <a:bodyPr wrap="square" rtlCol="0" anchor="ctr"/>
          <a:lstStyle/>
          <a:p>
            <a:pPr marL="0" indent="0" algn="ctr">
              <a:buNone/>
            </a:pPr>
            <a:r>
              <a:rPr lang="en-US" sz="1400" b="1" dirty="0">
                <a:solidFill>
                  <a:srgbClr val="0A7EA4"/>
                </a:solidFill>
                <a:latin typeface="Times New Roman" panose="02020603050405020304" charset="0"/>
                <a:ea typeface="Calibri" panose="020F0502020204030204" pitchFamily="34" charset="-122"/>
                <a:cs typeface="Times New Roman" panose="02020603050405020304" charset="0"/>
              </a:rPr>
              <a:t>TC002</a:t>
            </a:r>
            <a:endParaRPr lang="en-US" sz="14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24" name="Shape 22"/>
          <p:cNvSpPr/>
          <p:nvPr/>
        </p:nvSpPr>
        <p:spPr>
          <a:xfrm>
            <a:off x="1234440" y="1581912"/>
            <a:ext cx="2286000" cy="420624"/>
          </a:xfrm>
          <a:prstGeom prst="rect">
            <a:avLst/>
          </a:prstGeom>
          <a:solidFill>
            <a:srgbClr val="FFFFFF"/>
          </a:solidFill>
          <a:ln w="6350">
            <a:solidFill>
              <a:srgbClr val="D1D5DB"/>
            </a:solidFill>
            <a:prstDash val="solid"/>
          </a:ln>
        </p:spPr>
      </p:sp>
      <p:sp>
        <p:nvSpPr>
          <p:cNvPr id="25" name="Text 23"/>
          <p:cNvSpPr/>
          <p:nvPr/>
        </p:nvSpPr>
        <p:spPr>
          <a:xfrm>
            <a:off x="1289304" y="1581912"/>
            <a:ext cx="217627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Email rỗng</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6" name="Shape 24"/>
          <p:cNvSpPr/>
          <p:nvPr/>
        </p:nvSpPr>
        <p:spPr>
          <a:xfrm>
            <a:off x="3520440" y="1581912"/>
            <a:ext cx="1097280" cy="420624"/>
          </a:xfrm>
          <a:prstGeom prst="rect">
            <a:avLst/>
          </a:prstGeom>
          <a:solidFill>
            <a:srgbClr val="FFFFFF"/>
          </a:solidFill>
          <a:ln w="6350">
            <a:solidFill>
              <a:srgbClr val="D1D5DB"/>
            </a:solidFill>
            <a:prstDash val="solid"/>
          </a:ln>
        </p:spPr>
      </p:sp>
      <p:sp>
        <p:nvSpPr>
          <p:cNvPr id="27" name="Shape 25"/>
          <p:cNvSpPr/>
          <p:nvPr/>
        </p:nvSpPr>
        <p:spPr>
          <a:xfrm>
            <a:off x="3575304" y="1627632"/>
            <a:ext cx="987552" cy="310896"/>
          </a:xfrm>
          <a:prstGeom prst="roundRect">
            <a:avLst>
              <a:gd name="adj" fmla="val 11765"/>
            </a:avLst>
          </a:prstGeom>
          <a:solidFill>
            <a:srgbClr val="DC2626"/>
          </a:solidFill>
        </p:spPr>
      </p:sp>
      <p:sp>
        <p:nvSpPr>
          <p:cNvPr id="28" name="Text 26"/>
          <p:cNvSpPr/>
          <p:nvPr/>
        </p:nvSpPr>
        <p:spPr>
          <a:xfrm>
            <a:off x="3575304" y="1627632"/>
            <a:ext cx="987552" cy="310896"/>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ea typeface="Calibri" panose="020F0502020204030204" pitchFamily="34" charset="-122"/>
                <a:cs typeface="Times New Roman" panose="02020603050405020304" charset="0"/>
              </a:rPr>
              <a:t>Negative</a:t>
            </a:r>
            <a:endParaRPr lang="en-US" sz="14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9" name="Shape 27"/>
          <p:cNvSpPr/>
          <p:nvPr/>
        </p:nvSpPr>
        <p:spPr>
          <a:xfrm>
            <a:off x="4617720" y="1581912"/>
            <a:ext cx="3931920" cy="420624"/>
          </a:xfrm>
          <a:prstGeom prst="rect">
            <a:avLst/>
          </a:prstGeom>
          <a:solidFill>
            <a:srgbClr val="FFFFFF"/>
          </a:solidFill>
          <a:ln w="6350">
            <a:solidFill>
              <a:srgbClr val="D1D5DB"/>
            </a:solidFill>
            <a:prstDash val="solid"/>
          </a:ln>
        </p:spPr>
      </p:sp>
      <p:sp>
        <p:nvSpPr>
          <p:cNvPr id="30" name="Text 28"/>
          <p:cNvSpPr/>
          <p:nvPr/>
        </p:nvSpPr>
        <p:spPr>
          <a:xfrm>
            <a:off x="4672584" y="1581912"/>
            <a:ext cx="382219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Gửi email='', password='123' → 400</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1" name="Shape 29"/>
          <p:cNvSpPr/>
          <p:nvPr/>
        </p:nvSpPr>
        <p:spPr>
          <a:xfrm>
            <a:off x="320040" y="2002536"/>
            <a:ext cx="914400" cy="420624"/>
          </a:xfrm>
          <a:prstGeom prst="rect">
            <a:avLst/>
          </a:prstGeom>
          <a:solidFill>
            <a:srgbClr val="F1F5F9"/>
          </a:solidFill>
          <a:ln w="6350">
            <a:solidFill>
              <a:srgbClr val="D1D5DB"/>
            </a:solidFill>
            <a:prstDash val="solid"/>
          </a:ln>
        </p:spPr>
      </p:sp>
      <p:sp>
        <p:nvSpPr>
          <p:cNvPr id="32" name="Text 30"/>
          <p:cNvSpPr/>
          <p:nvPr/>
        </p:nvSpPr>
        <p:spPr>
          <a:xfrm>
            <a:off x="374904" y="2002536"/>
            <a:ext cx="804672" cy="420624"/>
          </a:xfrm>
          <a:prstGeom prst="rect">
            <a:avLst/>
          </a:prstGeom>
          <a:noFill/>
        </p:spPr>
        <p:txBody>
          <a:bodyPr wrap="square" rtlCol="0" anchor="ctr"/>
          <a:lstStyle/>
          <a:p>
            <a:pPr marL="0" indent="0" algn="ctr">
              <a:buNone/>
            </a:pPr>
            <a:r>
              <a:rPr lang="en-US" sz="1400" b="1" dirty="0">
                <a:solidFill>
                  <a:srgbClr val="0A7EA4"/>
                </a:solidFill>
                <a:latin typeface="Times New Roman" panose="02020603050405020304" charset="0"/>
                <a:ea typeface="Calibri" panose="020F0502020204030204" pitchFamily="34" charset="-122"/>
                <a:cs typeface="Times New Roman" panose="02020603050405020304" charset="0"/>
              </a:rPr>
              <a:t>TC003</a:t>
            </a:r>
            <a:endParaRPr lang="en-US" sz="14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33" name="Shape 31"/>
          <p:cNvSpPr/>
          <p:nvPr/>
        </p:nvSpPr>
        <p:spPr>
          <a:xfrm>
            <a:off x="1234440" y="2002536"/>
            <a:ext cx="2286000" cy="420624"/>
          </a:xfrm>
          <a:prstGeom prst="rect">
            <a:avLst/>
          </a:prstGeom>
          <a:solidFill>
            <a:srgbClr val="F1F5F9"/>
          </a:solidFill>
          <a:ln w="6350">
            <a:solidFill>
              <a:srgbClr val="D1D5DB"/>
            </a:solidFill>
            <a:prstDash val="solid"/>
          </a:ln>
        </p:spPr>
      </p:sp>
      <p:sp>
        <p:nvSpPr>
          <p:cNvPr id="34" name="Text 32"/>
          <p:cNvSpPr/>
          <p:nvPr/>
        </p:nvSpPr>
        <p:spPr>
          <a:xfrm>
            <a:off x="1289304" y="2002536"/>
            <a:ext cx="217627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Password rỗng</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5" name="Shape 33"/>
          <p:cNvSpPr/>
          <p:nvPr/>
        </p:nvSpPr>
        <p:spPr>
          <a:xfrm>
            <a:off x="3520440" y="2002536"/>
            <a:ext cx="1097280" cy="420624"/>
          </a:xfrm>
          <a:prstGeom prst="rect">
            <a:avLst/>
          </a:prstGeom>
          <a:solidFill>
            <a:srgbClr val="FFFFFF"/>
          </a:solidFill>
          <a:ln w="6350">
            <a:solidFill>
              <a:srgbClr val="D1D5DB"/>
            </a:solidFill>
            <a:prstDash val="solid"/>
          </a:ln>
        </p:spPr>
      </p:sp>
      <p:sp>
        <p:nvSpPr>
          <p:cNvPr id="36" name="Shape 34"/>
          <p:cNvSpPr/>
          <p:nvPr/>
        </p:nvSpPr>
        <p:spPr>
          <a:xfrm>
            <a:off x="3575304" y="2048256"/>
            <a:ext cx="987552" cy="310896"/>
          </a:xfrm>
          <a:prstGeom prst="roundRect">
            <a:avLst>
              <a:gd name="adj" fmla="val 11765"/>
            </a:avLst>
          </a:prstGeom>
          <a:solidFill>
            <a:srgbClr val="DC2626"/>
          </a:solidFill>
        </p:spPr>
      </p:sp>
      <p:sp>
        <p:nvSpPr>
          <p:cNvPr id="37" name="Text 35"/>
          <p:cNvSpPr/>
          <p:nvPr/>
        </p:nvSpPr>
        <p:spPr>
          <a:xfrm>
            <a:off x="3575304" y="2048256"/>
            <a:ext cx="987552" cy="310896"/>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ea typeface="Calibri" panose="020F0502020204030204" pitchFamily="34" charset="-122"/>
                <a:cs typeface="Times New Roman" panose="02020603050405020304" charset="0"/>
              </a:rPr>
              <a:t>Negative</a:t>
            </a:r>
            <a:endParaRPr lang="en-US" sz="14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38" name="Shape 36"/>
          <p:cNvSpPr/>
          <p:nvPr/>
        </p:nvSpPr>
        <p:spPr>
          <a:xfrm>
            <a:off x="4617720" y="2002536"/>
            <a:ext cx="3931920" cy="420624"/>
          </a:xfrm>
          <a:prstGeom prst="rect">
            <a:avLst/>
          </a:prstGeom>
          <a:solidFill>
            <a:srgbClr val="F1F5F9"/>
          </a:solidFill>
          <a:ln w="6350">
            <a:solidFill>
              <a:srgbClr val="D1D5DB"/>
            </a:solidFill>
            <a:prstDash val="solid"/>
          </a:ln>
        </p:spPr>
      </p:sp>
      <p:sp>
        <p:nvSpPr>
          <p:cNvPr id="39" name="Text 37"/>
          <p:cNvSpPr/>
          <p:nvPr/>
        </p:nvSpPr>
        <p:spPr>
          <a:xfrm>
            <a:off x="4672584" y="2002536"/>
            <a:ext cx="382219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Gửi email='test@test.com', password='' → 400</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0" name="Shape 38"/>
          <p:cNvSpPr/>
          <p:nvPr/>
        </p:nvSpPr>
        <p:spPr>
          <a:xfrm>
            <a:off x="320040" y="2423160"/>
            <a:ext cx="914400" cy="420624"/>
          </a:xfrm>
          <a:prstGeom prst="rect">
            <a:avLst/>
          </a:prstGeom>
          <a:solidFill>
            <a:srgbClr val="FFFFFF"/>
          </a:solidFill>
          <a:ln w="6350">
            <a:solidFill>
              <a:srgbClr val="D1D5DB"/>
            </a:solidFill>
            <a:prstDash val="solid"/>
          </a:ln>
        </p:spPr>
      </p:sp>
      <p:sp>
        <p:nvSpPr>
          <p:cNvPr id="41" name="Text 39"/>
          <p:cNvSpPr/>
          <p:nvPr/>
        </p:nvSpPr>
        <p:spPr>
          <a:xfrm>
            <a:off x="374904" y="2423160"/>
            <a:ext cx="804672" cy="420624"/>
          </a:xfrm>
          <a:prstGeom prst="rect">
            <a:avLst/>
          </a:prstGeom>
          <a:noFill/>
        </p:spPr>
        <p:txBody>
          <a:bodyPr wrap="square" rtlCol="0" anchor="ctr"/>
          <a:lstStyle/>
          <a:p>
            <a:pPr marL="0" indent="0" algn="ctr">
              <a:buNone/>
            </a:pPr>
            <a:r>
              <a:rPr lang="en-US" sz="1400" b="1" dirty="0">
                <a:solidFill>
                  <a:srgbClr val="0A7EA4"/>
                </a:solidFill>
                <a:latin typeface="Times New Roman" panose="02020603050405020304" charset="0"/>
                <a:ea typeface="Calibri" panose="020F0502020204030204" pitchFamily="34" charset="-122"/>
                <a:cs typeface="Times New Roman" panose="02020603050405020304" charset="0"/>
              </a:rPr>
              <a:t>TC004</a:t>
            </a:r>
            <a:endParaRPr lang="en-US" sz="14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42" name="Shape 40"/>
          <p:cNvSpPr/>
          <p:nvPr/>
        </p:nvSpPr>
        <p:spPr>
          <a:xfrm>
            <a:off x="1234440" y="2423160"/>
            <a:ext cx="2286000" cy="420624"/>
          </a:xfrm>
          <a:prstGeom prst="rect">
            <a:avLst/>
          </a:prstGeom>
          <a:solidFill>
            <a:srgbClr val="FFFFFF"/>
          </a:solidFill>
          <a:ln w="6350">
            <a:solidFill>
              <a:srgbClr val="D1D5DB"/>
            </a:solidFill>
            <a:prstDash val="solid"/>
          </a:ln>
        </p:spPr>
      </p:sp>
      <p:sp>
        <p:nvSpPr>
          <p:cNvPr id="43" name="Text 41"/>
          <p:cNvSpPr/>
          <p:nvPr/>
        </p:nvSpPr>
        <p:spPr>
          <a:xfrm>
            <a:off x="1289304" y="2423160"/>
            <a:ext cx="217627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Email sai định dạng</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4" name="Shape 42"/>
          <p:cNvSpPr/>
          <p:nvPr/>
        </p:nvSpPr>
        <p:spPr>
          <a:xfrm>
            <a:off x="3520440" y="2423160"/>
            <a:ext cx="1097280" cy="420624"/>
          </a:xfrm>
          <a:prstGeom prst="rect">
            <a:avLst/>
          </a:prstGeom>
          <a:solidFill>
            <a:srgbClr val="FFFFFF"/>
          </a:solidFill>
          <a:ln w="6350">
            <a:solidFill>
              <a:srgbClr val="D1D5DB"/>
            </a:solidFill>
            <a:prstDash val="solid"/>
          </a:ln>
        </p:spPr>
      </p:sp>
      <p:sp>
        <p:nvSpPr>
          <p:cNvPr id="45" name="Shape 43"/>
          <p:cNvSpPr/>
          <p:nvPr/>
        </p:nvSpPr>
        <p:spPr>
          <a:xfrm>
            <a:off x="3575304" y="2468880"/>
            <a:ext cx="987552" cy="310896"/>
          </a:xfrm>
          <a:prstGeom prst="roundRect">
            <a:avLst>
              <a:gd name="adj" fmla="val 11765"/>
            </a:avLst>
          </a:prstGeom>
          <a:solidFill>
            <a:srgbClr val="DC2626"/>
          </a:solidFill>
        </p:spPr>
      </p:sp>
      <p:sp>
        <p:nvSpPr>
          <p:cNvPr id="46" name="Text 44"/>
          <p:cNvSpPr/>
          <p:nvPr/>
        </p:nvSpPr>
        <p:spPr>
          <a:xfrm>
            <a:off x="3575304" y="2468880"/>
            <a:ext cx="987552" cy="310896"/>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ea typeface="Calibri" panose="020F0502020204030204" pitchFamily="34" charset="-122"/>
                <a:cs typeface="Times New Roman" panose="02020603050405020304" charset="0"/>
              </a:rPr>
              <a:t>Negative</a:t>
            </a:r>
            <a:endParaRPr lang="en-US" sz="14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47" name="Shape 45"/>
          <p:cNvSpPr/>
          <p:nvPr/>
        </p:nvSpPr>
        <p:spPr>
          <a:xfrm>
            <a:off x="4617720" y="2423160"/>
            <a:ext cx="3931920" cy="420624"/>
          </a:xfrm>
          <a:prstGeom prst="rect">
            <a:avLst/>
          </a:prstGeom>
          <a:solidFill>
            <a:srgbClr val="FFFFFF"/>
          </a:solidFill>
          <a:ln w="6350">
            <a:solidFill>
              <a:srgbClr val="D1D5DB"/>
            </a:solidFill>
            <a:prstDash val="solid"/>
          </a:ln>
        </p:spPr>
      </p:sp>
      <p:sp>
        <p:nvSpPr>
          <p:cNvPr id="48" name="Text 46"/>
          <p:cNvSpPr/>
          <p:nvPr/>
        </p:nvSpPr>
        <p:spPr>
          <a:xfrm>
            <a:off x="4672584" y="2423160"/>
            <a:ext cx="382219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email='not-an-email' → 400</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9" name="Shape 47"/>
          <p:cNvSpPr/>
          <p:nvPr/>
        </p:nvSpPr>
        <p:spPr>
          <a:xfrm>
            <a:off x="320040" y="2843784"/>
            <a:ext cx="914400" cy="420624"/>
          </a:xfrm>
          <a:prstGeom prst="rect">
            <a:avLst/>
          </a:prstGeom>
          <a:solidFill>
            <a:srgbClr val="F1F5F9"/>
          </a:solidFill>
          <a:ln w="6350">
            <a:solidFill>
              <a:srgbClr val="D1D5DB"/>
            </a:solidFill>
            <a:prstDash val="solid"/>
          </a:ln>
        </p:spPr>
      </p:sp>
      <p:sp>
        <p:nvSpPr>
          <p:cNvPr id="50" name="Text 48"/>
          <p:cNvSpPr/>
          <p:nvPr/>
        </p:nvSpPr>
        <p:spPr>
          <a:xfrm>
            <a:off x="374904" y="2843784"/>
            <a:ext cx="804672" cy="420624"/>
          </a:xfrm>
          <a:prstGeom prst="rect">
            <a:avLst/>
          </a:prstGeom>
          <a:noFill/>
        </p:spPr>
        <p:txBody>
          <a:bodyPr wrap="square" rtlCol="0" anchor="ctr"/>
          <a:lstStyle/>
          <a:p>
            <a:pPr marL="0" indent="0" algn="ctr">
              <a:buNone/>
            </a:pPr>
            <a:r>
              <a:rPr lang="en-US" sz="1400" b="1" dirty="0">
                <a:solidFill>
                  <a:srgbClr val="0A7EA4"/>
                </a:solidFill>
                <a:latin typeface="Times New Roman" panose="02020603050405020304" charset="0"/>
                <a:ea typeface="Calibri" panose="020F0502020204030204" pitchFamily="34" charset="-122"/>
                <a:cs typeface="Times New Roman" panose="02020603050405020304" charset="0"/>
              </a:rPr>
              <a:t>TC005</a:t>
            </a:r>
            <a:endParaRPr lang="en-US" sz="14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51" name="Shape 49"/>
          <p:cNvSpPr/>
          <p:nvPr/>
        </p:nvSpPr>
        <p:spPr>
          <a:xfrm>
            <a:off x="1234440" y="2843784"/>
            <a:ext cx="2286000" cy="420624"/>
          </a:xfrm>
          <a:prstGeom prst="rect">
            <a:avLst/>
          </a:prstGeom>
          <a:solidFill>
            <a:srgbClr val="F1F5F9"/>
          </a:solidFill>
          <a:ln w="6350">
            <a:solidFill>
              <a:srgbClr val="D1D5DB"/>
            </a:solidFill>
            <a:prstDash val="solid"/>
          </a:ln>
        </p:spPr>
      </p:sp>
      <p:sp>
        <p:nvSpPr>
          <p:cNvPr id="52" name="Text 50"/>
          <p:cNvSpPr/>
          <p:nvPr/>
        </p:nvSpPr>
        <p:spPr>
          <a:xfrm>
            <a:off x="1289304" y="2843784"/>
            <a:ext cx="217627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Email vượt 100 ký tự</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53" name="Shape 51"/>
          <p:cNvSpPr/>
          <p:nvPr/>
        </p:nvSpPr>
        <p:spPr>
          <a:xfrm>
            <a:off x="3520440" y="2843784"/>
            <a:ext cx="1097280" cy="420624"/>
          </a:xfrm>
          <a:prstGeom prst="rect">
            <a:avLst/>
          </a:prstGeom>
          <a:solidFill>
            <a:srgbClr val="FFFFFF"/>
          </a:solidFill>
          <a:ln w="6350">
            <a:solidFill>
              <a:srgbClr val="D1D5DB"/>
            </a:solidFill>
            <a:prstDash val="solid"/>
          </a:ln>
        </p:spPr>
      </p:sp>
      <p:sp>
        <p:nvSpPr>
          <p:cNvPr id="54" name="Shape 52"/>
          <p:cNvSpPr/>
          <p:nvPr/>
        </p:nvSpPr>
        <p:spPr>
          <a:xfrm>
            <a:off x="3575304" y="2889504"/>
            <a:ext cx="987552" cy="310896"/>
          </a:xfrm>
          <a:prstGeom prst="roundRect">
            <a:avLst>
              <a:gd name="adj" fmla="val 11765"/>
            </a:avLst>
          </a:prstGeom>
          <a:solidFill>
            <a:srgbClr val="D97706"/>
          </a:solidFill>
        </p:spPr>
      </p:sp>
      <p:sp>
        <p:nvSpPr>
          <p:cNvPr id="55" name="Text 53"/>
          <p:cNvSpPr/>
          <p:nvPr/>
        </p:nvSpPr>
        <p:spPr>
          <a:xfrm>
            <a:off x="3575304" y="2889504"/>
            <a:ext cx="987552" cy="310896"/>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ea typeface="Calibri" panose="020F0502020204030204" pitchFamily="34" charset="-122"/>
                <a:cs typeface="Times New Roman" panose="02020603050405020304" charset="0"/>
              </a:rPr>
              <a:t>Boundary</a:t>
            </a:r>
            <a:endParaRPr lang="en-US" sz="14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56" name="Shape 54"/>
          <p:cNvSpPr/>
          <p:nvPr/>
        </p:nvSpPr>
        <p:spPr>
          <a:xfrm>
            <a:off x="4617720" y="2843784"/>
            <a:ext cx="3931920" cy="420624"/>
          </a:xfrm>
          <a:prstGeom prst="rect">
            <a:avLst/>
          </a:prstGeom>
          <a:solidFill>
            <a:srgbClr val="F1F5F9"/>
          </a:solidFill>
          <a:ln w="6350">
            <a:solidFill>
              <a:srgbClr val="D1D5DB"/>
            </a:solidFill>
            <a:prstDash val="solid"/>
          </a:ln>
        </p:spPr>
      </p:sp>
      <p:sp>
        <p:nvSpPr>
          <p:cNvPr id="57" name="Text 55"/>
          <p:cNvSpPr/>
          <p:nvPr/>
        </p:nvSpPr>
        <p:spPr>
          <a:xfrm>
            <a:off x="4672584" y="2843784"/>
            <a:ext cx="382219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email dài 101 ký tự → 400</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58" name="Shape 56"/>
          <p:cNvSpPr/>
          <p:nvPr/>
        </p:nvSpPr>
        <p:spPr>
          <a:xfrm>
            <a:off x="320040" y="3264408"/>
            <a:ext cx="914400" cy="420624"/>
          </a:xfrm>
          <a:prstGeom prst="rect">
            <a:avLst/>
          </a:prstGeom>
          <a:solidFill>
            <a:srgbClr val="FFFFFF"/>
          </a:solidFill>
          <a:ln w="6350">
            <a:solidFill>
              <a:srgbClr val="D1D5DB"/>
            </a:solidFill>
            <a:prstDash val="solid"/>
          </a:ln>
        </p:spPr>
      </p:sp>
      <p:sp>
        <p:nvSpPr>
          <p:cNvPr id="59" name="Text 57"/>
          <p:cNvSpPr/>
          <p:nvPr/>
        </p:nvSpPr>
        <p:spPr>
          <a:xfrm>
            <a:off x="374904" y="3264408"/>
            <a:ext cx="804672" cy="420624"/>
          </a:xfrm>
          <a:prstGeom prst="rect">
            <a:avLst/>
          </a:prstGeom>
          <a:noFill/>
        </p:spPr>
        <p:txBody>
          <a:bodyPr wrap="square" rtlCol="0" anchor="ctr"/>
          <a:lstStyle/>
          <a:p>
            <a:pPr marL="0" indent="0" algn="ctr">
              <a:buNone/>
            </a:pPr>
            <a:r>
              <a:rPr lang="en-US" sz="1400" b="1" dirty="0">
                <a:solidFill>
                  <a:srgbClr val="0A7EA4"/>
                </a:solidFill>
                <a:latin typeface="Times New Roman" panose="02020603050405020304" charset="0"/>
                <a:ea typeface="Calibri" panose="020F0502020204030204" pitchFamily="34" charset="-122"/>
                <a:cs typeface="Times New Roman" panose="02020603050405020304" charset="0"/>
              </a:rPr>
              <a:t>TC006</a:t>
            </a:r>
            <a:endParaRPr lang="en-US" sz="14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60" name="Shape 58"/>
          <p:cNvSpPr/>
          <p:nvPr/>
        </p:nvSpPr>
        <p:spPr>
          <a:xfrm>
            <a:off x="1234440" y="3264408"/>
            <a:ext cx="2286000" cy="420624"/>
          </a:xfrm>
          <a:prstGeom prst="rect">
            <a:avLst/>
          </a:prstGeom>
          <a:solidFill>
            <a:srgbClr val="FFFFFF"/>
          </a:solidFill>
          <a:ln w="6350">
            <a:solidFill>
              <a:srgbClr val="D1D5DB"/>
            </a:solidFill>
            <a:prstDash val="solid"/>
          </a:ln>
        </p:spPr>
      </p:sp>
      <p:sp>
        <p:nvSpPr>
          <p:cNvPr id="61" name="Text 59"/>
          <p:cNvSpPr/>
          <p:nvPr/>
        </p:nvSpPr>
        <p:spPr>
          <a:xfrm>
            <a:off x="1289304" y="3264408"/>
            <a:ext cx="217627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Email không tồn tại</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62" name="Shape 60"/>
          <p:cNvSpPr/>
          <p:nvPr/>
        </p:nvSpPr>
        <p:spPr>
          <a:xfrm>
            <a:off x="3520440" y="3264408"/>
            <a:ext cx="1097280" cy="420624"/>
          </a:xfrm>
          <a:prstGeom prst="rect">
            <a:avLst/>
          </a:prstGeom>
          <a:solidFill>
            <a:srgbClr val="FFFFFF"/>
          </a:solidFill>
          <a:ln w="6350">
            <a:solidFill>
              <a:srgbClr val="D1D5DB"/>
            </a:solidFill>
            <a:prstDash val="solid"/>
          </a:ln>
        </p:spPr>
      </p:sp>
      <p:sp>
        <p:nvSpPr>
          <p:cNvPr id="63" name="Shape 61"/>
          <p:cNvSpPr/>
          <p:nvPr/>
        </p:nvSpPr>
        <p:spPr>
          <a:xfrm>
            <a:off x="3575304" y="3310128"/>
            <a:ext cx="987552" cy="310896"/>
          </a:xfrm>
          <a:prstGeom prst="roundRect">
            <a:avLst>
              <a:gd name="adj" fmla="val 11765"/>
            </a:avLst>
          </a:prstGeom>
          <a:solidFill>
            <a:srgbClr val="DC2626"/>
          </a:solidFill>
        </p:spPr>
      </p:sp>
      <p:sp>
        <p:nvSpPr>
          <p:cNvPr id="64" name="Text 62"/>
          <p:cNvSpPr/>
          <p:nvPr/>
        </p:nvSpPr>
        <p:spPr>
          <a:xfrm>
            <a:off x="3575304" y="3310128"/>
            <a:ext cx="987552" cy="310896"/>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ea typeface="Calibri" panose="020F0502020204030204" pitchFamily="34" charset="-122"/>
                <a:cs typeface="Times New Roman" panose="02020603050405020304" charset="0"/>
              </a:rPr>
              <a:t>Negative</a:t>
            </a:r>
            <a:endParaRPr lang="en-US" sz="14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65" name="Shape 63"/>
          <p:cNvSpPr/>
          <p:nvPr/>
        </p:nvSpPr>
        <p:spPr>
          <a:xfrm>
            <a:off x="4617720" y="3264408"/>
            <a:ext cx="3931920" cy="420624"/>
          </a:xfrm>
          <a:prstGeom prst="rect">
            <a:avLst/>
          </a:prstGeom>
          <a:solidFill>
            <a:srgbClr val="FFFFFF"/>
          </a:solidFill>
          <a:ln w="6350">
            <a:solidFill>
              <a:srgbClr val="D1D5DB"/>
            </a:solidFill>
            <a:prstDash val="solid"/>
          </a:ln>
        </p:spPr>
      </p:sp>
      <p:sp>
        <p:nvSpPr>
          <p:cNvPr id="66" name="Text 64"/>
          <p:cNvSpPr/>
          <p:nvPr/>
        </p:nvSpPr>
        <p:spPr>
          <a:xfrm>
            <a:off x="4672584" y="3264408"/>
            <a:ext cx="382219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email='notfound@x.com' → 401</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67" name="Shape 65"/>
          <p:cNvSpPr/>
          <p:nvPr/>
        </p:nvSpPr>
        <p:spPr>
          <a:xfrm>
            <a:off x="320040" y="3685032"/>
            <a:ext cx="914400" cy="420624"/>
          </a:xfrm>
          <a:prstGeom prst="rect">
            <a:avLst/>
          </a:prstGeom>
          <a:solidFill>
            <a:srgbClr val="F1F5F9"/>
          </a:solidFill>
          <a:ln w="6350">
            <a:solidFill>
              <a:srgbClr val="D1D5DB"/>
            </a:solidFill>
            <a:prstDash val="solid"/>
          </a:ln>
        </p:spPr>
      </p:sp>
      <p:sp>
        <p:nvSpPr>
          <p:cNvPr id="68" name="Text 66"/>
          <p:cNvSpPr/>
          <p:nvPr/>
        </p:nvSpPr>
        <p:spPr>
          <a:xfrm>
            <a:off x="374904" y="3685032"/>
            <a:ext cx="804672" cy="420624"/>
          </a:xfrm>
          <a:prstGeom prst="rect">
            <a:avLst/>
          </a:prstGeom>
          <a:noFill/>
        </p:spPr>
        <p:txBody>
          <a:bodyPr wrap="square" rtlCol="0" anchor="ctr"/>
          <a:lstStyle/>
          <a:p>
            <a:pPr marL="0" indent="0" algn="ctr">
              <a:buNone/>
            </a:pPr>
            <a:r>
              <a:rPr lang="en-US" sz="1400" b="1" dirty="0">
                <a:solidFill>
                  <a:srgbClr val="0A7EA4"/>
                </a:solidFill>
                <a:latin typeface="Times New Roman" panose="02020603050405020304" charset="0"/>
                <a:ea typeface="Calibri" panose="020F0502020204030204" pitchFamily="34" charset="-122"/>
                <a:cs typeface="Times New Roman" panose="02020603050405020304" charset="0"/>
              </a:rPr>
              <a:t>TC007</a:t>
            </a:r>
            <a:endParaRPr lang="en-US" sz="14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69" name="Shape 67"/>
          <p:cNvSpPr/>
          <p:nvPr/>
        </p:nvSpPr>
        <p:spPr>
          <a:xfrm>
            <a:off x="1234440" y="3685032"/>
            <a:ext cx="2286000" cy="420624"/>
          </a:xfrm>
          <a:prstGeom prst="rect">
            <a:avLst/>
          </a:prstGeom>
          <a:solidFill>
            <a:srgbClr val="F1F5F9"/>
          </a:solidFill>
          <a:ln w="6350">
            <a:solidFill>
              <a:srgbClr val="D1D5DB"/>
            </a:solidFill>
            <a:prstDash val="solid"/>
          </a:ln>
        </p:spPr>
      </p:sp>
      <p:sp>
        <p:nvSpPr>
          <p:cNvPr id="70" name="Text 68"/>
          <p:cNvSpPr/>
          <p:nvPr/>
        </p:nvSpPr>
        <p:spPr>
          <a:xfrm>
            <a:off x="1289304" y="3685032"/>
            <a:ext cx="217627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Sai mật khẩu</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71" name="Shape 69"/>
          <p:cNvSpPr/>
          <p:nvPr/>
        </p:nvSpPr>
        <p:spPr>
          <a:xfrm>
            <a:off x="3520440" y="3685032"/>
            <a:ext cx="1097280" cy="420624"/>
          </a:xfrm>
          <a:prstGeom prst="rect">
            <a:avLst/>
          </a:prstGeom>
          <a:solidFill>
            <a:srgbClr val="FFFFFF"/>
          </a:solidFill>
          <a:ln w="6350">
            <a:solidFill>
              <a:srgbClr val="D1D5DB"/>
            </a:solidFill>
            <a:prstDash val="solid"/>
          </a:ln>
        </p:spPr>
      </p:sp>
      <p:sp>
        <p:nvSpPr>
          <p:cNvPr id="72" name="Shape 70"/>
          <p:cNvSpPr/>
          <p:nvPr/>
        </p:nvSpPr>
        <p:spPr>
          <a:xfrm>
            <a:off x="3575304" y="3730752"/>
            <a:ext cx="987552" cy="310896"/>
          </a:xfrm>
          <a:prstGeom prst="roundRect">
            <a:avLst>
              <a:gd name="adj" fmla="val 11765"/>
            </a:avLst>
          </a:prstGeom>
          <a:solidFill>
            <a:srgbClr val="DC2626"/>
          </a:solidFill>
        </p:spPr>
      </p:sp>
      <p:sp>
        <p:nvSpPr>
          <p:cNvPr id="73" name="Text 71"/>
          <p:cNvSpPr/>
          <p:nvPr/>
        </p:nvSpPr>
        <p:spPr>
          <a:xfrm>
            <a:off x="3575304" y="3730752"/>
            <a:ext cx="987552" cy="310896"/>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ea typeface="Calibri" panose="020F0502020204030204" pitchFamily="34" charset="-122"/>
                <a:cs typeface="Times New Roman" panose="02020603050405020304" charset="0"/>
              </a:rPr>
              <a:t>Negative</a:t>
            </a:r>
            <a:endParaRPr lang="en-US" sz="14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74" name="Shape 72"/>
          <p:cNvSpPr/>
          <p:nvPr/>
        </p:nvSpPr>
        <p:spPr>
          <a:xfrm>
            <a:off x="4617720" y="3685032"/>
            <a:ext cx="3931920" cy="420624"/>
          </a:xfrm>
          <a:prstGeom prst="rect">
            <a:avLst/>
          </a:prstGeom>
          <a:solidFill>
            <a:srgbClr val="F1F5F9"/>
          </a:solidFill>
          <a:ln w="6350">
            <a:solidFill>
              <a:srgbClr val="D1D5DB"/>
            </a:solidFill>
            <a:prstDash val="solid"/>
          </a:ln>
        </p:spPr>
      </p:sp>
      <p:sp>
        <p:nvSpPr>
          <p:cNvPr id="75" name="Text 73"/>
          <p:cNvSpPr/>
          <p:nvPr/>
        </p:nvSpPr>
        <p:spPr>
          <a:xfrm>
            <a:off x="4672584" y="3685032"/>
            <a:ext cx="382219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email đúng, password sai → 401</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76" name="Shape 74"/>
          <p:cNvSpPr/>
          <p:nvPr/>
        </p:nvSpPr>
        <p:spPr>
          <a:xfrm>
            <a:off x="320040" y="4105656"/>
            <a:ext cx="914400" cy="420624"/>
          </a:xfrm>
          <a:prstGeom prst="rect">
            <a:avLst/>
          </a:prstGeom>
          <a:solidFill>
            <a:srgbClr val="FFFFFF"/>
          </a:solidFill>
          <a:ln w="6350">
            <a:solidFill>
              <a:srgbClr val="D1D5DB"/>
            </a:solidFill>
            <a:prstDash val="solid"/>
          </a:ln>
        </p:spPr>
      </p:sp>
      <p:sp>
        <p:nvSpPr>
          <p:cNvPr id="77" name="Text 75"/>
          <p:cNvSpPr/>
          <p:nvPr/>
        </p:nvSpPr>
        <p:spPr>
          <a:xfrm>
            <a:off x="374904" y="4105656"/>
            <a:ext cx="804672" cy="420624"/>
          </a:xfrm>
          <a:prstGeom prst="rect">
            <a:avLst/>
          </a:prstGeom>
          <a:noFill/>
        </p:spPr>
        <p:txBody>
          <a:bodyPr wrap="square" rtlCol="0" anchor="ctr"/>
          <a:lstStyle/>
          <a:p>
            <a:pPr marL="0" indent="0" algn="ctr">
              <a:buNone/>
            </a:pPr>
            <a:r>
              <a:rPr lang="en-US" sz="1400" b="1" dirty="0">
                <a:solidFill>
                  <a:srgbClr val="0A7EA4"/>
                </a:solidFill>
                <a:latin typeface="Times New Roman" panose="02020603050405020304" charset="0"/>
                <a:ea typeface="Calibri" panose="020F0502020204030204" pitchFamily="34" charset="-122"/>
                <a:cs typeface="Times New Roman" panose="02020603050405020304" charset="0"/>
              </a:rPr>
              <a:t>TC008</a:t>
            </a:r>
            <a:endParaRPr lang="en-US" sz="14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78" name="Shape 76"/>
          <p:cNvSpPr/>
          <p:nvPr/>
        </p:nvSpPr>
        <p:spPr>
          <a:xfrm>
            <a:off x="1234440" y="4105656"/>
            <a:ext cx="2286000" cy="420624"/>
          </a:xfrm>
          <a:prstGeom prst="rect">
            <a:avLst/>
          </a:prstGeom>
          <a:solidFill>
            <a:srgbClr val="FFFFFF"/>
          </a:solidFill>
          <a:ln w="6350">
            <a:solidFill>
              <a:srgbClr val="D1D5DB"/>
            </a:solidFill>
            <a:prstDash val="solid"/>
          </a:ln>
        </p:spPr>
      </p:sp>
      <p:sp>
        <p:nvSpPr>
          <p:cNvPr id="79" name="Text 77"/>
          <p:cNvSpPr/>
          <p:nvPr/>
        </p:nvSpPr>
        <p:spPr>
          <a:xfrm>
            <a:off x="1289304" y="4105656"/>
            <a:ext cx="217627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Đăng nhập thành công</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80" name="Shape 78"/>
          <p:cNvSpPr/>
          <p:nvPr/>
        </p:nvSpPr>
        <p:spPr>
          <a:xfrm>
            <a:off x="3520440" y="4105656"/>
            <a:ext cx="1097280" cy="420624"/>
          </a:xfrm>
          <a:prstGeom prst="rect">
            <a:avLst/>
          </a:prstGeom>
          <a:solidFill>
            <a:srgbClr val="FFFFFF"/>
          </a:solidFill>
          <a:ln w="6350">
            <a:solidFill>
              <a:srgbClr val="D1D5DB"/>
            </a:solidFill>
            <a:prstDash val="solid"/>
          </a:ln>
        </p:spPr>
      </p:sp>
      <p:sp>
        <p:nvSpPr>
          <p:cNvPr id="81" name="Shape 79"/>
          <p:cNvSpPr/>
          <p:nvPr/>
        </p:nvSpPr>
        <p:spPr>
          <a:xfrm>
            <a:off x="3575304" y="4151376"/>
            <a:ext cx="987552" cy="310896"/>
          </a:xfrm>
          <a:prstGeom prst="roundRect">
            <a:avLst>
              <a:gd name="adj" fmla="val 11765"/>
            </a:avLst>
          </a:prstGeom>
          <a:solidFill>
            <a:srgbClr val="16A34A"/>
          </a:solidFill>
        </p:spPr>
      </p:sp>
      <p:sp>
        <p:nvSpPr>
          <p:cNvPr id="82" name="Text 80"/>
          <p:cNvSpPr/>
          <p:nvPr/>
        </p:nvSpPr>
        <p:spPr>
          <a:xfrm>
            <a:off x="3575304" y="4151376"/>
            <a:ext cx="987552" cy="310896"/>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ea typeface="Calibri" panose="020F0502020204030204" pitchFamily="34" charset="-122"/>
                <a:cs typeface="Times New Roman" panose="02020603050405020304" charset="0"/>
              </a:rPr>
              <a:t>Positive</a:t>
            </a:r>
            <a:endParaRPr lang="en-US" sz="14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83" name="Shape 81"/>
          <p:cNvSpPr/>
          <p:nvPr/>
        </p:nvSpPr>
        <p:spPr>
          <a:xfrm>
            <a:off x="4617720" y="4105656"/>
            <a:ext cx="3931920" cy="420624"/>
          </a:xfrm>
          <a:prstGeom prst="rect">
            <a:avLst/>
          </a:prstGeom>
          <a:solidFill>
            <a:srgbClr val="FFFFFF"/>
          </a:solidFill>
          <a:ln w="6350">
            <a:solidFill>
              <a:srgbClr val="D1D5DB"/>
            </a:solidFill>
            <a:prstDash val="solid"/>
          </a:ln>
        </p:spPr>
      </p:sp>
      <p:sp>
        <p:nvSpPr>
          <p:cNvPr id="84" name="Text 82"/>
          <p:cNvSpPr/>
          <p:nvPr/>
        </p:nvSpPr>
        <p:spPr>
          <a:xfrm>
            <a:off x="4672584" y="4105656"/>
            <a:ext cx="382219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email+password đúng → 200 + token</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85" name="Shape 83"/>
          <p:cNvSpPr/>
          <p:nvPr/>
        </p:nvSpPr>
        <p:spPr>
          <a:xfrm>
            <a:off x="320040" y="4526280"/>
            <a:ext cx="914400" cy="420624"/>
          </a:xfrm>
          <a:prstGeom prst="rect">
            <a:avLst/>
          </a:prstGeom>
          <a:solidFill>
            <a:srgbClr val="F1F5F9"/>
          </a:solidFill>
          <a:ln w="6350">
            <a:solidFill>
              <a:srgbClr val="D1D5DB"/>
            </a:solidFill>
            <a:prstDash val="solid"/>
          </a:ln>
        </p:spPr>
      </p:sp>
      <p:sp>
        <p:nvSpPr>
          <p:cNvPr id="86" name="Text 84"/>
          <p:cNvSpPr/>
          <p:nvPr/>
        </p:nvSpPr>
        <p:spPr>
          <a:xfrm>
            <a:off x="374904" y="4526280"/>
            <a:ext cx="804672" cy="420624"/>
          </a:xfrm>
          <a:prstGeom prst="rect">
            <a:avLst/>
          </a:prstGeom>
          <a:noFill/>
        </p:spPr>
        <p:txBody>
          <a:bodyPr wrap="square" rtlCol="0" anchor="ctr"/>
          <a:lstStyle/>
          <a:p>
            <a:pPr marL="0" indent="0" algn="ctr">
              <a:buNone/>
            </a:pPr>
            <a:r>
              <a:rPr lang="en-US" sz="1400" b="1" dirty="0">
                <a:solidFill>
                  <a:srgbClr val="0A7EA4"/>
                </a:solidFill>
                <a:latin typeface="Times New Roman" panose="02020603050405020304" charset="0"/>
                <a:ea typeface="Calibri" panose="020F0502020204030204" pitchFamily="34" charset="-122"/>
                <a:cs typeface="Times New Roman" panose="02020603050405020304" charset="0"/>
              </a:rPr>
              <a:t>TC009</a:t>
            </a:r>
            <a:endParaRPr lang="en-US" sz="14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87" name="Shape 85"/>
          <p:cNvSpPr/>
          <p:nvPr/>
        </p:nvSpPr>
        <p:spPr>
          <a:xfrm>
            <a:off x="1234440" y="4526280"/>
            <a:ext cx="2286000" cy="420624"/>
          </a:xfrm>
          <a:prstGeom prst="rect">
            <a:avLst/>
          </a:prstGeom>
          <a:solidFill>
            <a:srgbClr val="F1F5F9"/>
          </a:solidFill>
          <a:ln w="6350">
            <a:solidFill>
              <a:srgbClr val="D1D5DB"/>
            </a:solidFill>
            <a:prstDash val="solid"/>
          </a:ln>
        </p:spPr>
      </p:sp>
      <p:sp>
        <p:nvSpPr>
          <p:cNvPr id="88" name="Text 86"/>
          <p:cNvSpPr/>
          <p:nvPr/>
        </p:nvSpPr>
        <p:spPr>
          <a:xfrm>
            <a:off x="1289304" y="4526280"/>
            <a:ext cx="217627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Khóa sau 5 lần sai</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89" name="Shape 87"/>
          <p:cNvSpPr/>
          <p:nvPr/>
        </p:nvSpPr>
        <p:spPr>
          <a:xfrm>
            <a:off x="3520440" y="4526280"/>
            <a:ext cx="1097280" cy="420624"/>
          </a:xfrm>
          <a:prstGeom prst="rect">
            <a:avLst/>
          </a:prstGeom>
          <a:solidFill>
            <a:srgbClr val="FFFFFF"/>
          </a:solidFill>
          <a:ln w="6350">
            <a:solidFill>
              <a:srgbClr val="D1D5DB"/>
            </a:solidFill>
            <a:prstDash val="solid"/>
          </a:ln>
        </p:spPr>
      </p:sp>
      <p:sp>
        <p:nvSpPr>
          <p:cNvPr id="90" name="Shape 88"/>
          <p:cNvSpPr/>
          <p:nvPr/>
        </p:nvSpPr>
        <p:spPr>
          <a:xfrm>
            <a:off x="3575304" y="4572000"/>
            <a:ext cx="987552" cy="310896"/>
          </a:xfrm>
          <a:prstGeom prst="roundRect">
            <a:avLst>
              <a:gd name="adj" fmla="val 11765"/>
            </a:avLst>
          </a:prstGeom>
          <a:solidFill>
            <a:srgbClr val="7C3AED"/>
          </a:solidFill>
        </p:spPr>
      </p:sp>
      <p:sp>
        <p:nvSpPr>
          <p:cNvPr id="91" name="Text 89"/>
          <p:cNvSpPr/>
          <p:nvPr/>
        </p:nvSpPr>
        <p:spPr>
          <a:xfrm>
            <a:off x="3575304" y="4572000"/>
            <a:ext cx="987552" cy="310896"/>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ea typeface="Calibri" panose="020F0502020204030204" pitchFamily="34" charset="-122"/>
                <a:cs typeface="Times New Roman" panose="02020603050405020304" charset="0"/>
              </a:rPr>
              <a:t>Exception</a:t>
            </a:r>
            <a:endParaRPr lang="en-US" sz="14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92" name="Shape 90"/>
          <p:cNvSpPr/>
          <p:nvPr/>
        </p:nvSpPr>
        <p:spPr>
          <a:xfrm>
            <a:off x="4617720" y="4526280"/>
            <a:ext cx="3931920" cy="420624"/>
          </a:xfrm>
          <a:prstGeom prst="rect">
            <a:avLst/>
          </a:prstGeom>
          <a:solidFill>
            <a:srgbClr val="F1F5F9"/>
          </a:solidFill>
          <a:ln w="6350">
            <a:solidFill>
              <a:srgbClr val="D1D5DB"/>
            </a:solidFill>
            <a:prstDash val="solid"/>
          </a:ln>
        </p:spPr>
      </p:sp>
      <p:sp>
        <p:nvSpPr>
          <p:cNvPr id="93" name="Text 91"/>
          <p:cNvSpPr/>
          <p:nvPr/>
        </p:nvSpPr>
        <p:spPr>
          <a:xfrm>
            <a:off x="4672584" y="4526280"/>
            <a:ext cx="3822192" cy="420624"/>
          </a:xfrm>
          <a:prstGeom prst="rect">
            <a:avLst/>
          </a:prstGeom>
          <a:noFill/>
        </p:spPr>
        <p:txBody>
          <a:bodyPr wrap="square" rtlCol="0" anchor="ctr"/>
          <a:lstStyle/>
          <a:p>
            <a:pPr marL="0" indent="0" algn="l">
              <a:buNone/>
            </a:pPr>
            <a:r>
              <a:rPr lang="en-US" sz="1400" dirty="0">
                <a:solidFill>
                  <a:srgbClr val="1E293B"/>
                </a:solidFill>
                <a:latin typeface="Times New Roman" panose="02020603050405020304" charset="0"/>
                <a:ea typeface="Calibri" panose="020F0502020204030204" pitchFamily="34" charset="-122"/>
                <a:cs typeface="Times New Roman" panose="02020603050405020304" charset="0"/>
              </a:rPr>
              <a:t>Sai 5 lần liên tiếp → 423</a:t>
            </a:r>
            <a:endParaRPr lang="en-US" sz="14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457200" y="164592"/>
            <a:ext cx="8229600" cy="457200"/>
          </a:xfrm>
          <a:prstGeom prst="rect">
            <a:avLst/>
          </a:prstGeom>
          <a:noFill/>
        </p:spPr>
        <p:txBody>
          <a:bodyPr wrap="square" rtlCol="0" anchor="ctr"/>
          <a:lstStyle/>
          <a:p>
            <a:pPr marL="0" indent="0">
              <a:buNone/>
            </a:pPr>
            <a:r>
              <a:rPr lang="en-US" sz="2800" b="1" dirty="0">
                <a:solidFill>
                  <a:srgbClr val="0D2137"/>
                </a:solidFill>
                <a:latin typeface="Times New Roman" panose="02020603050405020304" charset="0"/>
                <a:ea typeface="Calibri" panose="020F0502020204030204" pitchFamily="34" charset="-122"/>
                <a:cs typeface="Times New Roman" panose="02020603050405020304" charset="0"/>
              </a:rPr>
              <a:t>KẾT QUẢ THỰC NGHIỆM</a:t>
            </a:r>
            <a:endParaRPr lang="en-US" sz="28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640080"/>
            <a:ext cx="8229600" cy="36576"/>
          </a:xfrm>
          <a:prstGeom prst="rect">
            <a:avLst/>
          </a:prstGeom>
          <a:solidFill>
            <a:srgbClr val="0A7EA4"/>
          </a:solidFill>
          <a:ln w="12700">
            <a:solidFill>
              <a:srgbClr val="0A7EA4"/>
            </a:solidFill>
            <a:prstDash val="solid"/>
          </a:ln>
        </p:spPr>
      </p:sp>
      <p:sp>
        <p:nvSpPr>
          <p:cNvPr id="5" name="Shape 3"/>
          <p:cNvSpPr/>
          <p:nvPr/>
        </p:nvSpPr>
        <p:spPr>
          <a:xfrm>
            <a:off x="320040" y="777240"/>
            <a:ext cx="2743200" cy="2331720"/>
          </a:xfrm>
          <a:prstGeom prst="roundRect">
            <a:avLst>
              <a:gd name="adj" fmla="val 3922"/>
            </a:avLst>
          </a:prstGeom>
          <a:solidFill>
            <a:srgbClr val="FFFFFF"/>
          </a:solidFill>
          <a:effectLst>
            <a:outerShdw blurRad="101600" dist="38100" dir="2700000" algn="bl" rotWithShape="0">
              <a:srgbClr val="000000">
                <a:alpha val="12000"/>
              </a:srgbClr>
            </a:outerShdw>
          </a:effectLst>
        </p:spPr>
      </p:sp>
      <p:sp>
        <p:nvSpPr>
          <p:cNvPr id="6" name="Shape 4"/>
          <p:cNvSpPr/>
          <p:nvPr/>
        </p:nvSpPr>
        <p:spPr>
          <a:xfrm>
            <a:off x="320040" y="777240"/>
            <a:ext cx="2743200" cy="438912"/>
          </a:xfrm>
          <a:prstGeom prst="rect">
            <a:avLst/>
          </a:prstGeom>
          <a:solidFill>
            <a:srgbClr val="0A7EA4"/>
          </a:solidFill>
          <a:ln w="12700">
            <a:solidFill>
              <a:srgbClr val="0A7EA4"/>
            </a:solidFill>
            <a:prstDash val="solid"/>
          </a:ln>
        </p:spPr>
      </p:sp>
      <p:sp>
        <p:nvSpPr>
          <p:cNvPr id="7" name="Text 5"/>
          <p:cNvSpPr/>
          <p:nvPr/>
        </p:nvSpPr>
        <p:spPr>
          <a:xfrm>
            <a:off x="320040" y="777240"/>
            <a:ext cx="2743200" cy="438912"/>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Khởi động Flask API</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8" name="Text 6"/>
          <p:cNvSpPr/>
          <p:nvPr/>
        </p:nvSpPr>
        <p:spPr>
          <a:xfrm>
            <a:off x="429768" y="1298448"/>
            <a:ext cx="2523744" cy="1664208"/>
          </a:xfrm>
          <a:prstGeom prst="rect">
            <a:avLst/>
          </a:prstGeom>
          <a:noFill/>
        </p:spPr>
        <p:txBody>
          <a:bodyPr wrap="square" rtlCol="0" anchor="t"/>
          <a:lstStyle/>
          <a:p>
            <a:pPr marL="0" indent="0">
              <a:lnSpc>
                <a:spcPct val="150000"/>
              </a:lnSpc>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python app.py</a:t>
            </a:r>
            <a:endParaRPr lang="en-US" sz="1600" dirty="0">
              <a:latin typeface="Times New Roman" panose="02020603050405020304" charset="0"/>
              <a:cs typeface="Times New Roman" panose="02020603050405020304" charset="0"/>
            </a:endParaRPr>
          </a:p>
          <a:p>
            <a:pPr marL="0" indent="0">
              <a:lnSpc>
                <a:spcPct val="150000"/>
              </a:lnSpc>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 http://127.0.0.1:5000</a:t>
            </a:r>
            <a:endParaRPr lang="en-US" sz="1600" dirty="0">
              <a:latin typeface="Times New Roman" panose="02020603050405020304" charset="0"/>
              <a:cs typeface="Times New Roman" panose="02020603050405020304" charset="0"/>
            </a:endParaRPr>
          </a:p>
          <a:p>
            <a:pPr marL="0" indent="0">
              <a:lnSpc>
                <a:spcPct val="150000"/>
              </a:lnSpc>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API sẵn sàng tiếp nhận yêu cầu</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9" name="Shape 7"/>
          <p:cNvSpPr/>
          <p:nvPr/>
        </p:nvSpPr>
        <p:spPr>
          <a:xfrm>
            <a:off x="3227832" y="777240"/>
            <a:ext cx="2743200" cy="2331720"/>
          </a:xfrm>
          <a:prstGeom prst="roundRect">
            <a:avLst>
              <a:gd name="adj" fmla="val 3922"/>
            </a:avLst>
          </a:prstGeom>
          <a:solidFill>
            <a:srgbClr val="FFFFFF"/>
          </a:solidFill>
          <a:effectLst>
            <a:outerShdw blurRad="101600" dist="38100" dir="2700000" algn="bl" rotWithShape="0">
              <a:srgbClr val="000000">
                <a:alpha val="12000"/>
              </a:srgbClr>
            </a:outerShdw>
          </a:effectLst>
        </p:spPr>
      </p:sp>
      <p:sp>
        <p:nvSpPr>
          <p:cNvPr id="10" name="Shape 8"/>
          <p:cNvSpPr/>
          <p:nvPr/>
        </p:nvSpPr>
        <p:spPr>
          <a:xfrm>
            <a:off x="3227832" y="777240"/>
            <a:ext cx="2743200" cy="438912"/>
          </a:xfrm>
          <a:prstGeom prst="rect">
            <a:avLst/>
          </a:prstGeom>
          <a:solidFill>
            <a:srgbClr val="0891B2"/>
          </a:solidFill>
          <a:ln w="12700">
            <a:solidFill>
              <a:srgbClr val="0891B2"/>
            </a:solidFill>
            <a:prstDash val="solid"/>
          </a:ln>
        </p:spPr>
      </p:sp>
      <p:sp>
        <p:nvSpPr>
          <p:cNvPr id="11" name="Text 9"/>
          <p:cNvSpPr/>
          <p:nvPr/>
        </p:nvSpPr>
        <p:spPr>
          <a:xfrm>
            <a:off x="3227832" y="777240"/>
            <a:ext cx="2743200" cy="438912"/>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Truy cập API</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2" name="Text 10"/>
          <p:cNvSpPr/>
          <p:nvPr/>
        </p:nvSpPr>
        <p:spPr>
          <a:xfrm>
            <a:off x="3337560" y="1298448"/>
            <a:ext cx="2523744" cy="1664208"/>
          </a:xfrm>
          <a:prstGeom prst="rect">
            <a:avLst/>
          </a:prstGeom>
          <a:noFill/>
        </p:spPr>
        <p:txBody>
          <a:bodyPr wrap="square" rtlCol="0" anchor="t"/>
          <a:lstStyle/>
          <a:p>
            <a:pPr marL="0" indent="0">
              <a:lnSpc>
                <a:spcPct val="130000"/>
              </a:lnSpc>
              <a:spcBef>
                <a:spcPts val="0"/>
              </a:spcBef>
              <a:spcAft>
                <a:spcPts val="0"/>
              </a:spcAft>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GET /</a:t>
            </a:r>
            <a:endParaRPr lang="en-US" sz="1600" dirty="0">
              <a:latin typeface="Times New Roman" panose="02020603050405020304" charset="0"/>
              <a:cs typeface="Times New Roman" panose="02020603050405020304" charset="0"/>
            </a:endParaRPr>
          </a:p>
          <a:p>
            <a:pPr marL="0" indent="0">
              <a:lnSpc>
                <a:spcPct val="130000"/>
              </a:lnSpc>
              <a:spcBef>
                <a:spcPts val="0"/>
              </a:spcBef>
              <a:spcAft>
                <a:spcPts val="0"/>
              </a:spcAft>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 JSON với thông tin đề tài và trạng thái</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en-US" sz="1600" dirty="0">
              <a:latin typeface="Times New Roman" panose="02020603050405020304" charset="0"/>
              <a:cs typeface="Times New Roman" panose="02020603050405020304" charset="0"/>
            </a:endParaRPr>
          </a:p>
          <a:p>
            <a:pPr marL="0" indent="0">
              <a:lnSpc>
                <a:spcPct val="130000"/>
              </a:lnSpc>
              <a:spcBef>
                <a:spcPts val="0"/>
              </a:spcBef>
              <a:spcAft>
                <a:spcPts val="0"/>
              </a:spcAft>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Xác nhận API hoạt động bình thường</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3" name="Shape 11"/>
          <p:cNvSpPr/>
          <p:nvPr/>
        </p:nvSpPr>
        <p:spPr>
          <a:xfrm>
            <a:off x="6135624" y="777240"/>
            <a:ext cx="2743200" cy="2331720"/>
          </a:xfrm>
          <a:prstGeom prst="roundRect">
            <a:avLst>
              <a:gd name="adj" fmla="val 3922"/>
            </a:avLst>
          </a:prstGeom>
          <a:solidFill>
            <a:srgbClr val="FFFFFF"/>
          </a:solidFill>
          <a:effectLst>
            <a:outerShdw blurRad="101600" dist="38100" dir="2700000" algn="bl" rotWithShape="0">
              <a:srgbClr val="000000">
                <a:alpha val="12000"/>
              </a:srgbClr>
            </a:outerShdw>
          </a:effectLst>
        </p:spPr>
      </p:sp>
      <p:sp>
        <p:nvSpPr>
          <p:cNvPr id="14" name="Shape 12"/>
          <p:cNvSpPr/>
          <p:nvPr/>
        </p:nvSpPr>
        <p:spPr>
          <a:xfrm>
            <a:off x="6135624" y="777240"/>
            <a:ext cx="2743200" cy="438912"/>
          </a:xfrm>
          <a:prstGeom prst="rect">
            <a:avLst/>
          </a:prstGeom>
          <a:solidFill>
            <a:srgbClr val="16A34A"/>
          </a:solidFill>
          <a:ln w="12700">
            <a:solidFill>
              <a:srgbClr val="16A34A"/>
            </a:solidFill>
            <a:prstDash val="solid"/>
          </a:ln>
        </p:spPr>
      </p:sp>
      <p:sp>
        <p:nvSpPr>
          <p:cNvPr id="15" name="Text 13"/>
          <p:cNvSpPr/>
          <p:nvPr/>
        </p:nvSpPr>
        <p:spPr>
          <a:xfrm>
            <a:off x="6135624" y="777240"/>
            <a:ext cx="2743200" cy="438912"/>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alibri" panose="020F0502020204030204" pitchFamily="34" charset="-122"/>
                <a:cs typeface="Times New Roman" panose="02020603050405020304" charset="0"/>
              </a:rPr>
              <a:t>Thực thi PyTest</a:t>
            </a:r>
            <a:endParaRPr lang="en-US" sz="16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6" name="Text 14"/>
          <p:cNvSpPr/>
          <p:nvPr/>
        </p:nvSpPr>
        <p:spPr>
          <a:xfrm>
            <a:off x="6245352" y="1298448"/>
            <a:ext cx="2523744" cy="1664208"/>
          </a:xfrm>
          <a:prstGeom prst="rect">
            <a:avLst/>
          </a:prstGeom>
          <a:noFill/>
        </p:spPr>
        <p:txBody>
          <a:bodyPr wrap="square" rtlCol="0" anchor="t"/>
          <a:lstStyle/>
          <a:p>
            <a:pPr marL="0" indent="0">
              <a:lnSpc>
                <a:spcPct val="150000"/>
              </a:lnSpc>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pytest -v</a:t>
            </a:r>
            <a:endParaRPr lang="en-US" sz="1600" dirty="0">
              <a:latin typeface="Times New Roman" panose="02020603050405020304" charset="0"/>
              <a:cs typeface="Times New Roman" panose="02020603050405020304" charset="0"/>
            </a:endParaRPr>
          </a:p>
          <a:p>
            <a:pPr marL="0" indent="0">
              <a:lnSpc>
                <a:spcPct val="150000"/>
              </a:lnSpc>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 9 passed, 0 failed</a:t>
            </a:r>
            <a:endParaRPr lang="en-US" sz="1600" dirty="0">
              <a:latin typeface="Times New Roman" panose="02020603050405020304" charset="0"/>
              <a:cs typeface="Times New Roman" panose="02020603050405020304" charset="0"/>
            </a:endParaRPr>
          </a:p>
          <a:p>
            <a:pPr marL="0" indent="0">
              <a:lnSpc>
                <a:spcPct val="150000"/>
              </a:lnSpc>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Tất cả test case đều PASSED</a:t>
            </a:r>
            <a:r>
              <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rPr>
              <a:t>.</a:t>
            </a:r>
            <a:endParaRPr lang="vi-VN" alt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7" name="Shape 15"/>
          <p:cNvSpPr/>
          <p:nvPr/>
        </p:nvSpPr>
        <p:spPr>
          <a:xfrm>
            <a:off x="320040" y="3246120"/>
            <a:ext cx="2743200" cy="868680"/>
          </a:xfrm>
          <a:prstGeom prst="roundRect">
            <a:avLst>
              <a:gd name="adj" fmla="val 10526"/>
            </a:avLst>
          </a:prstGeom>
          <a:solidFill>
            <a:srgbClr val="FFFFFF"/>
          </a:solidFill>
          <a:effectLst>
            <a:outerShdw blurRad="101600" dist="38100" dir="2700000" algn="bl" rotWithShape="0">
              <a:srgbClr val="000000">
                <a:alpha val="12000"/>
              </a:srgbClr>
            </a:outerShdw>
          </a:effectLst>
        </p:spPr>
      </p:sp>
      <p:sp>
        <p:nvSpPr>
          <p:cNvPr id="18" name="Text 16"/>
          <p:cNvSpPr/>
          <p:nvPr/>
        </p:nvSpPr>
        <p:spPr>
          <a:xfrm>
            <a:off x="320040" y="3246120"/>
            <a:ext cx="2743200" cy="548640"/>
          </a:xfrm>
          <a:prstGeom prst="rect">
            <a:avLst/>
          </a:prstGeom>
          <a:noFill/>
        </p:spPr>
        <p:txBody>
          <a:bodyPr wrap="square" rtlCol="0" anchor="ctr"/>
          <a:lstStyle/>
          <a:p>
            <a:pPr marL="0" indent="0" algn="ctr">
              <a:buNone/>
            </a:pPr>
            <a:r>
              <a:rPr lang="en-US" sz="1600" b="1" dirty="0">
                <a:solidFill>
                  <a:schemeClr val="tx1"/>
                </a:solidFill>
                <a:latin typeface="Times New Roman" panose="02020603050405020304" charset="0"/>
                <a:ea typeface="Calibri" panose="020F0502020204030204" pitchFamily="34" charset="-122"/>
                <a:cs typeface="Times New Roman" panose="02020603050405020304" charset="0"/>
              </a:rPr>
              <a:t>9</a:t>
            </a:r>
            <a:endParaRPr lang="en-US" sz="1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9" name="Text 17"/>
          <p:cNvSpPr/>
          <p:nvPr/>
        </p:nvSpPr>
        <p:spPr>
          <a:xfrm>
            <a:off x="320040" y="3730752"/>
            <a:ext cx="2743200" cy="347472"/>
          </a:xfrm>
          <a:prstGeom prst="rect">
            <a:avLst/>
          </a:prstGeom>
          <a:noFill/>
        </p:spPr>
        <p:txBody>
          <a:bodyPr wrap="square" rtlCol="0" anchor="ctr"/>
          <a:lstStyle/>
          <a:p>
            <a:pPr marL="0" indent="0" algn="ctr">
              <a:buNone/>
            </a:pPr>
            <a:r>
              <a:rPr lang="en-US" sz="1600" dirty="0">
                <a:solidFill>
                  <a:schemeClr val="tx1"/>
                </a:solidFill>
                <a:latin typeface="Times New Roman" panose="02020603050405020304" charset="0"/>
                <a:ea typeface="Calibri" panose="020F0502020204030204" pitchFamily="34" charset="-122"/>
                <a:cs typeface="Times New Roman" panose="02020603050405020304" charset="0"/>
              </a:rPr>
              <a:t>passed</a:t>
            </a:r>
            <a:endParaRPr lang="en-US" sz="1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20" name="Shape 18"/>
          <p:cNvSpPr/>
          <p:nvPr/>
        </p:nvSpPr>
        <p:spPr>
          <a:xfrm>
            <a:off x="3227832" y="3246120"/>
            <a:ext cx="2743200" cy="868680"/>
          </a:xfrm>
          <a:prstGeom prst="roundRect">
            <a:avLst>
              <a:gd name="adj" fmla="val 10526"/>
            </a:avLst>
          </a:prstGeom>
          <a:solidFill>
            <a:srgbClr val="FFFFFF"/>
          </a:solidFill>
          <a:effectLst>
            <a:outerShdw blurRad="101600" dist="38100" dir="2700000" algn="bl" rotWithShape="0">
              <a:srgbClr val="000000">
                <a:alpha val="12000"/>
              </a:srgbClr>
            </a:outerShdw>
          </a:effectLst>
        </p:spPr>
      </p:sp>
      <p:sp>
        <p:nvSpPr>
          <p:cNvPr id="21" name="Text 19"/>
          <p:cNvSpPr/>
          <p:nvPr/>
        </p:nvSpPr>
        <p:spPr>
          <a:xfrm>
            <a:off x="3227832" y="3246120"/>
            <a:ext cx="2743200" cy="548640"/>
          </a:xfrm>
          <a:prstGeom prst="rect">
            <a:avLst/>
          </a:prstGeom>
          <a:noFill/>
        </p:spPr>
        <p:txBody>
          <a:bodyPr wrap="square" rtlCol="0" anchor="ctr"/>
          <a:lstStyle/>
          <a:p>
            <a:pPr marL="0" indent="0" algn="ctr">
              <a:buNone/>
            </a:pPr>
            <a:r>
              <a:rPr lang="en-US" sz="1600" b="1" dirty="0">
                <a:solidFill>
                  <a:schemeClr val="tx1"/>
                </a:solidFill>
                <a:latin typeface="Times New Roman" panose="02020603050405020304" charset="0"/>
                <a:ea typeface="Calibri" panose="020F0502020204030204" pitchFamily="34" charset="-122"/>
                <a:cs typeface="Times New Roman" panose="02020603050405020304" charset="0"/>
              </a:rPr>
              <a:t>100%</a:t>
            </a:r>
            <a:endParaRPr lang="en-US" sz="1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22" name="Text 20"/>
          <p:cNvSpPr/>
          <p:nvPr/>
        </p:nvSpPr>
        <p:spPr>
          <a:xfrm>
            <a:off x="3227832" y="3730752"/>
            <a:ext cx="2743200" cy="347472"/>
          </a:xfrm>
          <a:prstGeom prst="rect">
            <a:avLst/>
          </a:prstGeom>
          <a:noFill/>
        </p:spPr>
        <p:txBody>
          <a:bodyPr wrap="square" rtlCol="0" anchor="ctr"/>
          <a:lstStyle/>
          <a:p>
            <a:pPr marL="0" indent="0" algn="ctr">
              <a:buNone/>
            </a:pPr>
            <a:r>
              <a:rPr lang="vi-VN" altLang="en-US" sz="1600" dirty="0">
                <a:solidFill>
                  <a:schemeClr val="tx1"/>
                </a:solidFill>
                <a:latin typeface="Times New Roman" panose="02020603050405020304" charset="0"/>
                <a:ea typeface="Calibri" panose="020F0502020204030204" pitchFamily="34" charset="-122"/>
                <a:cs typeface="Times New Roman" panose="02020603050405020304" charset="0"/>
              </a:rPr>
              <a:t>Tỷ lệ </a:t>
            </a:r>
            <a:r>
              <a:rPr lang="en-US" sz="1600" dirty="0">
                <a:solidFill>
                  <a:schemeClr val="tx1"/>
                </a:solidFill>
                <a:latin typeface="Times New Roman" panose="02020603050405020304" charset="0"/>
                <a:ea typeface="Calibri" panose="020F0502020204030204" pitchFamily="34" charset="-122"/>
                <a:cs typeface="Times New Roman" panose="02020603050405020304" charset="0"/>
              </a:rPr>
              <a:t>bao phủ </a:t>
            </a:r>
            <a:r>
              <a:rPr lang="vi-VN" altLang="en-US" sz="1600" dirty="0">
                <a:solidFill>
                  <a:schemeClr val="tx1"/>
                </a:solidFill>
                <a:latin typeface="Times New Roman" panose="02020603050405020304" charset="0"/>
                <a:ea typeface="Calibri" panose="020F0502020204030204" pitchFamily="34" charset="-122"/>
                <a:cs typeface="Times New Roman" panose="02020603050405020304" charset="0"/>
              </a:rPr>
              <a:t>yêu cầu</a:t>
            </a:r>
            <a:endParaRPr lang="vi-VN" altLang="en-US" sz="1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23" name="Shape 21"/>
          <p:cNvSpPr/>
          <p:nvPr/>
        </p:nvSpPr>
        <p:spPr>
          <a:xfrm>
            <a:off x="6135624" y="3246120"/>
            <a:ext cx="2743200" cy="868680"/>
          </a:xfrm>
          <a:prstGeom prst="roundRect">
            <a:avLst>
              <a:gd name="adj" fmla="val 10526"/>
            </a:avLst>
          </a:prstGeom>
          <a:solidFill>
            <a:srgbClr val="FFFFFF"/>
          </a:solidFill>
          <a:effectLst>
            <a:outerShdw blurRad="101600" dist="38100" dir="2700000" algn="bl" rotWithShape="0">
              <a:srgbClr val="000000">
                <a:alpha val="12000"/>
              </a:srgbClr>
            </a:outerShdw>
          </a:effectLst>
        </p:spPr>
      </p:sp>
      <p:sp>
        <p:nvSpPr>
          <p:cNvPr id="24" name="Text 22"/>
          <p:cNvSpPr/>
          <p:nvPr/>
        </p:nvSpPr>
        <p:spPr>
          <a:xfrm>
            <a:off x="6135624" y="3246120"/>
            <a:ext cx="2743200" cy="548640"/>
          </a:xfrm>
          <a:prstGeom prst="rect">
            <a:avLst/>
          </a:prstGeom>
          <a:noFill/>
        </p:spPr>
        <p:txBody>
          <a:bodyPr wrap="square" rtlCol="0" anchor="ctr"/>
          <a:lstStyle/>
          <a:p>
            <a:pPr marL="0" indent="0" algn="ctr">
              <a:buNone/>
            </a:pPr>
            <a:r>
              <a:rPr lang="en-US" sz="1600" b="1" dirty="0">
                <a:solidFill>
                  <a:schemeClr val="tx1"/>
                </a:solidFill>
                <a:latin typeface="Times New Roman" panose="02020603050405020304" charset="0"/>
                <a:ea typeface="Calibri" panose="020F0502020204030204" pitchFamily="34" charset="-122"/>
                <a:cs typeface="Times New Roman" panose="02020603050405020304" charset="0"/>
              </a:rPr>
              <a:t>8/8</a:t>
            </a:r>
            <a:endParaRPr lang="en-US" sz="1600" b="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25" name="Text 23"/>
          <p:cNvSpPr/>
          <p:nvPr/>
        </p:nvSpPr>
        <p:spPr>
          <a:xfrm>
            <a:off x="6135624" y="3730752"/>
            <a:ext cx="2743200" cy="347472"/>
          </a:xfrm>
          <a:prstGeom prst="rect">
            <a:avLst/>
          </a:prstGeom>
          <a:noFill/>
        </p:spPr>
        <p:txBody>
          <a:bodyPr wrap="square" rtlCol="0" anchor="ctr"/>
          <a:lstStyle/>
          <a:p>
            <a:pPr marL="0" indent="0" algn="ctr">
              <a:buNone/>
            </a:pPr>
            <a:r>
              <a:rPr lang="vi-VN" altLang="en-US" sz="1600" dirty="0">
                <a:solidFill>
                  <a:schemeClr val="tx1"/>
                </a:solidFill>
                <a:latin typeface="Times New Roman" panose="02020603050405020304" charset="0"/>
                <a:ea typeface="Calibri" panose="020F0502020204030204" pitchFamily="34" charset="-122"/>
                <a:cs typeface="Times New Roman" panose="02020603050405020304" charset="0"/>
              </a:rPr>
              <a:t>Yêu cầu</a:t>
            </a:r>
            <a:r>
              <a:rPr lang="en-US" sz="1600" dirty="0">
                <a:solidFill>
                  <a:schemeClr val="tx1"/>
                </a:solidFill>
                <a:latin typeface="Times New Roman" panose="02020603050405020304" charset="0"/>
                <a:ea typeface="Calibri" panose="020F0502020204030204" pitchFamily="34" charset="-122"/>
                <a:cs typeface="Times New Roman" panose="02020603050405020304" charset="0"/>
              </a:rPr>
              <a:t> được test</a:t>
            </a:r>
            <a:endParaRPr lang="en-US" sz="16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26" name="Shape 24"/>
          <p:cNvSpPr/>
          <p:nvPr/>
        </p:nvSpPr>
        <p:spPr>
          <a:xfrm>
            <a:off x="320040" y="4224528"/>
            <a:ext cx="8503920" cy="749808"/>
          </a:xfrm>
          <a:prstGeom prst="roundRect">
            <a:avLst>
              <a:gd name="adj" fmla="val 12195"/>
            </a:avLst>
          </a:prstGeom>
          <a:solidFill>
            <a:srgbClr val="FFFFFF"/>
          </a:solidFill>
          <a:effectLst>
            <a:outerShdw blurRad="101600" dist="38100" dir="2700000" algn="bl" rotWithShape="0">
              <a:srgbClr val="000000">
                <a:alpha val="12000"/>
              </a:srgbClr>
            </a:outerShdw>
          </a:effectLst>
        </p:spPr>
      </p:sp>
      <p:sp>
        <p:nvSpPr>
          <p:cNvPr id="27" name="Text 25"/>
          <p:cNvSpPr/>
          <p:nvPr/>
        </p:nvSpPr>
        <p:spPr>
          <a:xfrm>
            <a:off x="502920" y="4270248"/>
            <a:ext cx="8138160" cy="658368"/>
          </a:xfrm>
          <a:prstGeom prst="rect">
            <a:avLst/>
          </a:prstGeom>
          <a:noFill/>
        </p:spPr>
        <p:txBody>
          <a:bodyPr wrap="square" rtlCol="0" anchor="ctr"/>
          <a:lstStyle/>
          <a:p>
            <a:pPr marL="0" indent="0" algn="just">
              <a:buNone/>
            </a:pPr>
            <a:r>
              <a:rPr lang="en-US" sz="1600" dirty="0">
                <a:solidFill>
                  <a:srgbClr val="1E293B"/>
                </a:solidFill>
                <a:latin typeface="Times New Roman" panose="02020603050405020304" charset="0"/>
                <a:ea typeface="Calibri" panose="020F0502020204030204" pitchFamily="34" charset="-122"/>
                <a:cs typeface="Times New Roman" panose="02020603050405020304" charset="0"/>
              </a:rPr>
              <a:t>✓  Bộ kiểm thử được sinh ra bởi LLM có khả năng bao phủ toàn bộ yêu cầu chức năng. Kịch bản kiểm thử tự động bằng PyTest thực thi thành công và cho kết quả ổn định trong môi trường thử nghiệm.</a:t>
            </a:r>
            <a:endParaRPr lang="en-US" sz="16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457200" y="164592"/>
            <a:ext cx="8229600" cy="457200"/>
          </a:xfrm>
          <a:prstGeom prst="rect">
            <a:avLst/>
          </a:prstGeom>
          <a:noFill/>
        </p:spPr>
        <p:txBody>
          <a:bodyPr wrap="square" rtlCol="0" anchor="ctr"/>
          <a:lstStyle/>
          <a:p>
            <a:pPr marL="0" indent="0">
              <a:buNone/>
            </a:pPr>
            <a:r>
              <a:rPr lang="en-US" sz="2800" b="1" dirty="0">
                <a:solidFill>
                  <a:srgbClr val="0D2137"/>
                </a:solidFill>
                <a:latin typeface="Times New Roman" panose="02020603050405020304" charset="0"/>
                <a:ea typeface="Calibri" panose="020F0502020204030204" pitchFamily="34" charset="-122"/>
                <a:cs typeface="Times New Roman" panose="02020603050405020304" charset="0"/>
              </a:rPr>
              <a:t>LỢI ÍCH &amp; HẠN CHẾ KHI ỨNG DỤNG LLM</a:t>
            </a:r>
            <a:endParaRPr lang="en-US" sz="28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640080"/>
            <a:ext cx="8229600" cy="36576"/>
          </a:xfrm>
          <a:prstGeom prst="rect">
            <a:avLst/>
          </a:prstGeom>
          <a:solidFill>
            <a:srgbClr val="0A7EA4"/>
          </a:solidFill>
          <a:ln w="12700">
            <a:solidFill>
              <a:srgbClr val="0A7EA4"/>
            </a:solidFill>
            <a:prstDash val="solid"/>
          </a:ln>
        </p:spPr>
      </p:sp>
      <p:sp>
        <p:nvSpPr>
          <p:cNvPr id="5" name="Shape 3"/>
          <p:cNvSpPr/>
          <p:nvPr/>
        </p:nvSpPr>
        <p:spPr>
          <a:xfrm>
            <a:off x="320040" y="777240"/>
            <a:ext cx="4023360" cy="384048"/>
          </a:xfrm>
          <a:prstGeom prst="roundRect">
            <a:avLst>
              <a:gd name="adj" fmla="val 19048"/>
            </a:avLst>
          </a:prstGeom>
          <a:solidFill>
            <a:srgbClr val="16A34A"/>
          </a:solidFill>
        </p:spPr>
      </p:sp>
      <p:sp>
        <p:nvSpPr>
          <p:cNvPr id="6" name="Text 4"/>
          <p:cNvSpPr/>
          <p:nvPr/>
        </p:nvSpPr>
        <p:spPr>
          <a:xfrm>
            <a:off x="320040" y="777240"/>
            <a:ext cx="4023360" cy="384048"/>
          </a:xfrm>
          <a:prstGeom prst="rect">
            <a:avLst/>
          </a:prstGeom>
          <a:noFill/>
        </p:spPr>
        <p:txBody>
          <a:bodyPr wrap="square" rtlCol="0" anchor="ctr"/>
          <a:lstStyle/>
          <a:p>
            <a:pPr marL="0" indent="0" algn="just">
              <a:buNone/>
            </a:pPr>
            <a:r>
              <a:rPr lang="en-US" b="1" dirty="0">
                <a:solidFill>
                  <a:srgbClr val="FFFFFF"/>
                </a:solidFill>
                <a:latin typeface="Times New Roman" panose="02020603050405020304" charset="0"/>
                <a:ea typeface="Calibri" panose="020F0502020204030204" pitchFamily="34" charset="-122"/>
                <a:cs typeface="Times New Roman" panose="02020603050405020304" charset="0"/>
              </a:rPr>
              <a:t>✓  Lợi ích</a:t>
            </a:r>
            <a:endParaRPr lang="en-US"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7" name="Shape 5"/>
          <p:cNvSpPr/>
          <p:nvPr/>
        </p:nvSpPr>
        <p:spPr>
          <a:xfrm>
            <a:off x="384048" y="1261872"/>
            <a:ext cx="256032" cy="256032"/>
          </a:xfrm>
          <a:prstGeom prst="roundRect">
            <a:avLst>
              <a:gd name="adj" fmla="val 14286"/>
            </a:avLst>
          </a:prstGeom>
          <a:solidFill>
            <a:srgbClr val="16A34A"/>
          </a:solidFill>
        </p:spPr>
      </p:sp>
      <p:sp>
        <p:nvSpPr>
          <p:cNvPr id="8" name="Text 6"/>
          <p:cNvSpPr/>
          <p:nvPr/>
        </p:nvSpPr>
        <p:spPr>
          <a:xfrm>
            <a:off x="384048" y="1261872"/>
            <a:ext cx="256032" cy="256032"/>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9" name="Text 7"/>
          <p:cNvSpPr/>
          <p:nvPr/>
        </p:nvSpPr>
        <p:spPr>
          <a:xfrm>
            <a:off x="749808" y="1161161"/>
            <a:ext cx="3474720" cy="475488"/>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Rút ngắn thời gian phân tích tài liệu</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0" name="Shape 8"/>
          <p:cNvSpPr/>
          <p:nvPr/>
        </p:nvSpPr>
        <p:spPr>
          <a:xfrm>
            <a:off x="384048" y="1773936"/>
            <a:ext cx="256032" cy="256032"/>
          </a:xfrm>
          <a:prstGeom prst="roundRect">
            <a:avLst>
              <a:gd name="adj" fmla="val 14286"/>
            </a:avLst>
          </a:prstGeom>
          <a:solidFill>
            <a:srgbClr val="16A34A"/>
          </a:solidFill>
        </p:spPr>
      </p:sp>
      <p:sp>
        <p:nvSpPr>
          <p:cNvPr id="11" name="Text 9"/>
          <p:cNvSpPr/>
          <p:nvPr/>
        </p:nvSpPr>
        <p:spPr>
          <a:xfrm>
            <a:off x="384048" y="1773936"/>
            <a:ext cx="256032" cy="256032"/>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12" name="Text 10"/>
          <p:cNvSpPr/>
          <p:nvPr/>
        </p:nvSpPr>
        <p:spPr>
          <a:xfrm>
            <a:off x="749808" y="1636395"/>
            <a:ext cx="3474720" cy="475488"/>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Tăng tốc độ xây dựng test case</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3" name="Shape 11"/>
          <p:cNvSpPr/>
          <p:nvPr/>
        </p:nvSpPr>
        <p:spPr>
          <a:xfrm>
            <a:off x="384048" y="2286000"/>
            <a:ext cx="256032" cy="256032"/>
          </a:xfrm>
          <a:prstGeom prst="roundRect">
            <a:avLst>
              <a:gd name="adj" fmla="val 14286"/>
            </a:avLst>
          </a:prstGeom>
          <a:solidFill>
            <a:srgbClr val="16A34A"/>
          </a:solidFill>
        </p:spPr>
      </p:sp>
      <p:sp>
        <p:nvSpPr>
          <p:cNvPr id="14" name="Text 12"/>
          <p:cNvSpPr/>
          <p:nvPr/>
        </p:nvSpPr>
        <p:spPr>
          <a:xfrm>
            <a:off x="384048" y="2286000"/>
            <a:ext cx="256032" cy="256032"/>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15" name="Text 13"/>
          <p:cNvSpPr/>
          <p:nvPr/>
        </p:nvSpPr>
        <p:spPr>
          <a:xfrm>
            <a:off x="749935" y="2249170"/>
            <a:ext cx="3592830" cy="475615"/>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Hỗ trợ phát hiện yêu cầu mơ hồ/thiếu nhất quán</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6" name="Shape 14"/>
          <p:cNvSpPr/>
          <p:nvPr/>
        </p:nvSpPr>
        <p:spPr>
          <a:xfrm>
            <a:off x="384048" y="2798064"/>
            <a:ext cx="256032" cy="256032"/>
          </a:xfrm>
          <a:prstGeom prst="roundRect">
            <a:avLst>
              <a:gd name="adj" fmla="val 14286"/>
            </a:avLst>
          </a:prstGeom>
          <a:solidFill>
            <a:srgbClr val="16A34A"/>
          </a:solidFill>
        </p:spPr>
      </p:sp>
      <p:sp>
        <p:nvSpPr>
          <p:cNvPr id="17" name="Text 15"/>
          <p:cNvSpPr/>
          <p:nvPr/>
        </p:nvSpPr>
        <p:spPr>
          <a:xfrm>
            <a:off x="384048" y="2798064"/>
            <a:ext cx="256032" cy="256032"/>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18" name="Text 16"/>
          <p:cNvSpPr/>
          <p:nvPr/>
        </p:nvSpPr>
        <p:spPr>
          <a:xfrm>
            <a:off x="749808" y="2724658"/>
            <a:ext cx="3474720" cy="475488"/>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Nâng cao độ bao phủ kiểm thử</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9" name="Shape 17"/>
          <p:cNvSpPr/>
          <p:nvPr/>
        </p:nvSpPr>
        <p:spPr>
          <a:xfrm>
            <a:off x="384048" y="3310128"/>
            <a:ext cx="256032" cy="256032"/>
          </a:xfrm>
          <a:prstGeom prst="roundRect">
            <a:avLst>
              <a:gd name="adj" fmla="val 14286"/>
            </a:avLst>
          </a:prstGeom>
          <a:solidFill>
            <a:srgbClr val="16A34A"/>
          </a:solidFill>
        </p:spPr>
      </p:sp>
      <p:sp>
        <p:nvSpPr>
          <p:cNvPr id="20" name="Text 18"/>
          <p:cNvSpPr/>
          <p:nvPr/>
        </p:nvSpPr>
        <p:spPr>
          <a:xfrm>
            <a:off x="384048" y="3310128"/>
            <a:ext cx="256032" cy="256032"/>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21" name="Text 19"/>
          <p:cNvSpPr/>
          <p:nvPr/>
        </p:nvSpPr>
        <p:spPr>
          <a:xfrm>
            <a:off x="749808" y="3200527"/>
            <a:ext cx="3474720" cy="475488"/>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Hỗ trợ tester mới hoặc ít kinh nghiệm</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2" name="Shape 20"/>
          <p:cNvSpPr/>
          <p:nvPr/>
        </p:nvSpPr>
        <p:spPr>
          <a:xfrm>
            <a:off x="384048" y="3822192"/>
            <a:ext cx="256032" cy="256032"/>
          </a:xfrm>
          <a:prstGeom prst="roundRect">
            <a:avLst>
              <a:gd name="adj" fmla="val 14286"/>
            </a:avLst>
          </a:prstGeom>
          <a:solidFill>
            <a:srgbClr val="16A34A"/>
          </a:solidFill>
        </p:spPr>
      </p:sp>
      <p:sp>
        <p:nvSpPr>
          <p:cNvPr id="23" name="Text 21"/>
          <p:cNvSpPr/>
          <p:nvPr/>
        </p:nvSpPr>
        <p:spPr>
          <a:xfrm>
            <a:off x="384048" y="3822192"/>
            <a:ext cx="256032" cy="256032"/>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24" name="Text 22"/>
          <p:cNvSpPr/>
          <p:nvPr/>
        </p:nvSpPr>
        <p:spPr>
          <a:xfrm>
            <a:off x="749935" y="3749040"/>
            <a:ext cx="3474720" cy="374650"/>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Giảm chi phí nhân lực kiểm thử</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5" name="Shape 23"/>
          <p:cNvSpPr/>
          <p:nvPr/>
        </p:nvSpPr>
        <p:spPr>
          <a:xfrm>
            <a:off x="384048" y="4334256"/>
            <a:ext cx="256032" cy="256032"/>
          </a:xfrm>
          <a:prstGeom prst="roundRect">
            <a:avLst>
              <a:gd name="adj" fmla="val 14286"/>
            </a:avLst>
          </a:prstGeom>
          <a:solidFill>
            <a:srgbClr val="16A34A"/>
          </a:solidFill>
        </p:spPr>
      </p:sp>
      <p:sp>
        <p:nvSpPr>
          <p:cNvPr id="26" name="Text 24"/>
          <p:cNvSpPr/>
          <p:nvPr/>
        </p:nvSpPr>
        <p:spPr>
          <a:xfrm>
            <a:off x="384048" y="4334256"/>
            <a:ext cx="256032" cy="256032"/>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27" name="Text 25"/>
          <p:cNvSpPr/>
          <p:nvPr/>
        </p:nvSpPr>
        <p:spPr>
          <a:xfrm>
            <a:off x="749935" y="4297680"/>
            <a:ext cx="3474720" cy="313055"/>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Tăng khả năng truy vết yêu cầu &amp; test case</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8" name="Shape 26"/>
          <p:cNvSpPr/>
          <p:nvPr/>
        </p:nvSpPr>
        <p:spPr>
          <a:xfrm>
            <a:off x="4800600" y="777240"/>
            <a:ext cx="4023360" cy="384048"/>
          </a:xfrm>
          <a:prstGeom prst="roundRect">
            <a:avLst>
              <a:gd name="adj" fmla="val 19048"/>
            </a:avLst>
          </a:prstGeom>
          <a:solidFill>
            <a:srgbClr val="DC2626"/>
          </a:solidFill>
        </p:spPr>
      </p:sp>
      <p:sp>
        <p:nvSpPr>
          <p:cNvPr id="29" name="Text 27"/>
          <p:cNvSpPr/>
          <p:nvPr/>
        </p:nvSpPr>
        <p:spPr>
          <a:xfrm>
            <a:off x="4800600" y="777240"/>
            <a:ext cx="4023360" cy="384048"/>
          </a:xfrm>
          <a:prstGeom prst="rect">
            <a:avLst/>
          </a:prstGeom>
          <a:noFill/>
        </p:spPr>
        <p:txBody>
          <a:bodyPr wrap="square" rtlCol="0" anchor="ctr"/>
          <a:lstStyle/>
          <a:p>
            <a:pPr marL="0" indent="0" algn="just">
              <a:buNone/>
            </a:pPr>
            <a:r>
              <a:rPr lang="en-US" b="1" dirty="0">
                <a:solidFill>
                  <a:srgbClr val="FFFFFF"/>
                </a:solidFill>
                <a:latin typeface="Times New Roman" panose="02020603050405020304" charset="0"/>
                <a:ea typeface="Calibri" panose="020F0502020204030204" pitchFamily="34" charset="-122"/>
                <a:cs typeface="Times New Roman" panose="02020603050405020304" charset="0"/>
              </a:rPr>
              <a:t>✗  Hạn chế &amp; Rủi ro</a:t>
            </a:r>
            <a:endParaRPr lang="en-US"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30" name="Shape 28"/>
          <p:cNvSpPr/>
          <p:nvPr/>
        </p:nvSpPr>
        <p:spPr>
          <a:xfrm>
            <a:off x="4864735" y="1261745"/>
            <a:ext cx="283210" cy="255905"/>
          </a:xfrm>
          <a:prstGeom prst="roundRect">
            <a:avLst>
              <a:gd name="adj" fmla="val 14286"/>
            </a:avLst>
          </a:prstGeom>
          <a:solidFill>
            <a:srgbClr val="DC2626"/>
          </a:solidFill>
        </p:spPr>
      </p:sp>
      <p:sp>
        <p:nvSpPr>
          <p:cNvPr id="31" name="Text 29"/>
          <p:cNvSpPr/>
          <p:nvPr/>
        </p:nvSpPr>
        <p:spPr>
          <a:xfrm>
            <a:off x="4864735" y="1261745"/>
            <a:ext cx="283210" cy="255905"/>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32" name="Text 30"/>
          <p:cNvSpPr/>
          <p:nvPr/>
        </p:nvSpPr>
        <p:spPr>
          <a:xfrm>
            <a:off x="5230495" y="1225550"/>
            <a:ext cx="3859530" cy="349885"/>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Hallucination – sinh thông tin không chính xác</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3" name="Shape 31"/>
          <p:cNvSpPr/>
          <p:nvPr/>
        </p:nvSpPr>
        <p:spPr>
          <a:xfrm>
            <a:off x="4864735" y="1774190"/>
            <a:ext cx="283210" cy="255905"/>
          </a:xfrm>
          <a:prstGeom prst="roundRect">
            <a:avLst>
              <a:gd name="adj" fmla="val 14286"/>
            </a:avLst>
          </a:prstGeom>
          <a:solidFill>
            <a:srgbClr val="DC2626"/>
          </a:solidFill>
        </p:spPr>
      </p:sp>
      <p:sp>
        <p:nvSpPr>
          <p:cNvPr id="34" name="Text 32"/>
          <p:cNvSpPr/>
          <p:nvPr/>
        </p:nvSpPr>
        <p:spPr>
          <a:xfrm>
            <a:off x="4864735" y="1774190"/>
            <a:ext cx="283210" cy="255905"/>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35" name="Text 33"/>
          <p:cNvSpPr/>
          <p:nvPr/>
        </p:nvSpPr>
        <p:spPr>
          <a:xfrm>
            <a:off x="5230495" y="1737360"/>
            <a:ext cx="3859530" cy="374650"/>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Hiểu sai ngữ cảnh nghiệp vụ phức tạp</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6" name="Shape 34"/>
          <p:cNvSpPr/>
          <p:nvPr/>
        </p:nvSpPr>
        <p:spPr>
          <a:xfrm>
            <a:off x="4864735" y="2286000"/>
            <a:ext cx="283210" cy="255905"/>
          </a:xfrm>
          <a:prstGeom prst="roundRect">
            <a:avLst>
              <a:gd name="adj" fmla="val 14286"/>
            </a:avLst>
          </a:prstGeom>
          <a:solidFill>
            <a:srgbClr val="DC2626"/>
          </a:solidFill>
        </p:spPr>
      </p:sp>
      <p:sp>
        <p:nvSpPr>
          <p:cNvPr id="37" name="Text 35"/>
          <p:cNvSpPr/>
          <p:nvPr/>
        </p:nvSpPr>
        <p:spPr>
          <a:xfrm>
            <a:off x="4864735" y="2286000"/>
            <a:ext cx="283210" cy="255905"/>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38" name="Text 36"/>
          <p:cNvSpPr/>
          <p:nvPr/>
        </p:nvSpPr>
        <p:spPr>
          <a:xfrm>
            <a:off x="5230495" y="2249170"/>
            <a:ext cx="3859530" cy="332740"/>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Thiếu nhất quán giữa các lần sinh</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39" name="Shape 37"/>
          <p:cNvSpPr/>
          <p:nvPr/>
        </p:nvSpPr>
        <p:spPr>
          <a:xfrm>
            <a:off x="4864735" y="2797810"/>
            <a:ext cx="283210" cy="255905"/>
          </a:xfrm>
          <a:prstGeom prst="roundRect">
            <a:avLst>
              <a:gd name="adj" fmla="val 14286"/>
            </a:avLst>
          </a:prstGeom>
          <a:solidFill>
            <a:srgbClr val="DC2626"/>
          </a:solidFill>
        </p:spPr>
      </p:sp>
      <p:sp>
        <p:nvSpPr>
          <p:cNvPr id="40" name="Text 38"/>
          <p:cNvSpPr/>
          <p:nvPr/>
        </p:nvSpPr>
        <p:spPr>
          <a:xfrm>
            <a:off x="4864735" y="2797810"/>
            <a:ext cx="283210" cy="255905"/>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41" name="Text 39"/>
          <p:cNvSpPr/>
          <p:nvPr/>
        </p:nvSpPr>
        <p:spPr>
          <a:xfrm>
            <a:off x="5230495" y="2761615"/>
            <a:ext cx="3859530" cy="315595"/>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Phụ thuộc vào chất lượng Prompt đầu vào</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2" name="Shape 40"/>
          <p:cNvSpPr/>
          <p:nvPr/>
        </p:nvSpPr>
        <p:spPr>
          <a:xfrm>
            <a:off x="4864735" y="3310255"/>
            <a:ext cx="283210" cy="255905"/>
          </a:xfrm>
          <a:prstGeom prst="roundRect">
            <a:avLst>
              <a:gd name="adj" fmla="val 14286"/>
            </a:avLst>
          </a:prstGeom>
          <a:solidFill>
            <a:srgbClr val="DC2626"/>
          </a:solidFill>
        </p:spPr>
      </p:sp>
      <p:sp>
        <p:nvSpPr>
          <p:cNvPr id="43" name="Text 41"/>
          <p:cNvSpPr/>
          <p:nvPr/>
        </p:nvSpPr>
        <p:spPr>
          <a:xfrm>
            <a:off x="4864735" y="3310255"/>
            <a:ext cx="283210" cy="255905"/>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44" name="Text 42"/>
          <p:cNvSpPr/>
          <p:nvPr/>
        </p:nvSpPr>
        <p:spPr>
          <a:xfrm>
            <a:off x="5230495" y="3273425"/>
            <a:ext cx="3859530" cy="310515"/>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Nguy cơ rò rỉ dữ liệu khi dùng AI công cộng</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5" name="Shape 43"/>
          <p:cNvSpPr/>
          <p:nvPr/>
        </p:nvSpPr>
        <p:spPr>
          <a:xfrm>
            <a:off x="4864735" y="3822065"/>
            <a:ext cx="283210" cy="255905"/>
          </a:xfrm>
          <a:prstGeom prst="roundRect">
            <a:avLst>
              <a:gd name="adj" fmla="val 14286"/>
            </a:avLst>
          </a:prstGeom>
          <a:solidFill>
            <a:srgbClr val="DC2626"/>
          </a:solidFill>
        </p:spPr>
      </p:sp>
      <p:sp>
        <p:nvSpPr>
          <p:cNvPr id="46" name="Text 44"/>
          <p:cNvSpPr/>
          <p:nvPr/>
        </p:nvSpPr>
        <p:spPr>
          <a:xfrm>
            <a:off x="4864735" y="3822065"/>
            <a:ext cx="283210" cy="255905"/>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47" name="Text 45"/>
          <p:cNvSpPr/>
          <p:nvPr/>
        </p:nvSpPr>
        <p:spPr>
          <a:xfrm>
            <a:off x="5230495" y="3785870"/>
            <a:ext cx="3859530" cy="369570"/>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Chưa thể thay thế hoàn toàn kỹ sư kiểm thử</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48" name="Shape 46"/>
          <p:cNvSpPr/>
          <p:nvPr/>
        </p:nvSpPr>
        <p:spPr>
          <a:xfrm>
            <a:off x="4864735" y="4334510"/>
            <a:ext cx="283210" cy="255905"/>
          </a:xfrm>
          <a:prstGeom prst="roundRect">
            <a:avLst>
              <a:gd name="adj" fmla="val 14286"/>
            </a:avLst>
          </a:prstGeom>
          <a:solidFill>
            <a:srgbClr val="DC2626"/>
          </a:solidFill>
        </p:spPr>
      </p:sp>
      <p:sp>
        <p:nvSpPr>
          <p:cNvPr id="49" name="Text 47"/>
          <p:cNvSpPr/>
          <p:nvPr/>
        </p:nvSpPr>
        <p:spPr>
          <a:xfrm>
            <a:off x="4864735" y="4334510"/>
            <a:ext cx="283210" cy="255905"/>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rPr>
              <a:t>✗</a:t>
            </a:r>
            <a:endParaRPr lang="en-US" sz="1500" b="1" dirty="0">
              <a:solidFill>
                <a:srgbClr val="FFFFFF"/>
              </a:solidFill>
              <a:latin typeface="Times New Roman" panose="02020603050405020304" charset="0"/>
              <a:ea typeface="Calibri" panose="020F0502020204030204" pitchFamily="34" charset="-122"/>
              <a:cs typeface="Calibri" panose="020F0502020204030204" pitchFamily="34" charset="-120"/>
            </a:endParaRPr>
          </a:p>
        </p:txBody>
      </p:sp>
      <p:sp>
        <p:nvSpPr>
          <p:cNvPr id="50" name="Text 48"/>
          <p:cNvSpPr/>
          <p:nvPr/>
        </p:nvSpPr>
        <p:spPr>
          <a:xfrm>
            <a:off x="5230495" y="4297680"/>
            <a:ext cx="3859530" cy="297815"/>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Phạm vi thử nghiệm hiện còn hạn chế</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330835" y="164465"/>
            <a:ext cx="8780145" cy="457200"/>
          </a:xfrm>
          <a:prstGeom prst="rect">
            <a:avLst/>
          </a:prstGeom>
          <a:noFill/>
        </p:spPr>
        <p:txBody>
          <a:bodyPr wrap="square" rtlCol="0" anchor="ctr"/>
          <a:lstStyle/>
          <a:p>
            <a:pPr marL="0" indent="0">
              <a:buNone/>
            </a:pPr>
            <a:r>
              <a:rPr lang="en-US" sz="2600" b="1" dirty="0">
                <a:solidFill>
                  <a:srgbClr val="0D2137"/>
                </a:solidFill>
                <a:latin typeface="Times New Roman" panose="02020603050405020304" charset="0"/>
                <a:ea typeface="Calibri" panose="020F0502020204030204" pitchFamily="34" charset="-122"/>
                <a:cs typeface="Times New Roman" panose="02020603050405020304" charset="0"/>
              </a:rPr>
              <a:t>CHƯƠNG 4: KẾT LUẬN </a:t>
            </a:r>
            <a:r>
              <a:rPr lang="vi-VN" altLang="en-US" sz="2600" b="1" dirty="0">
                <a:solidFill>
                  <a:srgbClr val="0D2137"/>
                </a:solidFill>
                <a:latin typeface="Times New Roman" panose="02020603050405020304" charset="0"/>
                <a:ea typeface="Calibri" panose="020F0502020204030204" pitchFamily="34" charset="-122"/>
                <a:cs typeface="Times New Roman" panose="02020603050405020304" charset="0"/>
              </a:rPr>
              <a:t>VÀ</a:t>
            </a:r>
            <a:r>
              <a:rPr lang="en-US" sz="2600" b="1" dirty="0">
                <a:solidFill>
                  <a:srgbClr val="0D2137"/>
                </a:solidFill>
                <a:latin typeface="Times New Roman" panose="02020603050405020304" charset="0"/>
                <a:ea typeface="Calibri" panose="020F0502020204030204" pitchFamily="34" charset="-122"/>
                <a:cs typeface="Times New Roman" panose="02020603050405020304" charset="0"/>
              </a:rPr>
              <a:t> ĐỊNH HƯỚNG MỞ RỘNG</a:t>
            </a:r>
            <a:endParaRPr lang="en-US" sz="2600" b="1" dirty="0">
              <a:solidFill>
                <a:srgbClr val="0D2137"/>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640080"/>
            <a:ext cx="8229600" cy="36576"/>
          </a:xfrm>
          <a:prstGeom prst="rect">
            <a:avLst/>
          </a:prstGeom>
          <a:solidFill>
            <a:srgbClr val="0A7EA4"/>
          </a:solidFill>
          <a:ln w="12700">
            <a:solidFill>
              <a:srgbClr val="0A7EA4"/>
            </a:solidFill>
            <a:prstDash val="solid"/>
          </a:ln>
        </p:spPr>
      </p:sp>
      <p:sp>
        <p:nvSpPr>
          <p:cNvPr id="5" name="Shape 3"/>
          <p:cNvSpPr/>
          <p:nvPr/>
        </p:nvSpPr>
        <p:spPr>
          <a:xfrm>
            <a:off x="320040" y="777240"/>
            <a:ext cx="8503920" cy="1097915"/>
          </a:xfrm>
          <a:prstGeom prst="roundRect">
            <a:avLst>
              <a:gd name="adj" fmla="val 9524"/>
            </a:avLst>
          </a:prstGeom>
          <a:solidFill>
            <a:srgbClr val="FFFFFF"/>
          </a:solidFill>
          <a:effectLst>
            <a:outerShdw blurRad="101600" dist="38100" dir="2700000" algn="bl" rotWithShape="0">
              <a:srgbClr val="000000">
                <a:alpha val="12000"/>
              </a:srgbClr>
            </a:outerShdw>
          </a:effectLst>
        </p:spPr>
      </p:sp>
      <p:sp>
        <p:nvSpPr>
          <p:cNvPr id="6" name="Text 4"/>
          <p:cNvSpPr/>
          <p:nvPr/>
        </p:nvSpPr>
        <p:spPr>
          <a:xfrm>
            <a:off x="502920" y="822960"/>
            <a:ext cx="8138160" cy="292608"/>
          </a:xfrm>
          <a:prstGeom prst="rect">
            <a:avLst/>
          </a:prstGeom>
          <a:noFill/>
        </p:spPr>
        <p:txBody>
          <a:bodyPr wrap="square" rtlCol="0" anchor="ctr"/>
          <a:lstStyle/>
          <a:p>
            <a:pPr marL="0" indent="0">
              <a:buNone/>
            </a:pPr>
            <a:r>
              <a:rPr lang="en-US" sz="1600" b="1" dirty="0">
                <a:solidFill>
                  <a:srgbClr val="0A7EA4"/>
                </a:solidFill>
                <a:latin typeface="Times New Roman" panose="02020603050405020304" charset="0"/>
                <a:ea typeface="Calibri" panose="020F0502020204030204" pitchFamily="34" charset="-122"/>
                <a:cs typeface="Times New Roman" panose="02020603050405020304" charset="0"/>
              </a:rPr>
              <a:t>Tổng kết</a:t>
            </a:r>
            <a:endParaRPr lang="en-US" sz="1600" b="1" dirty="0">
              <a:solidFill>
                <a:srgbClr val="0A7EA4"/>
              </a:solidFill>
              <a:latin typeface="Times New Roman" panose="02020603050405020304" charset="0"/>
              <a:ea typeface="Calibri" panose="020F0502020204030204" pitchFamily="34" charset="-122"/>
              <a:cs typeface="Times New Roman" panose="02020603050405020304" charset="0"/>
            </a:endParaRPr>
          </a:p>
        </p:txBody>
      </p:sp>
      <p:sp>
        <p:nvSpPr>
          <p:cNvPr id="7" name="Text 5"/>
          <p:cNvSpPr/>
          <p:nvPr/>
        </p:nvSpPr>
        <p:spPr>
          <a:xfrm>
            <a:off x="502920" y="1097280"/>
            <a:ext cx="8138160" cy="732790"/>
          </a:xfrm>
          <a:prstGeom prst="rect">
            <a:avLst/>
          </a:prstGeom>
          <a:noFill/>
        </p:spPr>
        <p:txBody>
          <a:bodyPr wrap="square" rtlCol="0" anchor="ctr"/>
          <a:lstStyle/>
          <a:p>
            <a:pPr marL="0" indent="0">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LLM có khả năng hỗ trợ hiệu quả trong phân tích yêu cầu, thiết kế Test Case và nâng cao chất lượng kiểm thử. Kết quả thực nghiệm đạt độ bao phủ 100% với 9/9 test case passed. Tuy nhiên, LLM vẫn là công cụ hỗ trợ và cần sự xác thực của chuyên gia.</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8" name="Text 6"/>
          <p:cNvSpPr/>
          <p:nvPr/>
        </p:nvSpPr>
        <p:spPr>
          <a:xfrm>
            <a:off x="320040" y="1874520"/>
            <a:ext cx="8503920" cy="347472"/>
          </a:xfrm>
          <a:prstGeom prst="rect">
            <a:avLst/>
          </a:prstGeom>
          <a:noFill/>
        </p:spPr>
        <p:txBody>
          <a:bodyPr wrap="square" rtlCol="0" anchor="ctr"/>
          <a:lstStyle/>
          <a:p>
            <a:pPr marL="0" indent="0">
              <a:buNone/>
            </a:pPr>
            <a:r>
              <a:rPr lang="en-US" sz="1600" b="1" dirty="0">
                <a:solidFill>
                  <a:srgbClr val="F5A623"/>
                </a:solidFill>
                <a:latin typeface="Times New Roman" panose="02020603050405020304" charset="0"/>
                <a:ea typeface="Calibri" panose="020F0502020204030204" pitchFamily="34" charset="-122"/>
                <a:cs typeface="Times New Roman" panose="02020603050405020304" charset="0"/>
              </a:rPr>
              <a:t>Định hướng mở rộng</a:t>
            </a:r>
            <a:endParaRPr lang="en-US" sz="1600" b="1" dirty="0">
              <a:solidFill>
                <a:srgbClr val="F5A623"/>
              </a:solidFill>
              <a:latin typeface="Times New Roman" panose="02020603050405020304" charset="0"/>
              <a:ea typeface="Calibri" panose="020F0502020204030204" pitchFamily="34" charset="-122"/>
              <a:cs typeface="Times New Roman" panose="02020603050405020304" charset="0"/>
            </a:endParaRPr>
          </a:p>
        </p:txBody>
      </p:sp>
      <p:sp>
        <p:nvSpPr>
          <p:cNvPr id="9" name="Shape 7"/>
          <p:cNvSpPr/>
          <p:nvPr>
            <p:custDataLst>
              <p:tags r:id="rId1"/>
            </p:custDataLst>
          </p:nvPr>
        </p:nvSpPr>
        <p:spPr>
          <a:xfrm>
            <a:off x="320040" y="2331720"/>
            <a:ext cx="4069080" cy="749808"/>
          </a:xfrm>
          <a:prstGeom prst="roundRect">
            <a:avLst>
              <a:gd name="adj" fmla="val 9756"/>
            </a:avLst>
          </a:prstGeom>
          <a:solidFill>
            <a:srgbClr val="FFFFFF"/>
          </a:solidFill>
          <a:effectLst>
            <a:outerShdw blurRad="101600" dist="38100" dir="2700000" algn="bl" rotWithShape="0">
              <a:srgbClr val="000000">
                <a:alpha val="12000"/>
              </a:srgbClr>
            </a:outerShdw>
          </a:effectLst>
        </p:spPr>
      </p:sp>
      <p:sp>
        <p:nvSpPr>
          <p:cNvPr id="10" name="Shape 8"/>
          <p:cNvSpPr/>
          <p:nvPr>
            <p:custDataLst>
              <p:tags r:id="rId2"/>
            </p:custDataLst>
          </p:nvPr>
        </p:nvSpPr>
        <p:spPr>
          <a:xfrm>
            <a:off x="411480" y="2496312"/>
            <a:ext cx="411480" cy="411480"/>
          </a:xfrm>
          <a:prstGeom prst="ellipse">
            <a:avLst/>
          </a:prstGeom>
          <a:solidFill>
            <a:srgbClr val="F5A623"/>
          </a:solidFill>
        </p:spPr>
      </p:sp>
      <p:sp>
        <p:nvSpPr>
          <p:cNvPr id="11" name="Text 9"/>
          <p:cNvSpPr/>
          <p:nvPr>
            <p:custDataLst>
              <p:tags r:id="rId3"/>
            </p:custDataLst>
          </p:nvPr>
        </p:nvSpPr>
        <p:spPr>
          <a:xfrm>
            <a:off x="411480" y="2496312"/>
            <a:ext cx="411480" cy="411480"/>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01</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2" name="Text 10"/>
          <p:cNvSpPr/>
          <p:nvPr>
            <p:custDataLst>
              <p:tags r:id="rId4"/>
            </p:custDataLst>
          </p:nvPr>
        </p:nvSpPr>
        <p:spPr>
          <a:xfrm>
            <a:off x="914400" y="2404872"/>
            <a:ext cx="3383280" cy="594360"/>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Tích hợp GPT, Gemini để tự động hóa phân tích yêu cầu và sinh Test Case</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3" name="Shape 11"/>
          <p:cNvSpPr/>
          <p:nvPr>
            <p:custDataLst>
              <p:tags r:id="rId5"/>
            </p:custDataLst>
          </p:nvPr>
        </p:nvSpPr>
        <p:spPr>
          <a:xfrm>
            <a:off x="320040" y="3200400"/>
            <a:ext cx="4069080" cy="749808"/>
          </a:xfrm>
          <a:prstGeom prst="roundRect">
            <a:avLst>
              <a:gd name="adj" fmla="val 9756"/>
            </a:avLst>
          </a:prstGeom>
          <a:solidFill>
            <a:srgbClr val="FFFFFF"/>
          </a:solidFill>
          <a:effectLst>
            <a:outerShdw blurRad="101600" dist="38100" dir="2700000" algn="bl" rotWithShape="0">
              <a:srgbClr val="000000">
                <a:alpha val="12000"/>
              </a:srgbClr>
            </a:outerShdw>
          </a:effectLst>
        </p:spPr>
      </p:sp>
      <p:sp>
        <p:nvSpPr>
          <p:cNvPr id="14" name="Shape 12"/>
          <p:cNvSpPr/>
          <p:nvPr>
            <p:custDataLst>
              <p:tags r:id="rId6"/>
            </p:custDataLst>
          </p:nvPr>
        </p:nvSpPr>
        <p:spPr>
          <a:xfrm>
            <a:off x="411480" y="3364992"/>
            <a:ext cx="411480" cy="411480"/>
          </a:xfrm>
          <a:prstGeom prst="ellipse">
            <a:avLst/>
          </a:prstGeom>
          <a:solidFill>
            <a:srgbClr val="F5A623"/>
          </a:solidFill>
        </p:spPr>
      </p:sp>
      <p:sp>
        <p:nvSpPr>
          <p:cNvPr id="15" name="Text 13"/>
          <p:cNvSpPr/>
          <p:nvPr>
            <p:custDataLst>
              <p:tags r:id="rId7"/>
            </p:custDataLst>
          </p:nvPr>
        </p:nvSpPr>
        <p:spPr>
          <a:xfrm>
            <a:off x="411480" y="3364992"/>
            <a:ext cx="411480" cy="411480"/>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02</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16" name="Text 14"/>
          <p:cNvSpPr/>
          <p:nvPr>
            <p:custDataLst>
              <p:tags r:id="rId8"/>
            </p:custDataLst>
          </p:nvPr>
        </p:nvSpPr>
        <p:spPr>
          <a:xfrm>
            <a:off x="914400" y="3273552"/>
            <a:ext cx="3383280" cy="594360"/>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Tự động sinh mã kiểm thử cho Selenium, Playwright, Robot Framework</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17" name="Shape 15"/>
          <p:cNvSpPr/>
          <p:nvPr>
            <p:custDataLst>
              <p:tags r:id="rId9"/>
            </p:custDataLst>
          </p:nvPr>
        </p:nvSpPr>
        <p:spPr>
          <a:xfrm>
            <a:off x="320040" y="4069080"/>
            <a:ext cx="4069080" cy="749808"/>
          </a:xfrm>
          <a:prstGeom prst="roundRect">
            <a:avLst>
              <a:gd name="adj" fmla="val 9756"/>
            </a:avLst>
          </a:prstGeom>
          <a:solidFill>
            <a:srgbClr val="FFFFFF"/>
          </a:solidFill>
          <a:effectLst>
            <a:outerShdw blurRad="101600" dist="38100" dir="2700000" algn="bl" rotWithShape="0">
              <a:srgbClr val="000000">
                <a:alpha val="12000"/>
              </a:srgbClr>
            </a:outerShdw>
          </a:effectLst>
        </p:spPr>
      </p:sp>
      <p:sp>
        <p:nvSpPr>
          <p:cNvPr id="18" name="Shape 16"/>
          <p:cNvSpPr/>
          <p:nvPr>
            <p:custDataLst>
              <p:tags r:id="rId10"/>
            </p:custDataLst>
          </p:nvPr>
        </p:nvSpPr>
        <p:spPr>
          <a:xfrm>
            <a:off x="411480" y="4233672"/>
            <a:ext cx="411480" cy="411480"/>
          </a:xfrm>
          <a:prstGeom prst="ellipse">
            <a:avLst/>
          </a:prstGeom>
          <a:solidFill>
            <a:srgbClr val="F5A623"/>
          </a:solidFill>
        </p:spPr>
      </p:sp>
      <p:sp>
        <p:nvSpPr>
          <p:cNvPr id="19" name="Text 17"/>
          <p:cNvSpPr/>
          <p:nvPr>
            <p:custDataLst>
              <p:tags r:id="rId11"/>
            </p:custDataLst>
          </p:nvPr>
        </p:nvSpPr>
        <p:spPr>
          <a:xfrm>
            <a:off x="411480" y="4233672"/>
            <a:ext cx="411480" cy="411480"/>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03</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0" name="Text 18"/>
          <p:cNvSpPr/>
          <p:nvPr>
            <p:custDataLst>
              <p:tags r:id="rId12"/>
            </p:custDataLst>
          </p:nvPr>
        </p:nvSpPr>
        <p:spPr>
          <a:xfrm>
            <a:off x="914400" y="4142232"/>
            <a:ext cx="3383280" cy="594360"/>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Kết hợp LLM với CI/CD để tự động cập nhật và thực thi bộ kiểm thử</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1" name="Shape 19"/>
          <p:cNvSpPr/>
          <p:nvPr>
            <p:custDataLst>
              <p:tags r:id="rId13"/>
            </p:custDataLst>
          </p:nvPr>
        </p:nvSpPr>
        <p:spPr>
          <a:xfrm>
            <a:off x="4663440" y="2331720"/>
            <a:ext cx="4069080" cy="749808"/>
          </a:xfrm>
          <a:prstGeom prst="roundRect">
            <a:avLst>
              <a:gd name="adj" fmla="val 9756"/>
            </a:avLst>
          </a:prstGeom>
          <a:solidFill>
            <a:srgbClr val="FFFFFF"/>
          </a:solidFill>
          <a:effectLst>
            <a:outerShdw blurRad="101600" dist="38100" dir="2700000" algn="bl" rotWithShape="0">
              <a:srgbClr val="000000">
                <a:alpha val="12000"/>
              </a:srgbClr>
            </a:outerShdw>
          </a:effectLst>
        </p:spPr>
      </p:sp>
      <p:sp>
        <p:nvSpPr>
          <p:cNvPr id="22" name="Shape 20"/>
          <p:cNvSpPr/>
          <p:nvPr>
            <p:custDataLst>
              <p:tags r:id="rId14"/>
            </p:custDataLst>
          </p:nvPr>
        </p:nvSpPr>
        <p:spPr>
          <a:xfrm>
            <a:off x="4754880" y="2496312"/>
            <a:ext cx="411480" cy="411480"/>
          </a:xfrm>
          <a:prstGeom prst="ellipse">
            <a:avLst/>
          </a:prstGeom>
          <a:solidFill>
            <a:srgbClr val="F5A623"/>
          </a:solidFill>
        </p:spPr>
      </p:sp>
      <p:sp>
        <p:nvSpPr>
          <p:cNvPr id="23" name="Text 21"/>
          <p:cNvSpPr/>
          <p:nvPr>
            <p:custDataLst>
              <p:tags r:id="rId15"/>
            </p:custDataLst>
          </p:nvPr>
        </p:nvSpPr>
        <p:spPr>
          <a:xfrm>
            <a:off x="4754880" y="2496312"/>
            <a:ext cx="411480" cy="411480"/>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04</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4" name="Text 22"/>
          <p:cNvSpPr/>
          <p:nvPr>
            <p:custDataLst>
              <p:tags r:id="rId16"/>
            </p:custDataLst>
          </p:nvPr>
        </p:nvSpPr>
        <p:spPr>
          <a:xfrm>
            <a:off x="5257800" y="2404872"/>
            <a:ext cx="3383280" cy="594360"/>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Nghiên cứu sinh dữ liệu kiểm thử tự động từ tài liệu yêu cầu</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5" name="Shape 23"/>
          <p:cNvSpPr/>
          <p:nvPr>
            <p:custDataLst>
              <p:tags r:id="rId17"/>
            </p:custDataLst>
          </p:nvPr>
        </p:nvSpPr>
        <p:spPr>
          <a:xfrm>
            <a:off x="4663440" y="3200400"/>
            <a:ext cx="4069080" cy="749808"/>
          </a:xfrm>
          <a:prstGeom prst="roundRect">
            <a:avLst>
              <a:gd name="adj" fmla="val 9756"/>
            </a:avLst>
          </a:prstGeom>
          <a:solidFill>
            <a:srgbClr val="FFFFFF"/>
          </a:solidFill>
          <a:effectLst>
            <a:outerShdw blurRad="101600" dist="38100" dir="2700000" algn="bl" rotWithShape="0">
              <a:srgbClr val="000000">
                <a:alpha val="12000"/>
              </a:srgbClr>
            </a:outerShdw>
          </a:effectLst>
        </p:spPr>
      </p:sp>
      <p:sp>
        <p:nvSpPr>
          <p:cNvPr id="26" name="Shape 24"/>
          <p:cNvSpPr/>
          <p:nvPr>
            <p:custDataLst>
              <p:tags r:id="rId18"/>
            </p:custDataLst>
          </p:nvPr>
        </p:nvSpPr>
        <p:spPr>
          <a:xfrm>
            <a:off x="4754880" y="3364992"/>
            <a:ext cx="411480" cy="411480"/>
          </a:xfrm>
          <a:prstGeom prst="ellipse">
            <a:avLst/>
          </a:prstGeom>
          <a:solidFill>
            <a:srgbClr val="F5A623"/>
          </a:solidFill>
        </p:spPr>
      </p:sp>
      <p:sp>
        <p:nvSpPr>
          <p:cNvPr id="27" name="Text 25"/>
          <p:cNvSpPr/>
          <p:nvPr>
            <p:custDataLst>
              <p:tags r:id="rId19"/>
            </p:custDataLst>
          </p:nvPr>
        </p:nvSpPr>
        <p:spPr>
          <a:xfrm>
            <a:off x="4754880" y="3364992"/>
            <a:ext cx="411480" cy="411480"/>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05</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8" name="Text 26"/>
          <p:cNvSpPr/>
          <p:nvPr>
            <p:custDataLst>
              <p:tags r:id="rId20"/>
            </p:custDataLst>
          </p:nvPr>
        </p:nvSpPr>
        <p:spPr>
          <a:xfrm>
            <a:off x="5257800" y="3273552"/>
            <a:ext cx="3383280" cy="594360"/>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Mở rộng đánh giá trên hệ thống lớn: thương mại điện tử, ngân hàng</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
        <p:nvSpPr>
          <p:cNvPr id="29" name="Shape 27"/>
          <p:cNvSpPr/>
          <p:nvPr>
            <p:custDataLst>
              <p:tags r:id="rId21"/>
            </p:custDataLst>
          </p:nvPr>
        </p:nvSpPr>
        <p:spPr>
          <a:xfrm>
            <a:off x="4663440" y="4069080"/>
            <a:ext cx="4069080" cy="749808"/>
          </a:xfrm>
          <a:prstGeom prst="roundRect">
            <a:avLst>
              <a:gd name="adj" fmla="val 9756"/>
            </a:avLst>
          </a:prstGeom>
          <a:solidFill>
            <a:srgbClr val="FFFFFF"/>
          </a:solidFill>
          <a:effectLst>
            <a:outerShdw blurRad="101600" dist="38100" dir="2700000" algn="bl" rotWithShape="0">
              <a:srgbClr val="000000">
                <a:alpha val="12000"/>
              </a:srgbClr>
            </a:outerShdw>
          </a:effectLst>
        </p:spPr>
      </p:sp>
      <p:sp>
        <p:nvSpPr>
          <p:cNvPr id="30" name="Shape 28"/>
          <p:cNvSpPr/>
          <p:nvPr>
            <p:custDataLst>
              <p:tags r:id="rId22"/>
            </p:custDataLst>
          </p:nvPr>
        </p:nvSpPr>
        <p:spPr>
          <a:xfrm>
            <a:off x="4754880" y="4233672"/>
            <a:ext cx="411480" cy="411480"/>
          </a:xfrm>
          <a:prstGeom prst="ellipse">
            <a:avLst/>
          </a:prstGeom>
          <a:solidFill>
            <a:srgbClr val="F5A623"/>
          </a:solidFill>
        </p:spPr>
      </p:sp>
      <p:sp>
        <p:nvSpPr>
          <p:cNvPr id="31" name="Text 29"/>
          <p:cNvSpPr/>
          <p:nvPr>
            <p:custDataLst>
              <p:tags r:id="rId23"/>
            </p:custDataLst>
          </p:nvPr>
        </p:nvSpPr>
        <p:spPr>
          <a:xfrm>
            <a:off x="4754880" y="4233672"/>
            <a:ext cx="411480" cy="411480"/>
          </a:xfrm>
          <a:prstGeom prst="rect">
            <a:avLst/>
          </a:prstGeom>
          <a:noFill/>
        </p:spPr>
        <p:txBody>
          <a:bodyPr wrap="square" rtlCol="0" anchor="ctr"/>
          <a:lstStyle/>
          <a:p>
            <a:pPr marL="0" indent="0" algn="ctr">
              <a:buNone/>
            </a:pPr>
            <a:r>
              <a:rPr lang="en-US" sz="1500" b="1" dirty="0">
                <a:solidFill>
                  <a:srgbClr val="FFFFFF"/>
                </a:solidFill>
                <a:latin typeface="Times New Roman" panose="02020603050405020304" charset="0"/>
                <a:ea typeface="Calibri" panose="020F0502020204030204" pitchFamily="34" charset="-122"/>
                <a:cs typeface="Times New Roman" panose="02020603050405020304" charset="0"/>
              </a:rPr>
              <a:t>06</a:t>
            </a:r>
            <a:endParaRPr lang="en-US" sz="15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32" name="Text 30"/>
          <p:cNvSpPr/>
          <p:nvPr>
            <p:custDataLst>
              <p:tags r:id="rId24"/>
            </p:custDataLst>
          </p:nvPr>
        </p:nvSpPr>
        <p:spPr>
          <a:xfrm>
            <a:off x="5257800" y="4142232"/>
            <a:ext cx="3383280" cy="594360"/>
          </a:xfrm>
          <a:prstGeom prst="rect">
            <a:avLst/>
          </a:prstGeom>
          <a:noFill/>
        </p:spPr>
        <p:txBody>
          <a:bodyPr wrap="square" rtlCol="0" anchor="ctr"/>
          <a:lstStyle/>
          <a:p>
            <a:pPr marL="0" indent="0" algn="just">
              <a:buNone/>
            </a:pPr>
            <a:r>
              <a:rPr lang="en-US" sz="1500" dirty="0">
                <a:solidFill>
                  <a:srgbClr val="1E293B"/>
                </a:solidFill>
                <a:latin typeface="Times New Roman" panose="02020603050405020304" charset="0"/>
                <a:ea typeface="Calibri" panose="020F0502020204030204" pitchFamily="34" charset="-122"/>
                <a:cs typeface="Times New Roman" panose="02020603050405020304" charset="0"/>
              </a:rPr>
              <a:t>Áp dụng kỹ thuật RAG để nâng cao độ chính xác Test Case sinh bởi LLM</a:t>
            </a:r>
            <a:endParaRPr lang="en-US" sz="1500" dirty="0">
              <a:solidFill>
                <a:srgbClr val="1E293B"/>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Shape 1"/>
          <p:cNvSpPr/>
          <p:nvPr/>
        </p:nvSpPr>
        <p:spPr>
          <a:xfrm>
            <a:off x="-457200" y="3200400"/>
            <a:ext cx="3200400" cy="3200400"/>
          </a:xfrm>
          <a:prstGeom prst="ellipse">
            <a:avLst/>
          </a:prstGeom>
          <a:solidFill>
            <a:srgbClr val="0A7EA4">
              <a:alpha val="15000"/>
            </a:srgbClr>
          </a:solidFill>
          <a:ln w="12700">
            <a:solidFill>
              <a:srgbClr val="0A7EA4">
                <a:alpha val="15000"/>
              </a:srgbClr>
            </a:solidFill>
            <a:prstDash val="solid"/>
          </a:ln>
        </p:spPr>
      </p:sp>
      <p:sp>
        <p:nvSpPr>
          <p:cNvPr id="4" name="Shape 2"/>
          <p:cNvSpPr/>
          <p:nvPr/>
        </p:nvSpPr>
        <p:spPr>
          <a:xfrm>
            <a:off x="7315200" y="-457200"/>
            <a:ext cx="2743200" cy="2743200"/>
          </a:xfrm>
          <a:prstGeom prst="ellipse">
            <a:avLst/>
          </a:prstGeom>
          <a:solidFill>
            <a:srgbClr val="F5A623">
              <a:alpha val="12000"/>
            </a:srgbClr>
          </a:solidFill>
          <a:ln w="12700">
            <a:solidFill>
              <a:srgbClr val="F5A623">
                <a:alpha val="12000"/>
              </a:srgbClr>
            </a:solidFill>
            <a:prstDash val="solid"/>
          </a:ln>
        </p:spPr>
      </p:sp>
      <p:sp>
        <p:nvSpPr>
          <p:cNvPr id="5" name="Text 3"/>
          <p:cNvSpPr/>
          <p:nvPr/>
        </p:nvSpPr>
        <p:spPr>
          <a:xfrm>
            <a:off x="457200" y="320040"/>
            <a:ext cx="8229600" cy="1371600"/>
          </a:xfrm>
          <a:prstGeom prst="rect">
            <a:avLst/>
          </a:prstGeom>
          <a:noFill/>
        </p:spPr>
        <p:txBody>
          <a:bodyPr wrap="square" rtlCol="0" anchor="ctr"/>
          <a:lstStyle/>
          <a:p>
            <a:pPr marL="0" indent="0" algn="ctr">
              <a:buNone/>
            </a:pPr>
            <a:r>
              <a:rPr lang="vi-VN" altLang="en-US" sz="6000" b="1" dirty="0">
                <a:solidFill>
                  <a:schemeClr val="tx1"/>
                </a:solidFill>
                <a:effectLst>
                  <a:outerShdw blurRad="60007" dist="200025" dir="15000000" sy="30000" kx="-1800000" algn="bl" rotWithShape="0">
                    <a:prstClr val="black">
                      <a:alpha val="32000"/>
                    </a:prstClr>
                  </a:outerShdw>
                </a:effectLst>
                <a:latin typeface="Arial Black" panose="020B0A04020102020204" charset="0"/>
                <a:ea typeface="Calibri" panose="020F0502020204030204" pitchFamily="34" charset="-122"/>
                <a:cs typeface="Arial Black" panose="020B0A04020102020204" charset="0"/>
              </a:rPr>
              <a:t>THANK YOU</a:t>
            </a:r>
            <a:r>
              <a:rPr lang="en-US" sz="6000" b="1" dirty="0">
                <a:solidFill>
                  <a:schemeClr val="tx1"/>
                </a:solidFill>
                <a:effectLst>
                  <a:outerShdw blurRad="60007" dist="200025" dir="15000000" sy="30000" kx="-1800000" algn="bl" rotWithShape="0">
                    <a:prstClr val="black">
                      <a:alpha val="32000"/>
                    </a:prstClr>
                  </a:outerShdw>
                </a:effectLst>
                <a:latin typeface="Arial Black" panose="020B0A04020102020204" charset="0"/>
                <a:ea typeface="Calibri" panose="020F0502020204030204" pitchFamily="34" charset="-122"/>
                <a:cs typeface="Arial Black" panose="020B0A04020102020204" charset="0"/>
              </a:rPr>
              <a:t>!</a:t>
            </a:r>
            <a:endParaRPr lang="en-US" sz="6000" b="1" dirty="0">
              <a:solidFill>
                <a:schemeClr val="tx1"/>
              </a:solidFill>
              <a:effectLst>
                <a:outerShdw blurRad="60007" dist="200025" dir="15000000" sy="30000" kx="-1800000" algn="bl" rotWithShape="0">
                  <a:prstClr val="black">
                    <a:alpha val="32000"/>
                  </a:prstClr>
                </a:outerShdw>
              </a:effectLst>
              <a:latin typeface="Arial Black" panose="020B0A04020102020204" charset="0"/>
              <a:ea typeface="Calibri" panose="020F0502020204030204" pitchFamily="34" charset="-122"/>
              <a:cs typeface="Arial Black" panose="020B0A04020102020204" charset="0"/>
            </a:endParaRPr>
          </a:p>
        </p:txBody>
      </p:sp>
      <p:sp>
        <p:nvSpPr>
          <p:cNvPr id="6" name="Shape 4"/>
          <p:cNvSpPr/>
          <p:nvPr/>
        </p:nvSpPr>
        <p:spPr>
          <a:xfrm>
            <a:off x="2286000" y="1394460"/>
            <a:ext cx="4572000" cy="45720"/>
          </a:xfrm>
          <a:prstGeom prst="rect">
            <a:avLst/>
          </a:prstGeom>
          <a:solidFill>
            <a:srgbClr val="0A7EA4"/>
          </a:solidFill>
          <a:ln w="12700">
            <a:solidFill>
              <a:srgbClr val="0A7EA4"/>
            </a:solidFill>
            <a:prstDash val="solid"/>
          </a:ln>
        </p:spPr>
      </p:sp>
      <p:sp>
        <p:nvSpPr>
          <p:cNvPr id="7" name="Text 5"/>
          <p:cNvSpPr/>
          <p:nvPr/>
        </p:nvSpPr>
        <p:spPr>
          <a:xfrm>
            <a:off x="457200" y="2988818"/>
            <a:ext cx="8229600" cy="438912"/>
          </a:xfrm>
          <a:prstGeom prst="rect">
            <a:avLst/>
          </a:prstGeom>
          <a:noFill/>
        </p:spPr>
        <p:txBody>
          <a:bodyPr wrap="square" rtlCol="0" anchor="ctr"/>
          <a:lstStyle/>
          <a:p>
            <a:pPr marL="0" indent="0" algn="ctr">
              <a:buNone/>
            </a:pPr>
            <a:r>
              <a:rPr lang="en-US" sz="1600" i="1" dirty="0">
                <a:solidFill>
                  <a:schemeClr val="tx1"/>
                </a:solidFill>
                <a:latin typeface="Times New Roman" panose="02020603050405020304" charset="0"/>
                <a:ea typeface="Calibri" panose="020F0502020204030204" pitchFamily="34" charset="-122"/>
                <a:cs typeface="Times New Roman" panose="02020603050405020304" charset="0"/>
              </a:rPr>
              <a:t>LLM trong phân tích yêu cầu và sinh ca kiểm thử</a:t>
            </a:r>
            <a:endParaRPr lang="en-US" sz="1600" i="1"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8" name="Text 6"/>
          <p:cNvSpPr/>
          <p:nvPr/>
        </p:nvSpPr>
        <p:spPr>
          <a:xfrm>
            <a:off x="457200" y="3564890"/>
            <a:ext cx="8229600" cy="384048"/>
          </a:xfrm>
          <a:prstGeom prst="rect">
            <a:avLst/>
          </a:prstGeom>
          <a:noFill/>
        </p:spPr>
        <p:txBody>
          <a:bodyPr wrap="square" rtlCol="0" anchor="ctr"/>
          <a:lstStyle/>
          <a:p>
            <a:pPr marL="0" indent="0" algn="ctr">
              <a:buNone/>
            </a:pPr>
            <a:r>
              <a:rPr lang="en-US" sz="1200" dirty="0">
                <a:solidFill>
                  <a:schemeClr val="tx1"/>
                </a:solidFill>
                <a:latin typeface="Times New Roman" panose="02020603050405020304" charset="0"/>
                <a:ea typeface="Calibri" panose="020F0502020204030204" pitchFamily="34" charset="-122"/>
                <a:cs typeface="Times New Roman" panose="02020603050405020304" charset="0"/>
              </a:rPr>
              <a:t>Sinh viên: Đậu Văn Khánh   |   MSSV: K225480106099   |   Lớp: K58KTP</a:t>
            </a:r>
            <a:endParaRPr lang="en-US" sz="12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9" name="Text 7"/>
          <p:cNvSpPr/>
          <p:nvPr/>
        </p:nvSpPr>
        <p:spPr>
          <a:xfrm>
            <a:off x="457200" y="4003802"/>
            <a:ext cx="8229600" cy="384048"/>
          </a:xfrm>
          <a:prstGeom prst="rect">
            <a:avLst/>
          </a:prstGeom>
          <a:noFill/>
        </p:spPr>
        <p:txBody>
          <a:bodyPr wrap="square" rtlCol="0" anchor="ctr"/>
          <a:lstStyle/>
          <a:p>
            <a:pPr marL="0" indent="0" algn="ctr">
              <a:buNone/>
            </a:pPr>
            <a:r>
              <a:rPr lang="en-US" sz="1200" dirty="0">
                <a:solidFill>
                  <a:schemeClr val="tx1"/>
                </a:solidFill>
                <a:latin typeface="Times New Roman" panose="02020603050405020304" charset="0"/>
                <a:ea typeface="Calibri" panose="020F0502020204030204" pitchFamily="34" charset="-122"/>
                <a:cs typeface="Times New Roman" panose="02020603050405020304" charset="0"/>
              </a:rPr>
              <a:t>GVHD: TS. Nguyễn Tuấn Linh   |  </a:t>
            </a:r>
            <a:r>
              <a:rPr lang="vi-VN" altLang="en-US" sz="1200" dirty="0">
                <a:solidFill>
                  <a:schemeClr val="tx1"/>
                </a:solidFill>
                <a:latin typeface="Times New Roman" panose="02020603050405020304" charset="0"/>
                <a:ea typeface="Calibri" panose="020F0502020204030204" pitchFamily="34" charset="-122"/>
                <a:cs typeface="Times New Roman" panose="02020603050405020304" charset="0"/>
              </a:rPr>
              <a:t>Bài tiểu luận Đảm bảo chất lượng và kiểm thử phần </a:t>
            </a:r>
            <a:r>
              <a:rPr lang="vi-VN" altLang="en-US" sz="1200" dirty="0">
                <a:solidFill>
                  <a:schemeClr val="tx1"/>
                </a:solidFill>
                <a:latin typeface="Times New Roman" panose="02020603050405020304" charset="0"/>
                <a:ea typeface="Calibri" panose="020F0502020204030204" pitchFamily="34" charset="-122"/>
                <a:cs typeface="Times New Roman" panose="02020603050405020304" charset="0"/>
              </a:rPr>
              <a:t>mềm</a:t>
            </a:r>
            <a:endParaRPr lang="vi-VN" altLang="en-US" sz="12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11" name="Shape 9"/>
          <p:cNvSpPr/>
          <p:nvPr/>
        </p:nvSpPr>
        <p:spPr>
          <a:xfrm>
            <a:off x="0" y="5047488"/>
            <a:ext cx="9144000" cy="91440"/>
          </a:xfrm>
          <a:prstGeom prst="rect">
            <a:avLst/>
          </a:prstGeom>
          <a:solidFill>
            <a:srgbClr val="0A7EA4"/>
          </a:solidFill>
          <a:ln w="12700">
            <a:solidFill>
              <a:srgbClr val="0A7EA4"/>
            </a:solidFill>
            <a:prstDash val="solid"/>
          </a:ln>
        </p:spPr>
      </p:sp>
      <p:sp>
        <p:nvSpPr>
          <p:cNvPr id="13" name="Text Box 12"/>
          <p:cNvSpPr txBox="1"/>
          <p:nvPr/>
        </p:nvSpPr>
        <p:spPr>
          <a:xfrm>
            <a:off x="955040" y="1539240"/>
            <a:ext cx="7538085" cy="829945"/>
          </a:xfrm>
          <a:prstGeom prst="rect">
            <a:avLst/>
          </a:prstGeom>
          <a:noFill/>
        </p:spPr>
        <p:txBody>
          <a:bodyPr wrap="square" rtlCol="0">
            <a:spAutoFit/>
          </a:bodyPr>
          <a:p>
            <a:pPr algn="ctr"/>
            <a:r>
              <a:rPr lang="vi-VN" altLang="en-GB" sz="1600">
                <a:latin typeface="Times New Roman" panose="02020603050405020304" charset="0"/>
                <a:cs typeface="Times New Roman" panose="02020603050405020304" charset="0"/>
              </a:rPr>
              <a:t>Em xin chân thành cảm ơn thầy đã tận t</a:t>
            </a:r>
            <a:r>
              <a:rPr lang="vi-VN" altLang="en-GB" sz="1600">
                <a:latin typeface="Times New Roman" panose="02020603050405020304" charset="0"/>
                <a:cs typeface="Times New Roman" panose="02020603050405020304" charset="0"/>
              </a:rPr>
              <a:t>ình hướng dẫn </a:t>
            </a:r>
            <a:r>
              <a:rPr lang="en-US" altLang="en-GB" sz="1600">
                <a:latin typeface="Times New Roman" panose="02020603050405020304" charset="0"/>
                <a:cs typeface="Times New Roman" panose="02020603050405020304" charset="0"/>
              </a:rPr>
              <a:t>và dành thời gian lắng nghe phần tr</a:t>
            </a:r>
            <a:r>
              <a:rPr lang="en-US" altLang="en-US" sz="1600">
                <a:latin typeface="Times New Roman" panose="02020603050405020304" charset="0"/>
                <a:cs typeface="Times New Roman" panose="02020603050405020304" charset="0"/>
              </a:rPr>
              <a:t>ì</a:t>
            </a:r>
            <a:r>
              <a:rPr lang="en-US" altLang="en-GB" sz="1600">
                <a:latin typeface="Times New Roman" panose="02020603050405020304" charset="0"/>
                <a:cs typeface="Times New Roman" panose="02020603050405020304" charset="0"/>
              </a:rPr>
              <a:t>nh bày của em.</a:t>
            </a:r>
            <a:r>
              <a:rPr lang="vi-VN" altLang="en-GB" sz="1600">
                <a:latin typeface="Times New Roman" panose="02020603050405020304" charset="0"/>
                <a:cs typeface="Times New Roman" panose="02020603050405020304" charset="0"/>
              </a:rPr>
              <a:t> Em k</a:t>
            </a:r>
            <a:r>
              <a:rPr lang="en-US" altLang="en-US" sz="1600">
                <a:latin typeface="Times New Roman" panose="02020603050405020304" charset="0"/>
                <a:cs typeface="Times New Roman" panose="02020603050405020304" charset="0"/>
              </a:rPr>
              <a:t>í</a:t>
            </a:r>
            <a:r>
              <a:rPr lang="en-US" altLang="en-GB" sz="1600">
                <a:latin typeface="Times New Roman" panose="02020603050405020304" charset="0"/>
                <a:cs typeface="Times New Roman" panose="02020603050405020304" charset="0"/>
              </a:rPr>
              <a:t>nh ch</a:t>
            </a:r>
            <a:r>
              <a:rPr lang="en-US" altLang="en-US" sz="1600">
                <a:latin typeface="Times New Roman" panose="02020603050405020304" charset="0"/>
                <a:cs typeface="Times New Roman" panose="02020603050405020304" charset="0"/>
              </a:rPr>
              <a:t>ú</a:t>
            </a:r>
            <a:r>
              <a:rPr lang="en-US" altLang="en-GB" sz="1600">
                <a:latin typeface="Times New Roman" panose="02020603050405020304" charset="0"/>
                <a:cs typeface="Times New Roman" panose="02020603050405020304" charset="0"/>
              </a:rPr>
              <a:t>c Thầy luôn mạnh khỏe, thành công và tiếp tục truyền </a:t>
            </a:r>
            <a:r>
              <a:rPr lang="en-US" altLang="en-US" sz="1600">
                <a:latin typeface="Times New Roman" panose="02020603050405020304" charset="0"/>
                <a:cs typeface="Times New Roman" panose="02020603050405020304" charset="0"/>
              </a:rPr>
              <a:t>đ</a:t>
            </a:r>
            <a:r>
              <a:rPr lang="en-US" altLang="en-GB" sz="1600">
                <a:latin typeface="Times New Roman" panose="02020603050405020304" charset="0"/>
                <a:cs typeface="Times New Roman" panose="02020603050405020304" charset="0"/>
              </a:rPr>
              <a:t>ạt nhiều kiến thức qu</a:t>
            </a:r>
            <a:r>
              <a:rPr lang="en-US" altLang="en-US" sz="1600">
                <a:latin typeface="Times New Roman" panose="02020603050405020304" charset="0"/>
                <a:cs typeface="Times New Roman" panose="02020603050405020304" charset="0"/>
              </a:rPr>
              <a:t>ý</a:t>
            </a:r>
            <a:r>
              <a:rPr lang="en-US" altLang="en-GB" sz="1600">
                <a:latin typeface="Times New Roman" panose="02020603050405020304" charset="0"/>
                <a:cs typeface="Times New Roman" panose="02020603050405020304" charset="0"/>
              </a:rPr>
              <a:t> b</a:t>
            </a:r>
            <a:r>
              <a:rPr lang="en-US" altLang="en-US" sz="1600">
                <a:latin typeface="Times New Roman" panose="02020603050405020304" charset="0"/>
                <a:cs typeface="Times New Roman" panose="02020603050405020304" charset="0"/>
              </a:rPr>
              <a:t>á</a:t>
            </a:r>
            <a:r>
              <a:rPr lang="en-US" altLang="en-GB" sz="1600">
                <a:latin typeface="Times New Roman" panose="02020603050405020304" charset="0"/>
                <a:cs typeface="Times New Roman" panose="02020603050405020304" charset="0"/>
              </a:rPr>
              <a:t>u </a:t>
            </a:r>
            <a:r>
              <a:rPr lang="en-US" altLang="en-US" sz="1600">
                <a:latin typeface="Times New Roman" panose="02020603050405020304" charset="0"/>
                <a:cs typeface="Times New Roman" panose="02020603050405020304" charset="0"/>
              </a:rPr>
              <a:t>đ</a:t>
            </a:r>
            <a:r>
              <a:rPr lang="en-US" altLang="en-GB" sz="1600">
                <a:latin typeface="Times New Roman" panose="02020603050405020304" charset="0"/>
                <a:cs typeface="Times New Roman" panose="02020603050405020304" charset="0"/>
              </a:rPr>
              <a:t>ến c</a:t>
            </a:r>
            <a:r>
              <a:rPr lang="en-US" altLang="en-US" sz="1600">
                <a:latin typeface="Times New Roman" panose="02020603050405020304" charset="0"/>
                <a:cs typeface="Times New Roman" panose="02020603050405020304" charset="0"/>
              </a:rPr>
              <a:t>á</a:t>
            </a:r>
            <a:r>
              <a:rPr lang="en-US" altLang="en-GB" sz="1600">
                <a:latin typeface="Times New Roman" panose="02020603050405020304" charset="0"/>
                <a:cs typeface="Times New Roman" panose="02020603050405020304" charset="0"/>
              </a:rPr>
              <a:t>c thế hệ sinh vi</a:t>
            </a:r>
            <a:r>
              <a:rPr lang="en-US" altLang="en-US" sz="1600">
                <a:latin typeface="Times New Roman" panose="02020603050405020304" charset="0"/>
                <a:cs typeface="Times New Roman" panose="02020603050405020304" charset="0"/>
              </a:rPr>
              <a:t>ê</a:t>
            </a:r>
            <a:r>
              <a:rPr lang="en-US" altLang="en-GB" sz="1600">
                <a:latin typeface="Times New Roman" panose="02020603050405020304" charset="0"/>
                <a:cs typeface="Times New Roman" panose="02020603050405020304" charset="0"/>
              </a:rPr>
              <a:t>n.</a:t>
            </a:r>
            <a:r>
              <a:rPr lang="vi-VN" altLang="en-GB" sz="1600">
                <a:latin typeface="Times New Roman" panose="02020603050405020304" charset="0"/>
                <a:cs typeface="Times New Roman" panose="02020603050405020304" charset="0"/>
              </a:rPr>
              <a:t>  </a:t>
            </a:r>
            <a:endParaRPr lang="vi-VN" altLang="en-GB" sz="1600">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KSO_WM_DIAGRAM_VIRTUALLY_FRAME" val="{&quot;height&quot;:273.6,&quot;left&quot;:32.35,&quot;top&quot;:92.5,&quot;width&quot;:657.3}"/>
</p:tagLst>
</file>

<file path=ppt/tags/tag2.xml><?xml version="1.0" encoding="utf-8"?>
<p:tagLst xmlns:p="http://schemas.openxmlformats.org/presentationml/2006/main">
  <p:tag name="KSO_WM_DIAGRAM_VIRTUALLY_FRAME" val="{&quot;height&quot;:273.6,&quot;left&quot;:32.35,&quot;top&quot;:92.5,&quot;width&quot;:657.3}"/>
</p:tagLst>
</file>

<file path=ppt/tags/tag3.xml><?xml version="1.0" encoding="utf-8"?>
<p:tagLst xmlns:p="http://schemas.openxmlformats.org/presentationml/2006/main">
  <p:tag name="KSO_WM_DIAGRAM_VIRTUALLY_FRAME" val="{&quot;height&quot;:273.6,&quot;left&quot;:32.35,&quot;top&quot;:92.5,&quot;width&quot;:657.3}"/>
</p:tagLst>
</file>

<file path=ppt/tags/tag4.xml><?xml version="1.0" encoding="utf-8"?>
<p:tagLst xmlns:p="http://schemas.openxmlformats.org/presentationml/2006/main">
  <p:tag name="KSO_WM_DIAGRAM_VIRTUALLY_FRAME" val="{&quot;height&quot;:273.6,&quot;left&quot;:32.35,&quot;top&quot;:92.5,&quot;width&quot;:657.3}"/>
</p:tagLst>
</file>

<file path=ppt/tags/tag5.xml><?xml version="1.0" encoding="utf-8"?>
<p:tagLst xmlns:p="http://schemas.openxmlformats.org/presentationml/2006/main">
  <p:tag name="KSO_WM_DIAGRAM_VIRTUALLY_FRAME" val="{&quot;height&quot;:273.6,&quot;left&quot;:32.35,&quot;top&quot;:92.5,&quot;width&quot;:657.3}"/>
</p:tagLst>
</file>

<file path=ppt/tags/tag6.xml><?xml version="1.0" encoding="utf-8"?>
<p:tagLst xmlns:p="http://schemas.openxmlformats.org/presentationml/2006/main">
  <p:tag name="KSO_WM_DIAGRAM_VIRTUALLY_FRAME" val="{&quot;height&quot;:273.6,&quot;left&quot;:32.35,&quot;top&quot;:92.5,&quot;width&quot;:657.3}"/>
</p:tagLst>
</file>

<file path=ppt/tags/tag7.xml><?xml version="1.0" encoding="utf-8"?>
<p:tagLst xmlns:p="http://schemas.openxmlformats.org/presentationml/2006/main">
  <p:tag name="KSO_WM_DIAGRAM_VIRTUALLY_FRAME" val="{&quot;height&quot;:273.6,&quot;left&quot;:32.35,&quot;top&quot;:92.5,&quot;width&quot;:657.3}"/>
</p:tagLst>
</file>

<file path=ppt/tags/tag8.xml><?xml version="1.0" encoding="utf-8"?>
<p:tagLst xmlns:p="http://schemas.openxmlformats.org/presentationml/2006/main">
  <p:tag name="KSO_WM_DIAGRAM_VIRTUALLY_FRAME" val="{&quot;height&quot;:273.6,&quot;left&quot;:32.35,&quot;top&quot;:92.5,&quot;width&quot;:657.3}"/>
</p:tagLst>
</file>

<file path=ppt/tags/tag9.xml><?xml version="1.0" encoding="utf-8"?>
<p:tagLst xmlns:p="http://schemas.openxmlformats.org/presentationml/2006/main">
  <p:tag name="KSO_WM_DIAGRAM_VIRTUALLY_FRAME" val="{&quot;height&quot;:273.6,&quot;left&quot;:32.35,&quot;top&quot;:92.5,&quot;width&quot;:657.3}"/>
</p:tagLst>
</file>

<file path=ppt/tags/tag10.xml><?xml version="1.0" encoding="utf-8"?>
<p:tagLst xmlns:p="http://schemas.openxmlformats.org/presentationml/2006/main">
  <p:tag name="KSO_WM_DIAGRAM_VIRTUALLY_FRAME" val="{&quot;height&quot;:273.6,&quot;left&quot;:32.35,&quot;top&quot;:92.5,&quot;width&quot;:657.3}"/>
</p:tagLst>
</file>

<file path=ppt/tags/tag11.xml><?xml version="1.0" encoding="utf-8"?>
<p:tagLst xmlns:p="http://schemas.openxmlformats.org/presentationml/2006/main">
  <p:tag name="KSO_WM_DIAGRAM_VIRTUALLY_FRAME" val="{&quot;height&quot;:273.6,&quot;left&quot;:32.35,&quot;top&quot;:92.5,&quot;width&quot;:657.3}"/>
</p:tagLst>
</file>

<file path=ppt/tags/tag12.xml><?xml version="1.0" encoding="utf-8"?>
<p:tagLst xmlns:p="http://schemas.openxmlformats.org/presentationml/2006/main">
  <p:tag name="KSO_WM_DIAGRAM_VIRTUALLY_FRAME" val="{&quot;height&quot;:273.6,&quot;left&quot;:32.35,&quot;top&quot;:92.5,&quot;width&quot;:657.3}"/>
</p:tagLst>
</file>

<file path=ppt/tags/tag13.xml><?xml version="1.0" encoding="utf-8"?>
<p:tagLst xmlns:p="http://schemas.openxmlformats.org/presentationml/2006/main">
  <p:tag name="KSO_WM_DIAGRAM_VIRTUALLY_FRAME" val="{&quot;height&quot;:261,&quot;left&quot;:28.8,&quot;top&quot;:129.95999999999998,&quot;width&quot;:658.8}"/>
</p:tagLst>
</file>

<file path=ppt/tags/tag14.xml><?xml version="1.0" encoding="utf-8"?>
<p:tagLst xmlns:p="http://schemas.openxmlformats.org/presentationml/2006/main">
  <p:tag name="KSO_WM_DIAGRAM_VIRTUALLY_FRAME" val="{&quot;height&quot;:261,&quot;left&quot;:28.8,&quot;top&quot;:129.95999999999998,&quot;width&quot;:658.8}"/>
</p:tagLst>
</file>

<file path=ppt/tags/tag15.xml><?xml version="1.0" encoding="utf-8"?>
<p:tagLst xmlns:p="http://schemas.openxmlformats.org/presentationml/2006/main">
  <p:tag name="KSO_WM_DIAGRAM_VIRTUALLY_FRAME" val="{&quot;height&quot;:261,&quot;left&quot;:28.8,&quot;top&quot;:129.95999999999998,&quot;width&quot;:658.8}"/>
</p:tagLst>
</file>

<file path=ppt/tags/tag16.xml><?xml version="1.0" encoding="utf-8"?>
<p:tagLst xmlns:p="http://schemas.openxmlformats.org/presentationml/2006/main">
  <p:tag name="KSO_WM_DIAGRAM_VIRTUALLY_FRAME" val="{&quot;height&quot;:261,&quot;left&quot;:28.8,&quot;top&quot;:129.95999999999998,&quot;width&quot;:658.8}"/>
</p:tagLst>
</file>

<file path=ppt/tags/tag17.xml><?xml version="1.0" encoding="utf-8"?>
<p:tagLst xmlns:p="http://schemas.openxmlformats.org/presentationml/2006/main">
  <p:tag name="KSO_WM_DIAGRAM_VIRTUALLY_FRAME" val="{&quot;height&quot;:261,&quot;left&quot;:28.8,&quot;top&quot;:129.95999999999998,&quot;width&quot;:658.8}"/>
</p:tagLst>
</file>

<file path=ppt/tags/tag18.xml><?xml version="1.0" encoding="utf-8"?>
<p:tagLst xmlns:p="http://schemas.openxmlformats.org/presentationml/2006/main">
  <p:tag name="KSO_WM_DIAGRAM_VIRTUALLY_FRAME" val="{&quot;height&quot;:261,&quot;left&quot;:28.8,&quot;top&quot;:129.95999999999998,&quot;width&quot;:658.8}"/>
</p:tagLst>
</file>

<file path=ppt/tags/tag19.xml><?xml version="1.0" encoding="utf-8"?>
<p:tagLst xmlns:p="http://schemas.openxmlformats.org/presentationml/2006/main">
  <p:tag name="KSO_WM_DIAGRAM_VIRTUALLY_FRAME" val="{&quot;height&quot;:261,&quot;left&quot;:28.8,&quot;top&quot;:129.95999999999998,&quot;width&quot;:658.8}"/>
</p:tagLst>
</file>

<file path=ppt/tags/tag20.xml><?xml version="1.0" encoding="utf-8"?>
<p:tagLst xmlns:p="http://schemas.openxmlformats.org/presentationml/2006/main">
  <p:tag name="KSO_WM_DIAGRAM_VIRTUALLY_FRAME" val="{&quot;height&quot;:261,&quot;left&quot;:28.8,&quot;top&quot;:129.95999999999998,&quot;width&quot;:658.8}"/>
</p:tagLst>
</file>

<file path=ppt/tags/tag21.xml><?xml version="1.0" encoding="utf-8"?>
<p:tagLst xmlns:p="http://schemas.openxmlformats.org/presentationml/2006/main">
  <p:tag name="KSO_WM_DIAGRAM_VIRTUALLY_FRAME" val="{&quot;height&quot;:261,&quot;left&quot;:28.8,&quot;top&quot;:129.95999999999998,&quot;width&quot;:658.8}"/>
</p:tagLst>
</file>

<file path=ppt/tags/tag22.xml><?xml version="1.0" encoding="utf-8"?>
<p:tagLst xmlns:p="http://schemas.openxmlformats.org/presentationml/2006/main">
  <p:tag name="KSO_WM_DIAGRAM_VIRTUALLY_FRAME" val="{&quot;height&quot;:261,&quot;left&quot;:28.8,&quot;top&quot;:129.95999999999998,&quot;width&quot;:658.8}"/>
</p:tagLst>
</file>

<file path=ppt/tags/tag23.xml><?xml version="1.0" encoding="utf-8"?>
<p:tagLst xmlns:p="http://schemas.openxmlformats.org/presentationml/2006/main">
  <p:tag name="KSO_WM_DIAGRAM_VIRTUALLY_FRAME" val="{&quot;height&quot;:261,&quot;left&quot;:28.8,&quot;top&quot;:129.95999999999998,&quot;width&quot;:658.8}"/>
</p:tagLst>
</file>

<file path=ppt/tags/tag24.xml><?xml version="1.0" encoding="utf-8"?>
<p:tagLst xmlns:p="http://schemas.openxmlformats.org/presentationml/2006/main">
  <p:tag name="KSO_WM_DIAGRAM_VIRTUALLY_FRAME" val="{&quot;height&quot;:261,&quot;left&quot;:28.8,&quot;top&quot;:129.95999999999998,&quot;width&quot;:658.8}"/>
</p:tagLst>
</file>

<file path=ppt/tags/tag25.xml><?xml version="1.0" encoding="utf-8"?>
<p:tagLst xmlns:p="http://schemas.openxmlformats.org/presentationml/2006/main">
  <p:tag name="KSO_WM_DIAGRAM_VIRTUALLY_FRAME" val="{&quot;height&quot;:261,&quot;left&quot;:28.8,&quot;top&quot;:129.95999999999998,&quot;width&quot;:658.8}"/>
</p:tagLst>
</file>

<file path=ppt/tags/tag26.xml><?xml version="1.0" encoding="utf-8"?>
<p:tagLst xmlns:p="http://schemas.openxmlformats.org/presentationml/2006/main">
  <p:tag name="KSO_WM_DIAGRAM_VIRTUALLY_FRAME" val="{&quot;height&quot;:261,&quot;left&quot;:28.8,&quot;top&quot;:129.95999999999998,&quot;width&quot;:658.8}"/>
</p:tagLst>
</file>

<file path=ppt/tags/tag27.xml><?xml version="1.0" encoding="utf-8"?>
<p:tagLst xmlns:p="http://schemas.openxmlformats.org/presentationml/2006/main">
  <p:tag name="KSO_WM_DIAGRAM_VIRTUALLY_FRAME" val="{&quot;height&quot;:261,&quot;left&quot;:28.8,&quot;top&quot;:129.95999999999998,&quot;width&quot;:658.8}"/>
</p:tagLst>
</file>

<file path=ppt/tags/tag28.xml><?xml version="1.0" encoding="utf-8"?>
<p:tagLst xmlns:p="http://schemas.openxmlformats.org/presentationml/2006/main">
  <p:tag name="KSO_WM_DIAGRAM_VIRTUALLY_FRAME" val="{&quot;height&quot;:261,&quot;left&quot;:28.8,&quot;top&quot;:129.95999999999998,&quot;width&quot;:658.8}"/>
</p:tagLst>
</file>

<file path=ppt/tags/tag29.xml><?xml version="1.0" encoding="utf-8"?>
<p:tagLst xmlns:p="http://schemas.openxmlformats.org/presentationml/2006/main">
  <p:tag name="KSO_WM_DIAGRAM_VIRTUALLY_FRAME" val="{&quot;height&quot;:261,&quot;left&quot;:28.8,&quot;top&quot;:129.95999999999998,&quot;width&quot;:658.8}"/>
</p:tagLst>
</file>

<file path=ppt/tags/tag30.xml><?xml version="1.0" encoding="utf-8"?>
<p:tagLst xmlns:p="http://schemas.openxmlformats.org/presentationml/2006/main">
  <p:tag name="KSO_WM_DIAGRAM_VIRTUALLY_FRAME" val="{&quot;height&quot;:261,&quot;left&quot;:28.8,&quot;top&quot;:129.95999999999998,&quot;width&quot;:658.8}"/>
</p:tagLst>
</file>

<file path=ppt/tags/tag31.xml><?xml version="1.0" encoding="utf-8"?>
<p:tagLst xmlns:p="http://schemas.openxmlformats.org/presentationml/2006/main">
  <p:tag name="KSO_WM_DIAGRAM_VIRTUALLY_FRAME" val="{&quot;height&quot;:261,&quot;left&quot;:28.8,&quot;top&quot;:129.95999999999998,&quot;width&quot;:658.8}"/>
</p:tagLst>
</file>

<file path=ppt/tags/tag32.xml><?xml version="1.0" encoding="utf-8"?>
<p:tagLst xmlns:p="http://schemas.openxmlformats.org/presentationml/2006/main">
  <p:tag name="KSO_WM_DIAGRAM_VIRTUALLY_FRAME" val="{&quot;height&quot;:261,&quot;left&quot;:28.8,&quot;top&quot;:129.95999999999998,&quot;width&quot;:658.8}"/>
</p:tagLst>
</file>

<file path=ppt/tags/tag33.xml><?xml version="1.0" encoding="utf-8"?>
<p:tagLst xmlns:p="http://schemas.openxmlformats.org/presentationml/2006/main">
  <p:tag name="KSO_WM_DIAGRAM_VIRTUALLY_FRAME" val="{&quot;height&quot;:261,&quot;left&quot;:28.8,&quot;top&quot;:129.95999999999998,&quot;width&quot;:658.8}"/>
</p:tagLst>
</file>

<file path=ppt/tags/tag34.xml><?xml version="1.0" encoding="utf-8"?>
<p:tagLst xmlns:p="http://schemas.openxmlformats.org/presentationml/2006/main">
  <p:tag name="KSO_WM_DIAGRAM_VIRTUALLY_FRAME" val="{&quot;height&quot;:194.4,&quot;left&quot;:28.8,&quot;top&quot;:177.1,&quot;width&quot;:658.8}"/>
</p:tagLst>
</file>

<file path=ppt/tags/tag35.xml><?xml version="1.0" encoding="utf-8"?>
<p:tagLst xmlns:p="http://schemas.openxmlformats.org/presentationml/2006/main">
  <p:tag name="KSO_WM_DIAGRAM_VIRTUALLY_FRAME" val="{&quot;height&quot;:194.4,&quot;left&quot;:28.8,&quot;top&quot;:177.1,&quot;width&quot;:658.8}"/>
</p:tagLst>
</file>

<file path=ppt/tags/tag36.xml><?xml version="1.0" encoding="utf-8"?>
<p:tagLst xmlns:p="http://schemas.openxmlformats.org/presentationml/2006/main">
  <p:tag name="KSO_WM_DIAGRAM_VIRTUALLY_FRAME" val="{&quot;height&quot;:194.4,&quot;left&quot;:28.8,&quot;top&quot;:177.1,&quot;width&quot;:658.8}"/>
</p:tagLst>
</file>

<file path=ppt/tags/tag37.xml><?xml version="1.0" encoding="utf-8"?>
<p:tagLst xmlns:p="http://schemas.openxmlformats.org/presentationml/2006/main">
  <p:tag name="KSO_WM_DIAGRAM_VIRTUALLY_FRAME" val="{&quot;height&quot;:194.4,&quot;left&quot;:28.8,&quot;top&quot;:177.1,&quot;width&quot;:658.8}"/>
</p:tagLst>
</file>

<file path=ppt/tags/tag38.xml><?xml version="1.0" encoding="utf-8"?>
<p:tagLst xmlns:p="http://schemas.openxmlformats.org/presentationml/2006/main">
  <p:tag name="KSO_WM_DIAGRAM_VIRTUALLY_FRAME" val="{&quot;height&quot;:194.4,&quot;left&quot;:28.8,&quot;top&quot;:177.1,&quot;width&quot;:658.8}"/>
</p:tagLst>
</file>

<file path=ppt/tags/tag39.xml><?xml version="1.0" encoding="utf-8"?>
<p:tagLst xmlns:p="http://schemas.openxmlformats.org/presentationml/2006/main">
  <p:tag name="KSO_WM_DIAGRAM_VIRTUALLY_FRAME" val="{&quot;height&quot;:194.4,&quot;left&quot;:28.8,&quot;top&quot;:177.1,&quot;width&quot;:658.8}"/>
</p:tagLst>
</file>

<file path=ppt/tags/tag40.xml><?xml version="1.0" encoding="utf-8"?>
<p:tagLst xmlns:p="http://schemas.openxmlformats.org/presentationml/2006/main">
  <p:tag name="KSO_WM_DIAGRAM_VIRTUALLY_FRAME" val="{&quot;height&quot;:194.4,&quot;left&quot;:28.8,&quot;top&quot;:177.1,&quot;width&quot;:658.8}"/>
</p:tagLst>
</file>

<file path=ppt/tags/tag41.xml><?xml version="1.0" encoding="utf-8"?>
<p:tagLst xmlns:p="http://schemas.openxmlformats.org/presentationml/2006/main">
  <p:tag name="KSO_WM_DIAGRAM_VIRTUALLY_FRAME" val="{&quot;height&quot;:194.4,&quot;left&quot;:28.8,&quot;top&quot;:177.1,&quot;width&quot;:658.8}"/>
</p:tagLst>
</file>

<file path=ppt/tags/tag42.xml><?xml version="1.0" encoding="utf-8"?>
<p:tagLst xmlns:p="http://schemas.openxmlformats.org/presentationml/2006/main">
  <p:tag name="KSO_WM_DIAGRAM_VIRTUALLY_FRAME" val="{&quot;height&quot;:194.4,&quot;left&quot;:28.8,&quot;top&quot;:177.1,&quot;width&quot;:658.8}"/>
</p:tagLst>
</file>

<file path=ppt/tags/tag43.xml><?xml version="1.0" encoding="utf-8"?>
<p:tagLst xmlns:p="http://schemas.openxmlformats.org/presentationml/2006/main">
  <p:tag name="KSO_WM_DIAGRAM_VIRTUALLY_FRAME" val="{&quot;height&quot;:194.4,&quot;left&quot;:28.8,&quot;top&quot;:177.1,&quot;width&quot;:658.8}"/>
</p:tagLst>
</file>

<file path=ppt/tags/tag44.xml><?xml version="1.0" encoding="utf-8"?>
<p:tagLst xmlns:p="http://schemas.openxmlformats.org/presentationml/2006/main">
  <p:tag name="KSO_WM_DIAGRAM_VIRTUALLY_FRAME" val="{&quot;height&quot;:194.4,&quot;left&quot;:28.8,&quot;top&quot;:177.1,&quot;width&quot;:658.8}"/>
</p:tagLst>
</file>

<file path=ppt/tags/tag45.xml><?xml version="1.0" encoding="utf-8"?>
<p:tagLst xmlns:p="http://schemas.openxmlformats.org/presentationml/2006/main">
  <p:tag name="KSO_WM_DIAGRAM_VIRTUALLY_FRAME" val="{&quot;height&quot;:194.4,&quot;left&quot;:28.8,&quot;top&quot;:177.1,&quot;width&quot;:658.8}"/>
</p:tagLst>
</file>

<file path=ppt/tags/tag46.xml><?xml version="1.0" encoding="utf-8"?>
<p:tagLst xmlns:p="http://schemas.openxmlformats.org/presentationml/2006/main">
  <p:tag name="KSO_WM_DIAGRAM_VIRTUALLY_FRAME" val="{&quot;height&quot;:306,&quot;left&quot;:16.55,&quot;top&quot;:75.25,&quot;width&quot;:381.6}"/>
</p:tagLst>
</file>

<file path=ppt/tags/tag47.xml><?xml version="1.0" encoding="utf-8"?>
<p:tagLst xmlns:p="http://schemas.openxmlformats.org/presentationml/2006/main">
  <p:tag name="KSO_WM_DIAGRAM_VIRTUALLY_FRAME" val="{&quot;height&quot;:306,&quot;left&quot;:16.55,&quot;top&quot;:75.25,&quot;width&quot;:381.6}"/>
</p:tagLst>
</file>

<file path=ppt/tags/tag48.xml><?xml version="1.0" encoding="utf-8"?>
<p:tagLst xmlns:p="http://schemas.openxmlformats.org/presentationml/2006/main">
  <p:tag name="KSO_WM_DIAGRAM_VIRTUALLY_FRAME" val="{&quot;height&quot;:306,&quot;left&quot;:16.55,&quot;top&quot;:75.25,&quot;width&quot;:381.6}"/>
</p:tagLst>
</file>

<file path=ppt/tags/tag49.xml><?xml version="1.0" encoding="utf-8"?>
<p:tagLst xmlns:p="http://schemas.openxmlformats.org/presentationml/2006/main">
  <p:tag name="KSO_WM_DIAGRAM_VIRTUALLY_FRAME" val="{&quot;height&quot;:306,&quot;left&quot;:16.55,&quot;top&quot;:75.25,&quot;width&quot;:381.6}"/>
</p:tagLst>
</file>

<file path=ppt/tags/tag50.xml><?xml version="1.0" encoding="utf-8"?>
<p:tagLst xmlns:p="http://schemas.openxmlformats.org/presentationml/2006/main">
  <p:tag name="KSO_WM_DIAGRAM_VIRTUALLY_FRAME" val="{&quot;height&quot;:306,&quot;left&quot;:16.55,&quot;top&quot;:75.25,&quot;width&quot;:381.6}"/>
</p:tagLst>
</file>

<file path=ppt/tags/tag51.xml><?xml version="1.0" encoding="utf-8"?>
<p:tagLst xmlns:p="http://schemas.openxmlformats.org/presentationml/2006/main">
  <p:tag name="KSO_WM_DIAGRAM_VIRTUALLY_FRAME" val="{&quot;height&quot;:306,&quot;left&quot;:16.55,&quot;top&quot;:75.25,&quot;width&quot;:381.6}"/>
</p:tagLst>
</file>

<file path=ppt/tags/tag52.xml><?xml version="1.0" encoding="utf-8"?>
<p:tagLst xmlns:p="http://schemas.openxmlformats.org/presentationml/2006/main">
  <p:tag name="KSO_WM_DIAGRAM_VIRTUALLY_FRAME" val="{&quot;height&quot;:306,&quot;left&quot;:16.55,&quot;top&quot;:75.25,&quot;width&quot;:381.6}"/>
</p:tagLst>
</file>

<file path=ppt/tags/tag53.xml><?xml version="1.0" encoding="utf-8"?>
<p:tagLst xmlns:p="http://schemas.openxmlformats.org/presentationml/2006/main">
  <p:tag name="KSO_WM_DIAGRAM_VIRTUALLY_FRAME" val="{&quot;height&quot;:306,&quot;left&quot;:16.55,&quot;top&quot;:75.25,&quot;width&quot;:381.6}"/>
</p:tagLst>
</file>

<file path=ppt/tags/tag54.xml><?xml version="1.0" encoding="utf-8"?>
<p:tagLst xmlns:p="http://schemas.openxmlformats.org/presentationml/2006/main">
  <p:tag name="KSO_WM_DIAGRAM_VIRTUALLY_FRAME" val="{&quot;height&quot;:306,&quot;left&quot;:16.55,&quot;top&quot;:75.25,&quot;width&quot;:381.6}"/>
</p:tagLst>
</file>

<file path=ppt/tags/tag55.xml><?xml version="1.0" encoding="utf-8"?>
<p:tagLst xmlns:p="http://schemas.openxmlformats.org/presentationml/2006/main">
  <p:tag name="KSO_WM_DIAGRAM_VIRTUALLY_FRAME" val="{&quot;height&quot;:306,&quot;left&quot;:16.55,&quot;top&quot;:75.25,&quot;width&quot;:381.6}"/>
</p:tagLst>
</file>

<file path=ppt/tags/tag56.xml><?xml version="1.0" encoding="utf-8"?>
<p:tagLst xmlns:p="http://schemas.openxmlformats.org/presentationml/2006/main">
  <p:tag name="KSO_WM_DIAGRAM_VIRTUALLY_FRAME" val="{&quot;height&quot;:306,&quot;left&quot;:16.55,&quot;top&quot;:75.25,&quot;width&quot;:381.6}"/>
</p:tagLst>
</file>

<file path=ppt/tags/tag57.xml><?xml version="1.0" encoding="utf-8"?>
<p:tagLst xmlns:p="http://schemas.openxmlformats.org/presentationml/2006/main">
  <p:tag name="KSO_WM_DIAGRAM_VIRTUALLY_FRAME" val="{&quot;height&quot;:306,&quot;left&quot;:16.55,&quot;top&quot;:75.25,&quot;width&quot;:381.6}"/>
</p:tagLst>
</file>

<file path=ppt/tags/tag58.xml><?xml version="1.0" encoding="utf-8"?>
<p:tagLst xmlns:p="http://schemas.openxmlformats.org/presentationml/2006/main">
  <p:tag name="KSO_WM_DIAGRAM_VIRTUALLY_FRAME" val="{&quot;height&quot;:306,&quot;left&quot;:16.55,&quot;top&quot;:75.25,&quot;width&quot;:381.6}"/>
</p:tagLst>
</file>

<file path=ppt/tags/tag59.xml><?xml version="1.0" encoding="utf-8"?>
<p:tagLst xmlns:p="http://schemas.openxmlformats.org/presentationml/2006/main">
  <p:tag name="KSO_WM_DIAGRAM_VIRTUALLY_FRAME" val="{&quot;height&quot;:306,&quot;left&quot;:16.55,&quot;top&quot;:75.25,&quot;width&quot;:381.6}"/>
</p:tagLst>
</file>

<file path=ppt/tags/tag60.xml><?xml version="1.0" encoding="utf-8"?>
<p:tagLst xmlns:p="http://schemas.openxmlformats.org/presentationml/2006/main">
  <p:tag name="KSO_WM_DIAGRAM_VIRTUALLY_FRAME" val="{&quot;height&quot;:306,&quot;left&quot;:16.55,&quot;top&quot;:75.25,&quot;width&quot;:381.6}"/>
</p:tagLst>
</file>

<file path=ppt/tags/tag61.xml><?xml version="1.0" encoding="utf-8"?>
<p:tagLst xmlns:p="http://schemas.openxmlformats.org/presentationml/2006/main">
  <p:tag name="KSO_WM_DIAGRAM_VIRTUALLY_FRAME" val="{&quot;height&quot;:306,&quot;left&quot;:16.55,&quot;top&quot;:75.25,&quot;width&quot;:381.6}"/>
</p:tagLst>
</file>

<file path=ppt/tags/tag62.xml><?xml version="1.0" encoding="utf-8"?>
<p:tagLst xmlns:p="http://schemas.openxmlformats.org/presentationml/2006/main">
  <p:tag name="KSO_WM_DIAGRAM_VIRTUALLY_FRAME" val="{&quot;height&quot;:294.61,&quot;left&quot;:25.2,&quot;top&quot;:95.03999999999999,&quot;width&quot;:316.8}"/>
</p:tagLst>
</file>

<file path=ppt/tags/tag63.xml><?xml version="1.0" encoding="utf-8"?>
<p:tagLst xmlns:p="http://schemas.openxmlformats.org/presentationml/2006/main">
  <p:tag name="KSO_WM_DIAGRAM_VIRTUALLY_FRAME" val="{&quot;height&quot;:294.61,&quot;left&quot;:25.2,&quot;top&quot;:95.03999999999999,&quot;width&quot;:316.8}"/>
</p:tagLst>
</file>

<file path=ppt/tags/tag64.xml><?xml version="1.0" encoding="utf-8"?>
<p:tagLst xmlns:p="http://schemas.openxmlformats.org/presentationml/2006/main">
  <p:tag name="KSO_WM_DIAGRAM_VIRTUALLY_FRAME" val="{&quot;height&quot;:294.61,&quot;left&quot;:25.2,&quot;top&quot;:95.03999999999999,&quot;width&quot;:316.8}"/>
</p:tagLst>
</file>

<file path=ppt/tags/tag65.xml><?xml version="1.0" encoding="utf-8"?>
<p:tagLst xmlns:p="http://schemas.openxmlformats.org/presentationml/2006/main">
  <p:tag name="KSO_WM_DIAGRAM_VIRTUALLY_FRAME" val="{&quot;height&quot;:294.61,&quot;left&quot;:25.2,&quot;top&quot;:95.03999999999999,&quot;width&quot;:316.8}"/>
</p:tagLst>
</file>

<file path=ppt/tags/tag66.xml><?xml version="1.0" encoding="utf-8"?>
<p:tagLst xmlns:p="http://schemas.openxmlformats.org/presentationml/2006/main">
  <p:tag name="KSO_WM_DIAGRAM_VIRTUALLY_FRAME" val="{&quot;height&quot;:294.61,&quot;left&quot;:25.2,&quot;top&quot;:95.03999999999999,&quot;width&quot;:316.8}"/>
</p:tagLst>
</file>

<file path=ppt/tags/tag67.xml><?xml version="1.0" encoding="utf-8"?>
<p:tagLst xmlns:p="http://schemas.openxmlformats.org/presentationml/2006/main">
  <p:tag name="KSO_WM_DIAGRAM_VIRTUALLY_FRAME" val="{&quot;height&quot;:294.61,&quot;left&quot;:25.2,&quot;top&quot;:95.03999999999999,&quot;width&quot;:316.8}"/>
</p:tagLst>
</file>

<file path=ppt/tags/tag68.xml><?xml version="1.0" encoding="utf-8"?>
<p:tagLst xmlns:p="http://schemas.openxmlformats.org/presentationml/2006/main">
  <p:tag name="KSO_WM_DIAGRAM_VIRTUALLY_FRAME" val="{&quot;height&quot;:294.61,&quot;left&quot;:25.2,&quot;top&quot;:95.03999999999999,&quot;width&quot;:316.8}"/>
</p:tagLst>
</file>

<file path=ppt/tags/tag69.xml><?xml version="1.0" encoding="utf-8"?>
<p:tagLst xmlns:p="http://schemas.openxmlformats.org/presentationml/2006/main">
  <p:tag name="KSO_WM_DIAGRAM_VIRTUALLY_FRAME" val="{&quot;height&quot;:294.61,&quot;left&quot;:25.2,&quot;top&quot;:95.03999999999999,&quot;width&quot;:316.8}"/>
</p:tagLst>
</file>

<file path=ppt/tags/tag70.xml><?xml version="1.0" encoding="utf-8"?>
<p:tagLst xmlns:p="http://schemas.openxmlformats.org/presentationml/2006/main">
  <p:tag name="KSO_WM_DIAGRAM_VIRTUALLY_FRAME" val="{&quot;height&quot;:294.61,&quot;left&quot;:25.2,&quot;top&quot;:95.03999999999999,&quot;width&quot;:316.8}"/>
</p:tagLst>
</file>

<file path=ppt/tags/tag71.xml><?xml version="1.0" encoding="utf-8"?>
<p:tagLst xmlns:p="http://schemas.openxmlformats.org/presentationml/2006/main">
  <p:tag name="KSO_WM_DIAGRAM_VIRTUALLY_FRAME" val="{&quot;height&quot;:294.61,&quot;left&quot;:25.2,&quot;top&quot;:95.03999999999999,&quot;width&quot;:316.8}"/>
</p:tagLst>
</file>

<file path=ppt/tags/tag72.xml><?xml version="1.0" encoding="utf-8"?>
<p:tagLst xmlns:p="http://schemas.openxmlformats.org/presentationml/2006/main">
  <p:tag name="KSO_WM_DIAGRAM_VIRTUALLY_FRAME" val="{&quot;height&quot;:294.61,&quot;left&quot;:25.2,&quot;top&quot;:95.03999999999999,&quot;width&quot;:316.8}"/>
</p:tagLst>
</file>

<file path=ppt/tags/tag73.xml><?xml version="1.0" encoding="utf-8"?>
<p:tagLst xmlns:p="http://schemas.openxmlformats.org/presentationml/2006/main">
  <p:tag name="KSO_WM_DIAGRAM_VIRTUALLY_FRAME" val="{&quot;height&quot;:294.61,&quot;left&quot;:25.2,&quot;top&quot;:95.03999999999999,&quot;width&quot;:316.8}"/>
</p:tagLst>
</file>

<file path=ppt/tags/tag74.xml><?xml version="1.0" encoding="utf-8"?>
<p:tagLst xmlns:p="http://schemas.openxmlformats.org/presentationml/2006/main">
  <p:tag name="KSO_WM_DIAGRAM_VIRTUALLY_FRAME" val="{&quot;height&quot;:195.84,&quot;left&quot;:25.2,&quot;top&quot;:183.6,&quot;width&quot;:662.4}"/>
</p:tagLst>
</file>

<file path=ppt/tags/tag75.xml><?xml version="1.0" encoding="utf-8"?>
<p:tagLst xmlns:p="http://schemas.openxmlformats.org/presentationml/2006/main">
  <p:tag name="KSO_WM_DIAGRAM_VIRTUALLY_FRAME" val="{&quot;height&quot;:195.84,&quot;left&quot;:25.2,&quot;top&quot;:183.6,&quot;width&quot;:662.4}"/>
</p:tagLst>
</file>

<file path=ppt/tags/tag76.xml><?xml version="1.0" encoding="utf-8"?>
<p:tagLst xmlns:p="http://schemas.openxmlformats.org/presentationml/2006/main">
  <p:tag name="KSO_WM_DIAGRAM_VIRTUALLY_FRAME" val="{&quot;height&quot;:195.84,&quot;left&quot;:25.2,&quot;top&quot;:183.6,&quot;width&quot;:662.4}"/>
</p:tagLst>
</file>

<file path=ppt/tags/tag77.xml><?xml version="1.0" encoding="utf-8"?>
<p:tagLst xmlns:p="http://schemas.openxmlformats.org/presentationml/2006/main">
  <p:tag name="KSO_WM_DIAGRAM_VIRTUALLY_FRAME" val="{&quot;height&quot;:195.84,&quot;left&quot;:25.2,&quot;top&quot;:183.6,&quot;width&quot;:662.4}"/>
</p:tagLst>
</file>

<file path=ppt/tags/tag78.xml><?xml version="1.0" encoding="utf-8"?>
<p:tagLst xmlns:p="http://schemas.openxmlformats.org/presentationml/2006/main">
  <p:tag name="KSO_WM_DIAGRAM_VIRTUALLY_FRAME" val="{&quot;height&quot;:195.84,&quot;left&quot;:25.2,&quot;top&quot;:183.6,&quot;width&quot;:662.4}"/>
</p:tagLst>
</file>

<file path=ppt/tags/tag79.xml><?xml version="1.0" encoding="utf-8"?>
<p:tagLst xmlns:p="http://schemas.openxmlformats.org/presentationml/2006/main">
  <p:tag name="KSO_WM_DIAGRAM_VIRTUALLY_FRAME" val="{&quot;height&quot;:195.84,&quot;left&quot;:25.2,&quot;top&quot;:183.6,&quot;width&quot;:662.4}"/>
</p:tagLst>
</file>

<file path=ppt/tags/tag80.xml><?xml version="1.0" encoding="utf-8"?>
<p:tagLst xmlns:p="http://schemas.openxmlformats.org/presentationml/2006/main">
  <p:tag name="KSO_WM_DIAGRAM_VIRTUALLY_FRAME" val="{&quot;height&quot;:195.84,&quot;left&quot;:25.2,&quot;top&quot;:183.6,&quot;width&quot;:662.4}"/>
</p:tagLst>
</file>

<file path=ppt/tags/tag81.xml><?xml version="1.0" encoding="utf-8"?>
<p:tagLst xmlns:p="http://schemas.openxmlformats.org/presentationml/2006/main">
  <p:tag name="KSO_WM_DIAGRAM_VIRTUALLY_FRAME" val="{&quot;height&quot;:195.84,&quot;left&quot;:25.2,&quot;top&quot;:183.6,&quot;width&quot;:662.4}"/>
</p:tagLst>
</file>

<file path=ppt/tags/tag82.xml><?xml version="1.0" encoding="utf-8"?>
<p:tagLst xmlns:p="http://schemas.openxmlformats.org/presentationml/2006/main">
  <p:tag name="KSO_WM_DIAGRAM_VIRTUALLY_FRAME" val="{&quot;height&quot;:195.84,&quot;left&quot;:25.2,&quot;top&quot;:183.6,&quot;width&quot;:662.4}"/>
</p:tagLst>
</file>

<file path=ppt/tags/tag83.xml><?xml version="1.0" encoding="utf-8"?>
<p:tagLst xmlns:p="http://schemas.openxmlformats.org/presentationml/2006/main">
  <p:tag name="KSO_WM_DIAGRAM_VIRTUALLY_FRAME" val="{&quot;height&quot;:195.84,&quot;left&quot;:25.2,&quot;top&quot;:183.6,&quot;width&quot;:662.4}"/>
</p:tagLst>
</file>

<file path=ppt/tags/tag84.xml><?xml version="1.0" encoding="utf-8"?>
<p:tagLst xmlns:p="http://schemas.openxmlformats.org/presentationml/2006/main">
  <p:tag name="KSO_WM_DIAGRAM_VIRTUALLY_FRAME" val="{&quot;height&quot;:195.84,&quot;left&quot;:25.2,&quot;top&quot;:183.6,&quot;width&quot;:662.4}"/>
</p:tagLst>
</file>

<file path=ppt/tags/tag85.xml><?xml version="1.0" encoding="utf-8"?>
<p:tagLst xmlns:p="http://schemas.openxmlformats.org/presentationml/2006/main">
  <p:tag name="KSO_WM_DIAGRAM_VIRTUALLY_FRAME" val="{&quot;height&quot;:195.84,&quot;left&quot;:25.2,&quot;top&quot;:183.6,&quot;width&quot;:662.4}"/>
</p:tagLst>
</file>

<file path=ppt/tags/tag86.xml><?xml version="1.0" encoding="utf-8"?>
<p:tagLst xmlns:p="http://schemas.openxmlformats.org/presentationml/2006/main">
  <p:tag name="KSO_WM_DIAGRAM_VIRTUALLY_FRAME" val="{&quot;height&quot;:195.84,&quot;left&quot;:25.2,&quot;top&quot;:183.6,&quot;width&quot;:662.4}"/>
</p:tagLst>
</file>

<file path=ppt/tags/tag87.xml><?xml version="1.0" encoding="utf-8"?>
<p:tagLst xmlns:p="http://schemas.openxmlformats.org/presentationml/2006/main">
  <p:tag name="KSO_WM_DIAGRAM_VIRTUALLY_FRAME" val="{&quot;height&quot;:195.84,&quot;left&quot;:25.2,&quot;top&quot;:183.6,&quot;width&quot;:662.4}"/>
</p:tagLst>
</file>

<file path=ppt/tags/tag88.xml><?xml version="1.0" encoding="utf-8"?>
<p:tagLst xmlns:p="http://schemas.openxmlformats.org/presentationml/2006/main">
  <p:tag name="KSO_WM_DIAGRAM_VIRTUALLY_FRAME" val="{&quot;height&quot;:195.84,&quot;left&quot;:25.2,&quot;top&quot;:183.6,&quot;width&quot;:662.4}"/>
</p:tagLst>
</file>

<file path=ppt/tags/tag89.xml><?xml version="1.0" encoding="utf-8"?>
<p:tagLst xmlns:p="http://schemas.openxmlformats.org/presentationml/2006/main">
  <p:tag name="KSO_WM_DIAGRAM_VIRTUALLY_FRAME" val="{&quot;height&quot;:195.84,&quot;left&quot;:25.2,&quot;top&quot;:183.6,&quot;width&quot;:662.4}"/>
</p:tagLst>
</file>

<file path=ppt/tags/tag90.xml><?xml version="1.0" encoding="utf-8"?>
<p:tagLst xmlns:p="http://schemas.openxmlformats.org/presentationml/2006/main">
  <p:tag name="KSO_WM_DIAGRAM_VIRTUALLY_FRAME" val="{&quot;height&quot;:195.84,&quot;left&quot;:25.2,&quot;top&quot;:183.6,&quot;width&quot;:662.4}"/>
</p:tagLst>
</file>

<file path=ppt/tags/tag91.xml><?xml version="1.0" encoding="utf-8"?>
<p:tagLst xmlns:p="http://schemas.openxmlformats.org/presentationml/2006/main">
  <p:tag name="KSO_WM_DIAGRAM_VIRTUALLY_FRAME" val="{&quot;height&quot;:195.84,&quot;left&quot;:25.2,&quot;top&quot;:183.6,&quot;width&quot;:662.4}"/>
</p:tagLst>
</file>

<file path=ppt/tags/tag92.xml><?xml version="1.0" encoding="utf-8"?>
<p:tagLst xmlns:p="http://schemas.openxmlformats.org/presentationml/2006/main">
  <p:tag name="KSO_WM_DIAGRAM_VIRTUALLY_FRAME" val="{&quot;height&quot;:195.84,&quot;left&quot;:25.2,&quot;top&quot;:183.6,&quot;width&quot;:662.4}"/>
</p:tagLst>
</file>

<file path=ppt/tags/tag93.xml><?xml version="1.0" encoding="utf-8"?>
<p:tagLst xmlns:p="http://schemas.openxmlformats.org/presentationml/2006/main">
  <p:tag name="KSO_WM_DIAGRAM_VIRTUALLY_FRAME" val="{&quot;height&quot;:195.84,&quot;left&quot;:25.2,&quot;top&quot;:183.6,&quot;width&quot;:662.4}"/>
</p:tagLst>
</file>

<file path=ppt/tags/tag94.xml><?xml version="1.0" encoding="utf-8"?>
<p:tagLst xmlns:p="http://schemas.openxmlformats.org/presentationml/2006/main">
  <p:tag name="KSO_WM_DIAGRAM_VIRTUALLY_FRAME" val="{&quot;height&quot;:195.84,&quot;left&quot;:25.2,&quot;top&quot;:183.6,&quot;width&quot;:662.4}"/>
</p:tagLst>
</file>

<file path=ppt/tags/tag95.xml><?xml version="1.0" encoding="utf-8"?>
<p:tagLst xmlns:p="http://schemas.openxmlformats.org/presentationml/2006/main">
  <p:tag name="KSO_WM_DIAGRAM_VIRTUALLY_FRAME" val="{&quot;height&quot;:195.84,&quot;left&quot;:25.2,&quot;top&quot;:183.6,&quot;width&quot;:662.4}"/>
</p:tagLst>
</file>

<file path=ppt/tags/tag96.xml><?xml version="1.0" encoding="utf-8"?>
<p:tagLst xmlns:p="http://schemas.openxmlformats.org/presentationml/2006/main">
  <p:tag name="KSO_WM_DIAGRAM_VIRTUALLY_FRAME" val="{&quot;height&quot;:195.84,&quot;left&quot;:25.2,&quot;top&quot;:183.6,&quot;width&quot;:662.4}"/>
</p:tagLst>
</file>

<file path=ppt/tags/tag97.xml><?xml version="1.0" encoding="utf-8"?>
<p:tagLst xmlns:p="http://schemas.openxmlformats.org/presentationml/2006/main">
  <p:tag name="KSO_WM_DIAGRAM_VIRTUALLY_FRAME" val="{&quot;height&quot;:195.84,&quot;left&quot;:25.2,&quot;top&quot;:183.6,&quot;width&quot;:662.4}"/>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8851</Words>
  <Application>WPS Presentation</Application>
  <PresentationFormat>On-screen Show (16:9)</PresentationFormat>
  <Paragraphs>627</Paragraphs>
  <Slides>17</Slides>
  <Notes>15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SimSun</vt:lpstr>
      <vt:lpstr>Wingdings</vt:lpstr>
      <vt:lpstr>Times New Roman</vt:lpstr>
      <vt:lpstr>Calibri</vt:lpstr>
      <vt:lpstr>Calibri</vt:lpstr>
      <vt:lpstr>Arial Black</vt:lpstr>
      <vt:lpstr>Microsoft YaHei</vt:lpstr>
      <vt:lpstr>Arial Unicode MS</vt:lpstr>
      <vt:lpstr>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trong phân tích yêu cầu và sinh ca kiểm thử</dc:title>
  <dc:creator>PptxGenJS</dc:creator>
  <dc:subject>PptxGenJS Presentation</dc:subject>
  <cp:lastModifiedBy>Khánh Đậu Văn</cp:lastModifiedBy>
  <cp:revision>16</cp:revision>
  <dcterms:created xsi:type="dcterms:W3CDTF">2026-06-24T06:16:00Z</dcterms:created>
  <dcterms:modified xsi:type="dcterms:W3CDTF">2026-06-24T15:38:49Z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FDBC7C12CBD5473F80D6B6F5C4E21BDF_12</vt:lpwstr>
  </property>
  <property fmtid="{D5CDD505-2E9C-101B-9397-08002B2CF9AE}" pid="3" name="KSOProductBuildVer">
    <vt:lpwstr>2057-12.2.0.23203</vt:lpwstr>
  </property>
</Properties>
</file>